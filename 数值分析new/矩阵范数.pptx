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405" r:id="rId2"/>
    <p:sldId id="406" r:id="rId3"/>
    <p:sldId id="407" r:id="rId4"/>
    <p:sldId id="408" r:id="rId5"/>
    <p:sldId id="409" r:id="rId6"/>
    <p:sldId id="410" r:id="rId7"/>
    <p:sldId id="411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281"/>
  </p:normalViewPr>
  <p:slideViewPr>
    <p:cSldViewPr snapToGrid="0">
      <p:cViewPr varScale="1">
        <p:scale>
          <a:sx n="89" d="100"/>
          <a:sy n="89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BC2223-B66E-4BD4-F443-ADE7E10E73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D9FF36-7840-7940-22CC-98F167F415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D009DD-C91A-50A2-C2EC-FBA41CB356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B685FB-6726-2B46-9C1C-C851FC376F92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6682246"/>
      </p:ext>
    </p:extLst>
  </p:cSld>
  <p:clrMapOvr>
    <a:masterClrMapping/>
  </p:clrMapOvr>
  <p:transition>
    <p:blind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FD4DD2-215C-D47C-F139-C26C76406C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C2C7C7-F700-EF07-7DF2-7710ABA25B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67F4B4-7E4C-BC50-1BE0-1FCC3C576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0F544-C0CC-E34F-9A6B-5B232A10BF8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1299399"/>
      </p:ext>
    </p:extLst>
  </p:cSld>
  <p:clrMapOvr>
    <a:masterClrMapping/>
  </p:clrMapOvr>
  <p:transition>
    <p:blind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6CC397-168D-BA5F-DCB7-F23E70472C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65CF6B-620A-3450-4B13-AFB498F06E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00867-EC50-6CAD-302F-82F767892E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055FB6-1D34-3943-8478-3D319E5FC93A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5779361"/>
      </p:ext>
    </p:extLst>
  </p:cSld>
  <p:clrMapOvr>
    <a:masterClrMapping/>
  </p:clrMapOvr>
  <p:transition>
    <p:blind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9824E1-1B65-CEC3-5271-93C2CEEE6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3AFC45-AA32-3D21-9AE9-73BFA1DC44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C9CBF8-9323-DC1C-1070-CB0B219FBB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56D48-0D83-0944-A91F-3BD8D746DFE9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353064"/>
      </p:ext>
    </p:extLst>
  </p:cSld>
  <p:clrMapOvr>
    <a:masterClrMapping/>
  </p:clrMapOvr>
  <p:transition>
    <p:blind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0AB6C2A-EB94-0E68-22BF-8002CCA5DD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17A8BFC-ECFA-148E-4BEC-D0711BAD8C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0BD55E9-A46D-7B04-B604-C10E6367C3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DCF934-4A7F-8543-961A-B4D0199DFE76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6050718"/>
      </p:ext>
    </p:extLst>
  </p:cSld>
  <p:clrMapOvr>
    <a:masterClrMapping/>
  </p:clrMapOvr>
  <p:transition>
    <p:blind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4A07A2E-A856-5569-F319-B1FB4A2360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C87FA9B-6699-D2F7-A30E-4DA1CACFFD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D318F7-3567-6215-C232-63B9B0AC9C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14B231-79F4-5B4E-AEC0-7ED7D1334C37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612423"/>
      </p:ext>
    </p:extLst>
  </p:cSld>
  <p:clrMapOvr>
    <a:masterClrMapping/>
  </p:clrMapOvr>
  <p:transition>
    <p:blind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C29D3D0-E03D-C55D-0EB2-D346F0F042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9B19DC9-472C-F343-93D5-A4CD29FAF0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9567664-9102-0173-FFB7-D98165D0E8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ABA586-C2E5-7B4F-9F3C-5180F64390B4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9833296"/>
      </p:ext>
    </p:extLst>
  </p:cSld>
  <p:clrMapOvr>
    <a:masterClrMapping/>
  </p:clrMapOvr>
  <p:transition>
    <p:blind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DC7891-059F-923A-00C9-CAAB01CE4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22A65-271A-4671-CF20-105FD86BE9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F6C25-B569-AB56-FCEA-C5593E122C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C3438F-612D-E445-A6BD-7EC1FC72ACB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4420557"/>
      </p:ext>
    </p:extLst>
  </p:cSld>
  <p:clrMapOvr>
    <a:masterClrMapping/>
  </p:clrMapOvr>
  <p:transition>
    <p:blind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4AE91D-D6F4-5672-669B-BE3ECCC3D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F606BB-A339-7B3C-3598-76990EAC2C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9854F0-3B1F-0099-A799-78DBF1CB75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3203A9-FDC3-D547-B8E5-3C043CE40F21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5828970"/>
      </p:ext>
    </p:extLst>
  </p:cSld>
  <p:clrMapOvr>
    <a:masterClrMapping/>
  </p:clrMapOvr>
  <p:transition>
    <p:blind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7AFBDC-805C-C929-B303-9BB7C16718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613B46-F0FF-B2C0-1F55-1087AFD9F0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F03932-54A9-A512-D4B6-290004C117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921A70-54E0-D54E-8723-E60EB4FAABC8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8505813"/>
      </p:ext>
    </p:extLst>
  </p:cSld>
  <p:clrMapOvr>
    <a:masterClrMapping/>
  </p:clrMapOvr>
  <p:transition>
    <p:blind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83369C-7CAA-8F84-609F-FAB1E8AA95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F7F4A0-EAA9-9866-370D-376F680ED1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2D6B48-B2AE-E951-4646-B47372BCF8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82F5F8-BBBB-5547-8457-86938AD708E4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303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E0E57F9-1860-2C51-6668-14B15791B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0371A55-EE42-F264-0BE8-C3BB44E02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51FD6B-95E5-36EA-8151-D5AF1F63A7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3FEB4C-1C6F-22CA-B164-8E475F1AD4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02C2701-4416-B46E-10A3-E705001752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ea typeface="宋体" panose="02010600030101010101" pitchFamily="2" charset="-122"/>
              </a:defRPr>
            </a:lvl1pPr>
          </a:lstStyle>
          <a:p>
            <a:fld id="{F482F5F8-BBBB-5547-8457-86938AD708E4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930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blinds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15">
            <a:extLst>
              <a:ext uri="{FF2B5EF4-FFF2-40B4-BE49-F238E27FC236}">
                <a16:creationId xmlns:a16="http://schemas.microsoft.com/office/drawing/2014/main" id="{84965510-56C6-A067-A433-2CA9E8979D74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630238"/>
            <a:ext cx="6115050" cy="609600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向量范数与矩阵范数</a:t>
            </a:r>
          </a:p>
        </p:txBody>
      </p:sp>
      <p:sp>
        <p:nvSpPr>
          <p:cNvPr id="4104" name="Rectangle 16">
            <a:extLst>
              <a:ext uri="{FF2B5EF4-FFF2-40B4-BE49-F238E27FC236}">
                <a16:creationId xmlns:a16="http://schemas.microsoft.com/office/drawing/2014/main" id="{6AFFB839-FB95-C3B1-7899-F9AC2057E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33" y="1662770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dirty="0">
                <a:solidFill>
                  <a:srgbClr val="40458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§1 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向量范数</a:t>
            </a:r>
          </a:p>
        </p:txBody>
      </p:sp>
      <p:sp>
        <p:nvSpPr>
          <p:cNvPr id="3" name="灯片编号占位符 10">
            <a:extLst>
              <a:ext uri="{FF2B5EF4-FFF2-40B4-BE49-F238E27FC236}">
                <a16:creationId xmlns:a16="http://schemas.microsoft.com/office/drawing/2014/main" id="{8AC7F8B8-5445-F03C-864B-7D5CA3314F6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5A7A6F24-D009-6F4D-9045-F6C007F01AB4}" type="slidenum">
              <a:rPr lang="zh-CN" altLang="en-US" sz="1400">
                <a:solidFill>
                  <a:srgbClr val="40458C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</a:t>
            </a:fld>
            <a:endParaRPr lang="en-US" altLang="zh-CN" sz="1400">
              <a:solidFill>
                <a:srgbClr val="40458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79223D-FEF4-6F49-370B-A43CED6FC166}"/>
                  </a:ext>
                </a:extLst>
              </p:cNvPr>
              <p:cNvSpPr txBox="1"/>
              <p:nvPr/>
            </p:nvSpPr>
            <p:spPr>
              <a:xfrm>
                <a:off x="1702676" y="2312276"/>
                <a:ext cx="8458341" cy="12100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我们先回顾向量的长度的定义</a:t>
                </a:r>
                <a:r>
                  <a:rPr lang="zh-CN" altLang="en-US" dirty="0"/>
                  <a:t>。最常见的向量长度的度量是所谓的</a:t>
                </a:r>
                <a:r>
                  <a:rPr lang="en-US" altLang="zh-CN" dirty="0"/>
                  <a:t>2-</a:t>
                </a:r>
                <a:r>
                  <a:rPr lang="zh-CN" altLang="en-US" dirty="0"/>
                  <a:t>范数：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altLang="zh-CN" dirty="0"/>
                  <a:t>2-</a:t>
                </a:r>
                <a:r>
                  <a:rPr lang="zh-CN" altLang="en-US" dirty="0"/>
                  <a:t>范数可以看成是定义在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维向量空间上的函数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  <a:r>
                  <a:rPr lang="zh-CN" altLang="en-US" dirty="0"/>
                  <a:t> 通常</a:t>
                </a:r>
                <a:r>
                  <a:rPr lang="en-US" altLang="zh-CN" dirty="0"/>
                  <a:t>2-</a:t>
                </a:r>
                <a:r>
                  <a:rPr lang="zh-CN" altLang="en-US" dirty="0"/>
                  <a:t>范数简记为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79223D-FEF4-6F49-370B-A43CED6FC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676" y="2312276"/>
                <a:ext cx="8458341" cy="1210011"/>
              </a:xfrm>
              <a:prstGeom prst="rect">
                <a:avLst/>
              </a:prstGeom>
              <a:blipFill>
                <a:blip r:embed="rId4"/>
                <a:stretch>
                  <a:fillRect l="-576" t="-3518" b="-7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25E47A-F5A0-7043-B278-12BD473F74DB}"/>
                  </a:ext>
                </a:extLst>
              </p:cNvPr>
              <p:cNvSpPr txBox="1"/>
              <p:nvPr/>
            </p:nvSpPr>
            <p:spPr>
              <a:xfrm>
                <a:off x="1702676" y="3710128"/>
                <a:ext cx="63734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我们可以验证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2-</a:t>
                </a:r>
                <a:r>
                  <a:rPr lang="zh-CN" altLang="en-US" dirty="0"/>
                  <a:t>范数满足以下条件：</a:t>
                </a:r>
                <a:endParaRPr lang="en-US" altLang="zh-CN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dirty="0"/>
                  <a:t>（</a:t>
                </a:r>
                <a:r>
                  <a:rPr lang="zh-CN" altLang="en-CN" dirty="0">
                    <a:solidFill>
                      <a:srgbClr val="FF0000"/>
                    </a:solidFill>
                  </a:rPr>
                  <a:t>非负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性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en-CN" dirty="0"/>
                  <a:t> 且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N" dirty="0"/>
                  <a:t>当且仅当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 dirty="0"/>
                  <a:t>（</a:t>
                </a:r>
                <a:r>
                  <a:rPr lang="zh-CN" altLang="en-US" dirty="0"/>
                  <a:t>零向量</a:t>
                </a:r>
                <a:r>
                  <a:rPr lang="zh-CN" altLang="en-US" b="1" dirty="0"/>
                  <a:t>）</a:t>
                </a:r>
                <a:endParaRPr lang="en-US" altLang="zh-CN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dirty="0"/>
                  <a:t>（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三角不等式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dirty="0"/>
                  <a:t>（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齐次性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25E47A-F5A0-7043-B278-12BD473F7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676" y="3710128"/>
                <a:ext cx="6373411" cy="1200329"/>
              </a:xfrm>
              <a:prstGeom prst="rect">
                <a:avLst/>
              </a:prstGeom>
              <a:blipFill>
                <a:blip r:embed="rId5"/>
                <a:stretch>
                  <a:fillRect l="-596" t="-4211" b="-842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545B820-36E0-8377-24D2-57BB1BC9F83E}"/>
              </a:ext>
            </a:extLst>
          </p:cNvPr>
          <p:cNvSpPr txBox="1"/>
          <p:nvPr/>
        </p:nvSpPr>
        <p:spPr>
          <a:xfrm>
            <a:off x="1702676" y="5026211"/>
            <a:ext cx="931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反过来</a:t>
            </a:r>
            <a:r>
              <a:rPr lang="zh-CN" altLang="en-US" dirty="0"/>
              <a:t>，我们可以将任何满足以上三个条件的定义在</a:t>
            </a:r>
            <a:r>
              <a:rPr lang="en-US" altLang="zh-CN" dirty="0"/>
              <a:t>n</a:t>
            </a:r>
            <a:r>
              <a:rPr lang="zh-CN" altLang="en-US" dirty="0"/>
              <a:t>维向量空间上的函数称为</a:t>
            </a:r>
            <a:r>
              <a:rPr lang="zh-CN" altLang="en-US" dirty="0">
                <a:solidFill>
                  <a:srgbClr val="FF0000"/>
                </a:solidFill>
              </a:rPr>
              <a:t>向量范数</a:t>
            </a:r>
            <a:r>
              <a:rPr lang="en-US" altLang="zh-CN" dirty="0"/>
              <a:t>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549716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3" grpId="0" autoUpdateAnimBg="0"/>
      <p:bldP spid="4104" grpId="0" autoUpdateAnimBg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5C6FD7-6196-5F98-873F-1918E6CDC494}"/>
                  </a:ext>
                </a:extLst>
              </p:cNvPr>
              <p:cNvSpPr txBox="1"/>
              <p:nvPr/>
            </p:nvSpPr>
            <p:spPr>
              <a:xfrm>
                <a:off x="1292772" y="1692166"/>
                <a:ext cx="3806940" cy="1736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几种常见的向量范数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dirty="0"/>
                  <a:t>2-</a:t>
                </a:r>
                <a:r>
                  <a:rPr lang="zh-CN" altLang="en-US" dirty="0"/>
                  <a:t>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N" dirty="0"/>
                  <a:t>1-范数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=∑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N" dirty="0"/>
                  <a:t>∞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</m:oMath>
                </a14:m>
                <a:endParaRPr lang="en-CN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p-</a:t>
                </a:r>
                <a:r>
                  <a:rPr lang="en-US" dirty="0" err="1"/>
                  <a:t>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,(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&gt;1)</m:t>
                    </m:r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5C6FD7-6196-5F98-873F-1918E6CDC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772" y="1692166"/>
                <a:ext cx="3806940" cy="1736373"/>
              </a:xfrm>
              <a:prstGeom prst="rect">
                <a:avLst/>
              </a:prstGeom>
              <a:blipFill>
                <a:blip r:embed="rId3"/>
                <a:stretch>
                  <a:fillRect l="-1329" t="-4380" b="-365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78CFD-5887-B79D-EC2F-B8653E1B2C45}"/>
                  </a:ext>
                </a:extLst>
              </p:cNvPr>
              <p:cNvSpPr txBox="1"/>
              <p:nvPr/>
            </p:nvSpPr>
            <p:spPr>
              <a:xfrm>
                <a:off x="1387366" y="3573517"/>
                <a:ext cx="954460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我们利用单位球的形状考察这几种范数</a:t>
                </a:r>
                <a:r>
                  <a:rPr lang="zh-CN" altLang="en-US" dirty="0"/>
                  <a:t>，所谓单位球就是满足范数小于等于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的向量的集合，</a:t>
                </a:r>
                <a:endParaRPr lang="en-US" altLang="zh-CN" dirty="0"/>
              </a:p>
              <a:p>
                <a:r>
                  <a:rPr lang="zh-CN" altLang="en-US" dirty="0"/>
                  <a:t>记为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b="0" dirty="0"/>
                  <a:t> 下图显示了</a:t>
                </a:r>
                <a:r>
                  <a:rPr lang="en-US" altLang="zh-CN" b="0" dirty="0"/>
                  <a:t>2</a:t>
                </a:r>
                <a:r>
                  <a:rPr lang="zh-CN" altLang="en-US" b="0" dirty="0"/>
                  <a:t>维向量空间上不同范数意义下的单位球形状</a:t>
                </a:r>
                <a:r>
                  <a:rPr lang="en-US" altLang="zh-CN" b="0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78CFD-5887-B79D-EC2F-B8653E1B2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366" y="3573517"/>
                <a:ext cx="9544601" cy="646331"/>
              </a:xfrm>
              <a:prstGeom prst="rect">
                <a:avLst/>
              </a:prstGeom>
              <a:blipFill>
                <a:blip r:embed="rId4"/>
                <a:stretch>
                  <a:fillRect l="-532" t="-5769" b="-134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DC4788B-B44F-EF5F-0811-94931F567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3779" y="4384784"/>
            <a:ext cx="939800" cy="53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CA152D-5693-882F-91C7-83758598F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7211" y="4385088"/>
            <a:ext cx="901700" cy="49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0D993F-C613-666F-AE04-95841C4146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5474" y="4430535"/>
            <a:ext cx="850900" cy="520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8E7832-97F1-D7FE-1DD0-3D370C016B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0038" y="4383239"/>
            <a:ext cx="927100" cy="533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A8B3DC-4F23-1E95-52C4-69E5E3A97B67}"/>
              </a:ext>
            </a:extLst>
          </p:cNvPr>
          <p:cNvSpPr txBox="1"/>
          <p:nvPr/>
        </p:nvSpPr>
        <p:spPr>
          <a:xfrm>
            <a:off x="1584530" y="5083120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en-CN" dirty="0"/>
              <a:t>-norm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707ED-A08F-D52E-3379-1B585A90A732}"/>
              </a:ext>
            </a:extLst>
          </p:cNvPr>
          <p:cNvSpPr txBox="1"/>
          <p:nvPr/>
        </p:nvSpPr>
        <p:spPr>
          <a:xfrm>
            <a:off x="3366377" y="5128663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r>
              <a:rPr lang="en-CN" dirty="0"/>
              <a:t>-norm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70333-32BE-623E-78FE-DC1B3741B906}"/>
              </a:ext>
            </a:extLst>
          </p:cNvPr>
          <p:cNvSpPr txBox="1"/>
          <p:nvPr/>
        </p:nvSpPr>
        <p:spPr>
          <a:xfrm>
            <a:off x="7625474" y="507575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∞-范数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3480A-0CB8-3D73-AC17-8388EA87C3E2}"/>
              </a:ext>
            </a:extLst>
          </p:cNvPr>
          <p:cNvSpPr txBox="1"/>
          <p:nvPr/>
        </p:nvSpPr>
        <p:spPr>
          <a:xfrm>
            <a:off x="4973529" y="5100665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p-</a:t>
            </a:r>
            <a:r>
              <a:rPr lang="en-US" dirty="0" err="1"/>
              <a:t>范数</a:t>
            </a:r>
            <a:r>
              <a:rPr lang="zh-CN" altLang="en-US" dirty="0"/>
              <a:t>（</a:t>
            </a:r>
            <a:r>
              <a:rPr lang="en-US" altLang="zh-CN" dirty="0"/>
              <a:t>p=4)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83905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blind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E628A0-CFEB-4850-CFFF-995A5397245D}"/>
                  </a:ext>
                </a:extLst>
              </p:cNvPr>
              <p:cNvSpPr txBox="1"/>
              <p:nvPr/>
            </p:nvSpPr>
            <p:spPr>
              <a:xfrm>
                <a:off x="1334814" y="1723697"/>
                <a:ext cx="9020418" cy="14959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矩阵范数由向量的范数导出</a:t>
                </a:r>
                <a:r>
                  <a:rPr lang="zh-CN" altLang="en-US" dirty="0"/>
                  <a:t>。我们考虑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的矩阵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的范数。首先，我们</a:t>
                </a:r>
                <a:r>
                  <a:rPr lang="zh-CN" altLang="en-CN" dirty="0"/>
                  <a:t>取定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维和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维</a:t>
                </a:r>
                <a:endParaRPr lang="en-US" altLang="zh-CN" dirty="0"/>
              </a:p>
              <a:p>
                <a:r>
                  <a:rPr lang="zh-CN" altLang="en-US" dirty="0"/>
                  <a:t>向量空间的范数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dirty="0"/>
                  <a:t>，则矩阵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的范数定义为</a:t>
                </a:r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𝐴𝑥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:</m:t>
                                      </m:r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𝐴𝑥</m:t>
                                  </m:r>
                                </m:e>
                              </m:d>
                            </m:e>
                          </m:func>
                        </m:e>
                      </m:func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E628A0-CFEB-4850-CFFF-995A53972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14" y="1723697"/>
                <a:ext cx="9020418" cy="1495987"/>
              </a:xfrm>
              <a:prstGeom prst="rect">
                <a:avLst/>
              </a:prstGeom>
              <a:blipFill>
                <a:blip r:embed="rId3"/>
                <a:stretch>
                  <a:fillRect l="-608" t="-32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FADE5D5-6239-1644-9DAB-CDC0407A0798}"/>
              </a:ext>
            </a:extLst>
          </p:cNvPr>
          <p:cNvSpPr txBox="1"/>
          <p:nvPr/>
        </p:nvSpPr>
        <p:spPr>
          <a:xfrm>
            <a:off x="1334814" y="956442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0458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§</a:t>
            </a:r>
            <a:r>
              <a:rPr lang="en-US" altLang="zh-CN" sz="2400" dirty="0">
                <a:solidFill>
                  <a:srgbClr val="40458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 </a:t>
            </a:r>
            <a:r>
              <a:rPr lang="en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向量范数导出的矩阵范数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7BB29D-A9F0-12D2-4095-5BCC09AC8605}"/>
                  </a:ext>
                </a:extLst>
              </p:cNvPr>
              <p:cNvSpPr txBox="1"/>
              <p:nvPr/>
            </p:nvSpPr>
            <p:spPr>
              <a:xfrm>
                <a:off x="1245559" y="3277364"/>
                <a:ext cx="92518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其中x是n维向量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US" altLang="zh-CN" dirty="0"/>
                  <a:t>m</a:t>
                </a:r>
                <a:r>
                  <a:rPr lang="zh-CN" altLang="en-CN" dirty="0"/>
                  <a:t>维</a:t>
                </a:r>
                <a:r>
                  <a:rPr lang="zh-CN" altLang="en-US" dirty="0"/>
                  <a:t>向量。从第二种定义方式可以看出，矩阵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的范数等于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作用于</a:t>
                </a:r>
                <a:endParaRPr lang="en-US" altLang="zh-CN" dirty="0"/>
              </a:p>
              <a:p>
                <a:r>
                  <a:rPr lang="zh-CN" altLang="en-US" dirty="0"/>
                  <a:t>所有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维单位向量得到的最长的向量的范数。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7BB29D-A9F0-12D2-4095-5BCC09AC8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59" y="3277364"/>
                <a:ext cx="9251828" cy="646331"/>
              </a:xfrm>
              <a:prstGeom prst="rect">
                <a:avLst/>
              </a:prstGeom>
              <a:blipFill>
                <a:blip r:embed="rId4"/>
                <a:stretch>
                  <a:fillRect l="-411" t="-7692" b="-134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8639DC-9954-0A36-1741-B2EA49A52A01}"/>
                  </a:ext>
                </a:extLst>
              </p:cNvPr>
              <p:cNvSpPr txBox="1"/>
              <p:nvPr/>
            </p:nvSpPr>
            <p:spPr>
              <a:xfrm>
                <a:off x="1245559" y="4092848"/>
                <a:ext cx="8992526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以矩阵的</a:t>
                </a:r>
                <a:r>
                  <a:rPr lang="en-US" altLang="zh-CN" dirty="0"/>
                  <a:t>2-</a:t>
                </a:r>
                <a:r>
                  <a:rPr lang="zh-CN" altLang="en-US" dirty="0"/>
                  <a:t>范数为例，设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，考虑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作用于</a:t>
                </a:r>
                <a:r>
                  <a:rPr lang="en-US" altLang="zh-CN" dirty="0"/>
                  <a:t>2-</a:t>
                </a:r>
                <a:r>
                  <a:rPr lang="zh-CN" altLang="en-US" dirty="0"/>
                  <a:t>范数下的单位球（圆），我们得到</a:t>
                </a:r>
                <a:endParaRPr lang="en-C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8639DC-9954-0A36-1741-B2EA49A52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59" y="4092848"/>
                <a:ext cx="8992526" cy="554254"/>
              </a:xfrm>
              <a:prstGeom prst="rect">
                <a:avLst/>
              </a:prstGeom>
              <a:blipFill>
                <a:blip r:embed="rId5"/>
                <a:stretch>
                  <a:fillRect l="-423" b="-681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2938666-BD11-94A1-83E2-453821ACB9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963" y="4703414"/>
            <a:ext cx="1130300" cy="9271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458827-23A9-95AB-B23E-125122F34AE3}"/>
              </a:ext>
            </a:extLst>
          </p:cNvPr>
          <p:cNvCxnSpPr>
            <a:cxnSpLocks/>
          </p:cNvCxnSpPr>
          <p:nvPr/>
        </p:nvCxnSpPr>
        <p:spPr bwMode="auto">
          <a:xfrm>
            <a:off x="4567161" y="5185588"/>
            <a:ext cx="83254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C0396D0-1BCC-217E-671D-4A36F77784FF}"/>
              </a:ext>
            </a:extLst>
          </p:cNvPr>
          <p:cNvSpPr txBox="1"/>
          <p:nvPr/>
        </p:nvSpPr>
        <p:spPr>
          <a:xfrm>
            <a:off x="4822172" y="481625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3F47AE-A9A1-B77A-390C-2081FCEC6E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7519" y="4690151"/>
            <a:ext cx="1308100" cy="965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99DDC9-B7EC-8244-B923-F060A32612F0}"/>
              </a:ext>
            </a:extLst>
          </p:cNvPr>
          <p:cNvSpPr txBox="1"/>
          <p:nvPr/>
        </p:nvSpPr>
        <p:spPr>
          <a:xfrm>
            <a:off x="3268717" y="57491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875817-5FAB-ACC8-E4DF-3D3AE4F9CF4C}"/>
                  </a:ext>
                </a:extLst>
              </p:cNvPr>
              <p:cNvSpPr txBox="1"/>
              <p:nvPr/>
            </p:nvSpPr>
            <p:spPr>
              <a:xfrm>
                <a:off x="1245559" y="5782952"/>
                <a:ext cx="8631978" cy="588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当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N" dirty="0"/>
                  <a:t>时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𝐴𝑥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=√8</m:t>
                    </m:r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CN" dirty="0"/>
                  <a:t>范数达到最大</a:t>
                </a:r>
                <a:r>
                  <a:rPr lang="zh-CN" altLang="en-US" dirty="0"/>
                  <a:t>（为什么？）则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=√8</m:t>
                    </m:r>
                  </m:oMath>
                </a14:m>
                <a:r>
                  <a:rPr lang="zh-CN" altLang="en-US" dirty="0"/>
                  <a:t>。</a:t>
                </a:r>
                <a:endParaRPr lang="en-C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875817-5FAB-ACC8-E4DF-3D3AE4F9C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59" y="5782952"/>
                <a:ext cx="8631978" cy="588559"/>
              </a:xfrm>
              <a:prstGeom prst="rect">
                <a:avLst/>
              </a:prstGeom>
              <a:blipFill>
                <a:blip r:embed="rId8"/>
                <a:stretch>
                  <a:fillRect l="-441" b="-21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176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4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9909CD-4574-0E1D-9F29-D2989BACA63E}"/>
                  </a:ext>
                </a:extLst>
              </p:cNvPr>
              <p:cNvSpPr txBox="1"/>
              <p:nvPr/>
            </p:nvSpPr>
            <p:spPr>
              <a:xfrm>
                <a:off x="1261241" y="1765738"/>
                <a:ext cx="9239196" cy="1472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类似的</a:t>
                </a:r>
                <a:r>
                  <a:rPr lang="zh-CN" altLang="en-US" dirty="0"/>
                  <a:t>，我们可以考虑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1-</a:t>
                </a:r>
                <a:r>
                  <a:rPr lang="zh-CN" altLang="en-US" dirty="0"/>
                  <a:t>范数。根据向量</a:t>
                </a:r>
                <a:r>
                  <a:rPr lang="en-US" altLang="zh-CN" dirty="0"/>
                  <a:t>1-</a:t>
                </a:r>
                <a:r>
                  <a:rPr lang="zh-CN" altLang="en-US" dirty="0"/>
                  <a:t>范数的定义，其对应的单位球为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endParaRPr lang="en-CN" dirty="0"/>
              </a:p>
              <a:p>
                <a:r>
                  <a:rPr lang="en-CN" dirty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≤1</m:t>
                                </m:r>
                              </m:e>
                            </m:d>
                          </m:lim>
                        </m:limLow>
                      </m:fName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ℝ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≤1</m:t>
                                </m:r>
                              </m:e>
                            </m:d>
                          </m:lim>
                        </m:limLow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≤1</m:t>
                            </m:r>
                          </m:e>
                        </m:d>
                      </m:lim>
                    </m:limLow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9909CD-4574-0E1D-9F29-D2989BACA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241" y="1765738"/>
                <a:ext cx="9239196" cy="1472454"/>
              </a:xfrm>
              <a:prstGeom prst="rect">
                <a:avLst/>
              </a:prstGeom>
              <a:blipFill>
                <a:blip r:embed="rId3"/>
                <a:stretch>
                  <a:fillRect l="-594" t="-3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28EF0A-22A5-1814-699C-44D8882EF272}"/>
                  </a:ext>
                </a:extLst>
              </p:cNvPr>
              <p:cNvSpPr txBox="1"/>
              <p:nvPr/>
            </p:nvSpPr>
            <p:spPr>
              <a:xfrm>
                <a:off x="1261241" y="4130566"/>
                <a:ext cx="7605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我们得到当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CN" dirty="0"/>
                  <a:t>时Ax达到最大范数</a:t>
                </a:r>
                <a:r>
                  <a:rPr lang="zh-CN" altLang="en-US" dirty="0"/>
                  <a:t>（为什么？），即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altLang="en-US" dirty="0"/>
                  <a:t>。</a:t>
                </a:r>
                <a:endParaRPr lang="en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28EF0A-22A5-1814-699C-44D8882EF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241" y="4130566"/>
                <a:ext cx="7605223" cy="369332"/>
              </a:xfrm>
              <a:prstGeom prst="rect">
                <a:avLst/>
              </a:prstGeom>
              <a:blipFill>
                <a:blip r:embed="rId4"/>
                <a:stretch>
                  <a:fillRect l="-668" t="-10000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42C3A69-74CE-6185-8F13-8ADAE6C4A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0435" y="4615510"/>
            <a:ext cx="3869896" cy="14909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CC9C33-AC34-1ECF-B21F-4671D8FDEED9}"/>
                  </a:ext>
                </a:extLst>
              </p:cNvPr>
              <p:cNvSpPr txBox="1"/>
              <p:nvPr/>
            </p:nvSpPr>
            <p:spPr>
              <a:xfrm>
                <a:off x="1397876" y="3415862"/>
                <a:ext cx="3893182" cy="6414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CC9C33-AC34-1ECF-B21F-4671D8FDE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876" y="3415862"/>
                <a:ext cx="3893182" cy="6414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391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AAD9AD-B53A-63DB-205D-9AA930919020}"/>
                  </a:ext>
                </a:extLst>
              </p:cNvPr>
              <p:cNvSpPr txBox="1"/>
              <p:nvPr/>
            </p:nvSpPr>
            <p:spPr>
              <a:xfrm>
                <a:off x="1303283" y="1723697"/>
                <a:ext cx="9871805" cy="17494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我们还可以考虑A的∞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范数。根据</a:t>
                </a:r>
                <a:r>
                  <a:rPr lang="en-US" altLang="zh-CN" dirty="0"/>
                  <a:t>∞-</a:t>
                </a:r>
                <a:r>
                  <a:rPr lang="zh-CN" altLang="en-US" dirty="0"/>
                  <a:t>范数的定义，其单位球为</a:t>
                </a:r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</m:fun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b="0" dirty="0" err="1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≤1</m:t>
                                </m:r>
                              </m:e>
                            </m:d>
                          </m:lim>
                        </m:limLow>
                      </m:fName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func>
                                  <m:func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≤1</m:t>
                                    </m:r>
                                  </m:e>
                                </m:func>
                              </m:e>
                            </m:d>
                          </m:lim>
                        </m:limLow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≤1</m:t>
                                </m:r>
                              </m:e>
                            </m:func>
                          </m:e>
                        </m:d>
                      </m:lim>
                    </m:limLow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AAD9AD-B53A-63DB-205D-9AA930919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283" y="1723697"/>
                <a:ext cx="9871805" cy="1749453"/>
              </a:xfrm>
              <a:prstGeom prst="rect">
                <a:avLst/>
              </a:prstGeom>
              <a:blipFill>
                <a:blip r:embed="rId3"/>
                <a:stretch>
                  <a:fillRect l="-556" t="-2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3E0826-7222-939F-23D4-B9F632544A34}"/>
                  </a:ext>
                </a:extLst>
              </p:cNvPr>
              <p:cNvSpPr txBox="1"/>
              <p:nvPr/>
            </p:nvSpPr>
            <p:spPr>
              <a:xfrm>
                <a:off x="1303283" y="4296131"/>
                <a:ext cx="78407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N" dirty="0"/>
                  <a:t>我们得到当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CN" dirty="0"/>
                  <a:t>时Ax达到最大范数</a:t>
                </a:r>
                <a:r>
                  <a:rPr lang="zh-CN" altLang="en-US" dirty="0"/>
                  <a:t>（为什么？），即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altLang="en-US" dirty="0"/>
                  <a:t>。</a:t>
                </a:r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3E0826-7222-939F-23D4-B9F632544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283" y="4296131"/>
                <a:ext cx="7840717" cy="369332"/>
              </a:xfrm>
              <a:prstGeom prst="rect">
                <a:avLst/>
              </a:prstGeom>
              <a:blipFill>
                <a:blip r:embed="rId4"/>
                <a:stretch>
                  <a:fillRect l="-647" t="-10000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1256730-D1AD-0F2A-C2B3-854C9F472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4103" y="4951468"/>
            <a:ext cx="2887634" cy="1051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26CCA6-AE96-9368-4C07-C36AB2273374}"/>
                  </a:ext>
                </a:extLst>
              </p:cNvPr>
              <p:cNvSpPr txBox="1"/>
              <p:nvPr/>
            </p:nvSpPr>
            <p:spPr>
              <a:xfrm>
                <a:off x="1303283" y="3499945"/>
                <a:ext cx="8534780" cy="641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0" dirty="0"/>
                  <a:t>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由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26CCA6-AE96-9368-4C07-C36AB227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283" y="3499945"/>
                <a:ext cx="8534780" cy="641458"/>
              </a:xfrm>
              <a:prstGeom prst="rect">
                <a:avLst/>
              </a:prstGeom>
              <a:blipFill>
                <a:blip r:embed="rId6"/>
                <a:stretch>
                  <a:fillRect l="-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51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773D6A-583D-277A-DED2-C590F6586F4C}"/>
                  </a:ext>
                </a:extLst>
              </p:cNvPr>
              <p:cNvSpPr txBox="1"/>
              <p:nvPr/>
            </p:nvSpPr>
            <p:spPr>
              <a:xfrm>
                <a:off x="1555531" y="1702676"/>
                <a:ext cx="8418074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一般的</a:t>
                </a:r>
                <a:r>
                  <a:rPr lang="zh-CN" altLang="en-US" dirty="0"/>
                  <a:t>，设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为</a:t>
                </a:r>
                <a:r>
                  <a:rPr lang="en-US" altLang="zh-CN" dirty="0"/>
                  <a:t>m x n</a:t>
                </a:r>
                <a:r>
                  <a:rPr lang="zh-CN" altLang="en-US" dirty="0"/>
                  <a:t>矩阵，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的第</a:t>
                </a:r>
                <a:r>
                  <a:rPr lang="en-US" altLang="zh-CN" dirty="0"/>
                  <a:t>j</a:t>
                </a:r>
                <a:r>
                  <a:rPr lang="zh-CN" altLang="en-US" dirty="0"/>
                  <a:t>列记为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行记为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dirty="0"/>
                  <a:t>。则我们可以证明：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773D6A-583D-277A-DED2-C590F6586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531" y="1702676"/>
                <a:ext cx="8418074" cy="391646"/>
              </a:xfrm>
              <a:prstGeom prst="rect">
                <a:avLst/>
              </a:prstGeom>
              <a:blipFill>
                <a:blip r:embed="rId3"/>
                <a:stretch>
                  <a:fillRect l="-602" t="-9091" b="-1212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609371-6FC6-43EC-2CCA-92D6D1AC6BEE}"/>
                  </a:ext>
                </a:extLst>
              </p:cNvPr>
              <p:cNvSpPr txBox="1"/>
              <p:nvPr/>
            </p:nvSpPr>
            <p:spPr>
              <a:xfrm>
                <a:off x="1524000" y="2375338"/>
                <a:ext cx="10494540" cy="648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CN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N" sz="24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e>
                          <m:lim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func>
                  </m:oMath>
                </a14:m>
                <a:r>
                  <a:rPr lang="zh-CN" altLang="en-US" sz="2400" b="1" dirty="0"/>
                  <a:t>，即</a:t>
                </a:r>
                <a:r>
                  <a:rPr lang="en-US" altLang="zh-CN" sz="2400" b="1" dirty="0"/>
                  <a:t>A</a:t>
                </a:r>
                <a:r>
                  <a:rPr lang="zh-CN" altLang="en-US" sz="2400" b="1" dirty="0"/>
                  <a:t>的</a:t>
                </a:r>
                <a:r>
                  <a:rPr lang="en-US" altLang="zh-CN" sz="2400" b="1" dirty="0"/>
                  <a:t>1-</a:t>
                </a:r>
                <a:r>
                  <a:rPr lang="zh-CN" altLang="en-US" sz="2400" b="1" dirty="0"/>
                  <a:t>范数为</a:t>
                </a:r>
                <a:r>
                  <a:rPr lang="en-US" altLang="zh-CN" sz="2400" b="1" dirty="0"/>
                  <a:t>A</a:t>
                </a:r>
                <a:r>
                  <a:rPr lang="zh-CN" altLang="en-US" sz="2400" b="1" dirty="0"/>
                  <a:t>的元素取绝对值意义下“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最大列和</a:t>
                </a:r>
                <a:r>
                  <a:rPr lang="zh-CN" altLang="en-US" sz="2400" b="1" dirty="0"/>
                  <a:t>”。</a:t>
                </a:r>
                <a:endParaRPr lang="en-CN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609371-6FC6-43EC-2CCA-92D6D1AC6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375338"/>
                <a:ext cx="10494540" cy="648960"/>
              </a:xfrm>
              <a:prstGeom prst="rect">
                <a:avLst/>
              </a:prstGeom>
              <a:blipFill>
                <a:blip r:embed="rId4"/>
                <a:stretch>
                  <a:fillRect t="-7547" r="-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808125-CAF3-C89B-6E08-782EF2DC6192}"/>
                  </a:ext>
                </a:extLst>
              </p:cNvPr>
              <p:cNvSpPr txBox="1"/>
              <p:nvPr/>
            </p:nvSpPr>
            <p:spPr>
              <a:xfrm>
                <a:off x="1524000" y="3244206"/>
                <a:ext cx="10710945" cy="5752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CN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N" sz="24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e>
                          <m:lim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func>
                  </m:oMath>
                </a14:m>
                <a:r>
                  <a:rPr lang="zh-CN" altLang="en-US" sz="2400" b="1" dirty="0"/>
                  <a:t>，即</a:t>
                </a:r>
                <a:r>
                  <a:rPr lang="en-US" altLang="zh-CN" sz="2400" b="1" dirty="0"/>
                  <a:t>A</a:t>
                </a:r>
                <a:r>
                  <a:rPr lang="zh-CN" altLang="en-US" sz="2400" b="1" dirty="0"/>
                  <a:t>的</a:t>
                </a:r>
                <a:r>
                  <a:rPr lang="en-US" altLang="zh-CN" sz="2400" b="1" dirty="0"/>
                  <a:t>∞-</a:t>
                </a:r>
                <a:r>
                  <a:rPr lang="zh-CN" altLang="en-US" sz="2400" b="1" dirty="0"/>
                  <a:t>范数为</a:t>
                </a:r>
                <a:r>
                  <a:rPr lang="en-US" altLang="zh-CN" sz="2400" b="1" dirty="0"/>
                  <a:t>A</a:t>
                </a:r>
                <a:r>
                  <a:rPr lang="zh-CN" altLang="en-US" sz="2400" b="1" dirty="0"/>
                  <a:t>的元素取绝对值意义下“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最大行和</a:t>
                </a:r>
                <a:r>
                  <a:rPr lang="zh-CN" altLang="en-US" sz="2400" b="1" dirty="0"/>
                  <a:t>”。</a:t>
                </a:r>
                <a:endParaRPr lang="en-CN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808125-CAF3-C89B-6E08-782EF2DC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244206"/>
                <a:ext cx="10710945" cy="575222"/>
              </a:xfrm>
              <a:prstGeom prst="rect">
                <a:avLst/>
              </a:prstGeom>
              <a:blipFill>
                <a:blip r:embed="rId5"/>
                <a:stretch>
                  <a:fillRect t="-11579" r="-57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796BE77-841F-87E0-88D4-4ACBA352A50F}"/>
              </a:ext>
            </a:extLst>
          </p:cNvPr>
          <p:cNvSpPr txBox="1"/>
          <p:nvPr/>
        </p:nvSpPr>
        <p:spPr>
          <a:xfrm>
            <a:off x="1555531" y="3962400"/>
            <a:ext cx="1019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/>
              <a:t>A的</a:t>
            </a:r>
            <a:r>
              <a:rPr lang="en-US" altLang="zh-CN" sz="2400" b="1" dirty="0"/>
              <a:t>2-</a:t>
            </a:r>
            <a:r>
              <a:rPr lang="zh-CN" altLang="en-US" sz="2400" b="1" dirty="0"/>
              <a:t>范数等于到矩阵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的最大</a:t>
            </a:r>
            <a:r>
              <a:rPr lang="zh-CN" altLang="en-US" sz="2400" b="1" dirty="0">
                <a:solidFill>
                  <a:srgbClr val="FF0000"/>
                </a:solidFill>
              </a:rPr>
              <a:t>奇异值</a:t>
            </a:r>
            <a:r>
              <a:rPr lang="zh-CN" altLang="en-US" sz="2400" b="1" dirty="0"/>
              <a:t>。</a:t>
            </a:r>
            <a:endParaRPr lang="en-CN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0595DA-A321-15D1-E98B-E1D41E5DAD8E}"/>
                  </a:ext>
                </a:extLst>
              </p:cNvPr>
              <p:cNvSpPr txBox="1"/>
              <p:nvPr/>
            </p:nvSpPr>
            <p:spPr>
              <a:xfrm>
                <a:off x="1555531" y="4579012"/>
                <a:ext cx="7485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对于对角阵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2-</a:t>
                </a:r>
                <a:r>
                  <a:rPr lang="zh-CN" altLang="en-US" dirty="0"/>
                  <a:t>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,…,|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|}</m:t>
                        </m:r>
                      </m:e>
                    </m:func>
                  </m:oMath>
                </a14:m>
                <a:r>
                  <a:rPr lang="en-CN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0595DA-A321-15D1-E98B-E1D41E5DA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531" y="4579012"/>
                <a:ext cx="7485271" cy="369332"/>
              </a:xfrm>
              <a:prstGeom prst="rect">
                <a:avLst/>
              </a:prstGeom>
              <a:blipFill>
                <a:blip r:embed="rId6"/>
                <a:stretch>
                  <a:fillRect l="-651" t="-11475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769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BF5AEF-488A-1D18-F1DF-F5B61771D8CD}"/>
              </a:ext>
            </a:extLst>
          </p:cNvPr>
          <p:cNvSpPr txBox="1"/>
          <p:nvPr/>
        </p:nvSpPr>
        <p:spPr>
          <a:xfrm>
            <a:off x="1145627" y="903890"/>
            <a:ext cx="17235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§</a:t>
            </a:r>
            <a:r>
              <a:rPr lang="en-US" altLang="zh-CN" sz="2400" dirty="0">
                <a:solidFill>
                  <a:srgbClr val="40458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0458C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lang="zh-CN" altLang="en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谱半径</a:t>
            </a:r>
            <a:endParaRPr kumimoji="0" lang="en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3AB63A-12A3-F296-D030-357BE63DEDE3}"/>
                  </a:ext>
                </a:extLst>
              </p:cNvPr>
              <p:cNvSpPr txBox="1"/>
              <p:nvPr/>
            </p:nvSpPr>
            <p:spPr>
              <a:xfrm>
                <a:off x="1849821" y="1881352"/>
                <a:ext cx="7237943" cy="731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dirty="0"/>
                  <a:t>设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N" dirty="0"/>
                  <a:t>是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N" dirty="0"/>
                  <a:t>阶方阵</a:t>
                </a:r>
                <a:r>
                  <a:rPr lang="zh-CN" altLang="en-US" dirty="0"/>
                  <a:t>，设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N" dirty="0"/>
                  <a:t>的所有特征值为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N" dirty="0"/>
                  <a:t>的谱半径定义为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3AB63A-12A3-F296-D030-357BE63DE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821" y="1881352"/>
                <a:ext cx="7237943" cy="731803"/>
              </a:xfrm>
              <a:prstGeom prst="rect">
                <a:avLst/>
              </a:prstGeom>
              <a:blipFill>
                <a:blip r:embed="rId3"/>
                <a:stretch>
                  <a:fillRect l="-701" t="-6897" b="-17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09AB34-7619-6113-26CE-6CA20287A587}"/>
                  </a:ext>
                </a:extLst>
              </p:cNvPr>
              <p:cNvSpPr txBox="1"/>
              <p:nvPr/>
            </p:nvSpPr>
            <p:spPr>
              <a:xfrm>
                <a:off x="1849821" y="3836276"/>
                <a:ext cx="7157545" cy="1128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例如</a:t>
                </a:r>
                <a:r>
                  <a:rPr lang="zh-CN" altLang="en-US" dirty="0"/>
                  <a:t>，设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CN" dirty="0"/>
                  <a:t>. 之前我们已经得到</a:t>
                </a:r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=√8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CN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09AB34-7619-6113-26CE-6CA20287A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821" y="3836276"/>
                <a:ext cx="7157545" cy="1128899"/>
              </a:xfrm>
              <a:prstGeom prst="rect">
                <a:avLst/>
              </a:prstGeom>
              <a:blipFill>
                <a:blip r:embed="rId4"/>
                <a:stretch>
                  <a:fillRect l="-70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9F1F32-FD4B-207B-9AAE-BD84E3596F15}"/>
                  </a:ext>
                </a:extLst>
              </p:cNvPr>
              <p:cNvSpPr txBox="1"/>
              <p:nvPr/>
            </p:nvSpPr>
            <p:spPr>
              <a:xfrm>
                <a:off x="1849821" y="3021724"/>
                <a:ext cx="9607245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2400" b="1" dirty="0"/>
                  <a:t>定理</a:t>
                </a:r>
                <a:r>
                  <a:rPr lang="zh-CN" altLang="en-US" sz="2400" b="1" dirty="0"/>
                  <a:t>：对于任何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CN" sz="2400" b="1" dirty="0"/>
                  <a:t>阶方阵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/>
                  <a:t>，以及任意矩阵范数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2400" b="1" dirty="0"/>
                  <a:t>，都有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en-CN" sz="2400" b="1" dirty="0"/>
                  <a:t>.</a:t>
                </a:r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9F1F32-FD4B-207B-9AAE-BD84E3596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821" y="3021724"/>
                <a:ext cx="9607245" cy="738664"/>
              </a:xfrm>
              <a:prstGeom prst="rect">
                <a:avLst/>
              </a:prstGeom>
              <a:blipFill>
                <a:blip r:embed="rId5"/>
                <a:stretch>
                  <a:fillRect l="-952" t="-9091" r="-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2527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</TotalTime>
  <Words>618</Words>
  <Application>Microsoft Office PowerPoint</Application>
  <PresentationFormat>宽屏</PresentationFormat>
  <Paragraphs>56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Cambria Math</vt:lpstr>
      <vt:lpstr>Tahoma</vt:lpstr>
      <vt:lpstr>Times New Roman</vt:lpstr>
      <vt:lpstr>Wingdings</vt:lpstr>
      <vt:lpstr>默认设计模板</vt:lpstr>
      <vt:lpstr>向量范数与矩阵范数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 矩阵分析</dc:title>
  <dc:creator>Microsoft Office User</dc:creator>
  <cp:lastModifiedBy>Administrator</cp:lastModifiedBy>
  <cp:revision>47</cp:revision>
  <dcterms:created xsi:type="dcterms:W3CDTF">2023-09-02T08:20:44Z</dcterms:created>
  <dcterms:modified xsi:type="dcterms:W3CDTF">2023-10-30T02:55:20Z</dcterms:modified>
</cp:coreProperties>
</file>