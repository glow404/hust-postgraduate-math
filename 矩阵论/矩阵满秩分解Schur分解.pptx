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61" r:id="rId5"/>
    <p:sldId id="281" r:id="rId6"/>
    <p:sldId id="282" r:id="rId7"/>
    <p:sldId id="283" r:id="rId8"/>
    <p:sldId id="284" r:id="rId9"/>
    <p:sldId id="285" r:id="rId10"/>
    <p:sldId id="286" r:id="rId11"/>
    <p:sldId id="266" r:id="rId12"/>
    <p:sldId id="278" r:id="rId13"/>
    <p:sldId id="288" r:id="rId14"/>
    <p:sldId id="287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10"/>
    <p:restoredTop sz="90909"/>
  </p:normalViewPr>
  <p:slideViewPr>
    <p:cSldViewPr>
      <p:cViewPr varScale="1">
        <p:scale>
          <a:sx n="86" d="100"/>
          <a:sy n="86" d="100"/>
        </p:scale>
        <p:origin x="208" y="8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C8F74E3A-50CD-EA44-378B-1B99956F56F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6362700" cy="6858000"/>
            <a:chOff x="0" y="0"/>
            <a:chExt cx="4008" cy="4320"/>
          </a:xfrm>
        </p:grpSpPr>
        <p:pic>
          <p:nvPicPr>
            <p:cNvPr id="3" name="Picture 8" descr="Expbanna">
              <a:extLst>
                <a:ext uri="{FF2B5EF4-FFF2-40B4-BE49-F238E27FC236}">
                  <a16:creationId xmlns:a16="http://schemas.microsoft.com/office/drawing/2014/main" id="{39D64449-3D6F-566A-5E2A-79E3A2CFC7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invGray">
            <a:xfrm>
              <a:off x="0" y="0"/>
              <a:ext cx="432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9" descr="EXPHORSA">
              <a:extLst>
                <a:ext uri="{FF2B5EF4-FFF2-40B4-BE49-F238E27FC236}">
                  <a16:creationId xmlns:a16="http://schemas.microsoft.com/office/drawing/2014/main" id="{7EC2C57B-6DDB-32C3-63C6-8913338C3C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600"/>
              <a:ext cx="180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" name="Picture 10" descr="EXPHORSA">
            <a:extLst>
              <a:ext uri="{FF2B5EF4-FFF2-40B4-BE49-F238E27FC236}">
                <a16:creationId xmlns:a16="http://schemas.microsoft.com/office/drawing/2014/main" id="{73A110E2-ED49-F4B6-3D27-B6127EEBE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657600"/>
            <a:ext cx="571500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52600" y="990600"/>
            <a:ext cx="6400800" cy="2514600"/>
          </a:xfrm>
          <a:ln w="76200" cmpd="tri"/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886200"/>
            <a:ext cx="6400800" cy="1752600"/>
          </a:xfrm>
          <a:ln w="6350"/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0F672D1-4BE2-7A48-E4C0-2CB53164EC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400800"/>
            <a:ext cx="1905000" cy="45720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20688C8-F441-4EE2-DEB6-B9E52A9BD5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505200" y="6400800"/>
            <a:ext cx="2895600" cy="45720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53E7AF-7627-12CF-C04D-0E66AE8517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 anchorCtr="0"/>
          <a:lstStyle>
            <a:lvl1pPr>
              <a:defRPr/>
            </a:lvl1pPr>
          </a:lstStyle>
          <a:p>
            <a:fld id="{0DB8AE69-9162-7846-9A15-A4DA11AED97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45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7C2775-4CE3-04AB-C1CC-416CD9FF92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144B2F-F35B-1507-7ECE-83E67EC773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782BC7-7446-C7AC-E7CA-A427C15B7C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19ED21-CB5A-2E41-A31C-5D844532AE8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480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3BA0AC-1E14-5A5F-B84A-97D6B2090E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C04466-B342-C8F8-B839-26080028D2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EB0810-4C49-F254-098F-24A2B2C616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1DE11D-008F-9E43-8FDC-227A7B1ACBA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0928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2038" y="1766888"/>
            <a:ext cx="3808412" cy="4113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2850" y="1766888"/>
            <a:ext cx="3808413" cy="4113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60ECC-EECB-97FB-A51E-A9309E2F3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E00FEE-6E9D-59DF-C910-97C42A9B4B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930763-673C-E254-E049-BF376A8E5A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DB86E3-11D3-1843-B57D-53DDF3A85AA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231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A1AEE6-DF08-E72B-7533-A8A9B4629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333CA64-3389-4A95-BAF4-FF7180A8AA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DBCDCC1-3956-C8A4-DECE-53CBF440AE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CDA290-B4BB-2C43-9DFA-50BE4852036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823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8CC3983-4F7F-1335-451C-8415C83AE4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6921206-EAD9-40DA-5063-A17C771908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CBE9195-DF9A-EFFB-5CFF-23D1525EC5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098BA3-191E-0446-89E4-0212808775D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772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3F0627E-4880-9A97-ADF0-BEB68CB775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1E51433-3148-D156-89B4-E3A5F4347A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FF46A3B-311D-2831-F14F-2499ED23F0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04458-2E28-AA4F-B8AF-067B73AC0D3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26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BFA507-41C5-C6D6-77A0-D689B3AAA6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DD9431-06B7-1E63-3634-AF7289139A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94E932-30A4-0ED7-1439-6210F47423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858EE9-ECB3-E844-9F6A-DB2A5CCFE82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005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5F0C29-EBA2-AF62-B42E-1F7D67984C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ABC854-3484-FED7-FE39-41E32A814F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4F050-A494-DD04-01DB-E850CB6AF7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94DF9D-B8B8-6C49-8DA2-6D92531D963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843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E98772-FE5C-60B7-A48F-78AD62C42B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F32015-2E3D-B7B9-049C-84FDC87EFA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BB9F75-DC88-CF52-AB68-BA976C5444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DF069F-8074-A04C-BC40-5601C301C9F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155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6100" y="381000"/>
            <a:ext cx="1943100" cy="5499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2038" y="381000"/>
            <a:ext cx="5681662" cy="5499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2F0E57-DC99-FB8A-3ADF-2E727EF7CE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E249C5-58E6-FAFA-8608-205AB88D34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86CF82-7111-2B50-0CDC-80579E8DC5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EAEA9E-33E5-6548-BCE1-7C63F70545B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513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pbanna">
            <a:extLst>
              <a:ext uri="{FF2B5EF4-FFF2-40B4-BE49-F238E27FC236}">
                <a16:creationId xmlns:a16="http://schemas.microsoft.com/office/drawing/2014/main" id="{1E396702-D511-939D-7939-58006FBD3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0" y="0"/>
            <a:ext cx="685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41EFD8AE-C68A-CC6F-1FB7-921CC2A1B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3161C1E-7D72-BC5C-0CA6-CEB0192ED4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A9A72D2-2232-F9D8-41C4-B1B19F495BB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18E9E94-6541-30EC-791D-065D401631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38C18CAB-D5D5-4745-AA37-C362EB8E507A}" type="slidenum">
              <a:rPr lang="zh-CN" altLang="en-US"/>
              <a:pPr/>
              <a:t>‹#›</a:t>
            </a:fld>
            <a:endParaRPr lang="en-US" altLang="zh-CN"/>
          </a:p>
        </p:txBody>
      </p:sp>
      <p:pic>
        <p:nvPicPr>
          <p:cNvPr id="1031" name="Picture 7" descr="EXPHORSA">
            <a:extLst>
              <a:ext uri="{FF2B5EF4-FFF2-40B4-BE49-F238E27FC236}">
                <a16:creationId xmlns:a16="http://schemas.microsoft.com/office/drawing/2014/main" id="{86172157-24FB-5CD6-42AF-5EA0D7943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74800"/>
            <a:ext cx="777240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8">
            <a:extLst>
              <a:ext uri="{FF2B5EF4-FFF2-40B4-BE49-F238E27FC236}">
                <a16:creationId xmlns:a16="http://schemas.microsoft.com/office/drawing/2014/main" id="{211C0BD1-D809-F19D-6B46-ADA8C32F1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2038" y="1766888"/>
            <a:ext cx="7769225" cy="411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Blip>
          <a:blip r:embed="rId16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s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s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s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s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s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s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4.png"/><Relationship Id="rId7" Type="http://schemas.openxmlformats.org/officeDocument/2006/relationships/image" Target="../media/image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4.png"/><Relationship Id="rId7" Type="http://schemas.openxmlformats.org/officeDocument/2006/relationships/image" Target="../media/image1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5.emf"/><Relationship Id="rId5" Type="http://schemas.openxmlformats.org/officeDocument/2006/relationships/image" Target="../media/image12.e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0.emf"/><Relationship Id="rId3" Type="http://schemas.openxmlformats.org/officeDocument/2006/relationships/image" Target="../media/image4.png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2.emf"/><Relationship Id="rId2" Type="http://schemas.openxmlformats.org/officeDocument/2006/relationships/image" Target="../media/image3.png"/><Relationship Id="rId16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5" Type="http://schemas.openxmlformats.org/officeDocument/2006/relationships/image" Target="../media/image21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7.emf"/><Relationship Id="rId18" Type="http://schemas.openxmlformats.org/officeDocument/2006/relationships/oleObject" Target="../embeddings/oleObject25.bin"/><Relationship Id="rId3" Type="http://schemas.openxmlformats.org/officeDocument/2006/relationships/image" Target="../media/image4.png"/><Relationship Id="rId21" Type="http://schemas.openxmlformats.org/officeDocument/2006/relationships/image" Target="../media/image31.emf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9.emf"/><Relationship Id="rId2" Type="http://schemas.openxmlformats.org/officeDocument/2006/relationships/image" Target="../media/image3.png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5" Type="http://schemas.openxmlformats.org/officeDocument/2006/relationships/image" Target="../media/image28.e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30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2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27.e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4.png"/><Relationship Id="rId21" Type="http://schemas.openxmlformats.org/officeDocument/2006/relationships/image" Target="../media/image31.emf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29.emf"/><Relationship Id="rId2" Type="http://schemas.openxmlformats.org/officeDocument/2006/relationships/image" Target="../media/image3.png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5" Type="http://schemas.openxmlformats.org/officeDocument/2006/relationships/image" Target="../media/image28.emf"/><Relationship Id="rId23" Type="http://schemas.openxmlformats.org/officeDocument/2006/relationships/image" Target="../media/image32.emf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30.e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32.bin"/><Relationship Id="rId22" Type="http://schemas.openxmlformats.org/officeDocument/2006/relationships/oleObject" Target="../embeddings/oleObject3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34.emf"/><Relationship Id="rId18" Type="http://schemas.openxmlformats.org/officeDocument/2006/relationships/oleObject" Target="../embeddings/oleObject44.bin"/><Relationship Id="rId3" Type="http://schemas.openxmlformats.org/officeDocument/2006/relationships/image" Target="../media/image4.png"/><Relationship Id="rId21" Type="http://schemas.openxmlformats.org/officeDocument/2006/relationships/image" Target="../media/image38.emf"/><Relationship Id="rId7" Type="http://schemas.openxmlformats.org/officeDocument/2006/relationships/image" Target="../media/image33.e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36.emf"/><Relationship Id="rId2" Type="http://schemas.openxmlformats.org/officeDocument/2006/relationships/image" Target="../media/image3.png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5" Type="http://schemas.openxmlformats.org/officeDocument/2006/relationships/image" Target="../media/image35.e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37.e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4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40.emf"/><Relationship Id="rId18" Type="http://schemas.openxmlformats.org/officeDocument/2006/relationships/oleObject" Target="../embeddings/oleObject53.bin"/><Relationship Id="rId3" Type="http://schemas.openxmlformats.org/officeDocument/2006/relationships/image" Target="../media/image4.png"/><Relationship Id="rId21" Type="http://schemas.openxmlformats.org/officeDocument/2006/relationships/image" Target="../media/image42.emf"/><Relationship Id="rId7" Type="http://schemas.openxmlformats.org/officeDocument/2006/relationships/image" Target="../media/image39.e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36.emf"/><Relationship Id="rId2" Type="http://schemas.openxmlformats.org/officeDocument/2006/relationships/image" Target="../media/image3.png"/><Relationship Id="rId16" Type="http://schemas.openxmlformats.org/officeDocument/2006/relationships/oleObject" Target="../embeddings/oleObject52.bin"/><Relationship Id="rId20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5" Type="http://schemas.openxmlformats.org/officeDocument/2006/relationships/image" Target="../media/image35.emf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41.e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5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54.emf"/><Relationship Id="rId18" Type="http://schemas.openxmlformats.org/officeDocument/2006/relationships/oleObject" Target="../embeddings/oleObject64.bin"/><Relationship Id="rId3" Type="http://schemas.openxmlformats.org/officeDocument/2006/relationships/image" Target="../media/image49.emf"/><Relationship Id="rId21" Type="http://schemas.openxmlformats.org/officeDocument/2006/relationships/image" Target="../media/image58.emf"/><Relationship Id="rId7" Type="http://schemas.openxmlformats.org/officeDocument/2006/relationships/image" Target="../media/image51.e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56.emf"/><Relationship Id="rId2" Type="http://schemas.openxmlformats.org/officeDocument/2006/relationships/oleObject" Target="../embeddings/oleObject56.bin"/><Relationship Id="rId16" Type="http://schemas.openxmlformats.org/officeDocument/2006/relationships/oleObject" Target="../embeddings/oleObject63.bin"/><Relationship Id="rId20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53.emf"/><Relationship Id="rId5" Type="http://schemas.openxmlformats.org/officeDocument/2006/relationships/image" Target="../media/image50.emf"/><Relationship Id="rId15" Type="http://schemas.openxmlformats.org/officeDocument/2006/relationships/image" Target="../media/image55.e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57.e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52.emf"/><Relationship Id="rId14" Type="http://schemas.openxmlformats.org/officeDocument/2006/relationships/oleObject" Target="../embeddings/oleObject6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951FBD1-DD83-8238-7985-B018E72B18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31913" y="1700213"/>
            <a:ext cx="6400800" cy="814387"/>
          </a:xfrm>
        </p:spPr>
        <p:txBody>
          <a:bodyPr/>
          <a:lstStyle/>
          <a:p>
            <a:pPr eaLnBrk="1" hangingPunct="1"/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第3章   矩阵的分解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404BC33-A6EC-4E3C-F67E-DDB7558A24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31913" y="2971800"/>
            <a:ext cx="6400800" cy="12493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Matrix Factorization and Decomposition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C3BEE7D-52BA-FA75-A824-C761219FF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80963"/>
            <a:ext cx="4679950" cy="755650"/>
          </a:xfrm>
        </p:spPr>
        <p:txBody>
          <a:bodyPr/>
          <a:lstStyle/>
          <a:p>
            <a:pPr eaLnBrk="1" hangingPunct="1"/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</a:rPr>
              <a:t>矩阵分解的概述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E9BB71C-EC79-E611-5139-79B87C7810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50925"/>
            <a:ext cx="8064500" cy="24495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b="1">
                <a:solidFill>
                  <a:srgbClr val="003300"/>
                </a:solidFill>
              </a:rPr>
              <a:t> 矩阵的分解：</a:t>
            </a:r>
            <a:r>
              <a:rPr lang="zh-CN" altLang="en-US" b="1">
                <a:solidFill>
                  <a:srgbClr val="0033CC"/>
                </a:solidFill>
              </a:rPr>
              <a:t>两种常见的形式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b="1">
                <a:solidFill>
                  <a:srgbClr val="003300"/>
                </a:solidFill>
              </a:rPr>
              <a:t> A=A</a:t>
            </a:r>
            <a:r>
              <a:rPr lang="en-US" altLang="zh-CN" b="1" baseline="-25000">
                <a:solidFill>
                  <a:srgbClr val="003300"/>
                </a:solidFill>
              </a:rPr>
              <a:t>1</a:t>
            </a:r>
            <a:r>
              <a:rPr lang="en-US" altLang="zh-CN" b="1">
                <a:solidFill>
                  <a:srgbClr val="003300"/>
                </a:solidFill>
              </a:rPr>
              <a:t>+A</a:t>
            </a:r>
            <a:r>
              <a:rPr lang="en-US" altLang="zh-CN" b="1" baseline="-25000">
                <a:solidFill>
                  <a:srgbClr val="003300"/>
                </a:solidFill>
              </a:rPr>
              <a:t>2</a:t>
            </a:r>
            <a:r>
              <a:rPr lang="en-US" altLang="zh-CN" b="1">
                <a:solidFill>
                  <a:srgbClr val="003300"/>
                </a:solidFill>
              </a:rPr>
              <a:t>+</a:t>
            </a:r>
            <a:r>
              <a:rPr lang="zh-CN" altLang="en-US" b="1">
                <a:solidFill>
                  <a:srgbClr val="003300"/>
                </a:solidFill>
                <a:cs typeface="Times New Roman" panose="02020603050405020304" pitchFamily="18" charset="0"/>
              </a:rPr>
              <a:t>…</a:t>
            </a:r>
            <a:r>
              <a:rPr lang="zh-CN" altLang="en-US" b="1">
                <a:solidFill>
                  <a:srgbClr val="003300"/>
                </a:solidFill>
              </a:rPr>
              <a:t>+</a:t>
            </a:r>
            <a:r>
              <a:rPr lang="en-US" altLang="zh-CN" b="1">
                <a:solidFill>
                  <a:srgbClr val="003300"/>
                </a:solidFill>
              </a:rPr>
              <a:t>A</a:t>
            </a:r>
            <a:r>
              <a:rPr lang="en-US" altLang="zh-CN" b="1" baseline="-25000">
                <a:solidFill>
                  <a:srgbClr val="003300"/>
                </a:solidFill>
              </a:rPr>
              <a:t>k         </a:t>
            </a:r>
            <a:r>
              <a:rPr lang="zh-CN" altLang="en-US" b="1">
                <a:solidFill>
                  <a:srgbClr val="003300"/>
                </a:solidFill>
              </a:rPr>
              <a:t>矩阵的</a:t>
            </a:r>
            <a:r>
              <a:rPr lang="zh-CN" altLang="en-US" b="1">
                <a:solidFill>
                  <a:srgbClr val="0033CC"/>
                </a:solidFill>
              </a:rPr>
              <a:t>和</a:t>
            </a:r>
            <a:endParaRPr lang="en-US" altLang="zh-CN" b="1">
              <a:solidFill>
                <a:srgbClr val="0033CC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b="1">
                <a:solidFill>
                  <a:srgbClr val="003300"/>
                </a:solidFill>
              </a:rPr>
              <a:t> A=A</a:t>
            </a:r>
            <a:r>
              <a:rPr lang="en-US" altLang="zh-CN" b="1" baseline="-25000">
                <a:solidFill>
                  <a:srgbClr val="003300"/>
                </a:solidFill>
              </a:rPr>
              <a:t>1</a:t>
            </a:r>
            <a:r>
              <a:rPr lang="en-US" altLang="zh-CN" b="1">
                <a:solidFill>
                  <a:srgbClr val="003300"/>
                </a:solidFill>
              </a:rPr>
              <a:t>A</a:t>
            </a:r>
            <a:r>
              <a:rPr lang="en-US" altLang="zh-CN" b="1" baseline="-25000">
                <a:solidFill>
                  <a:srgbClr val="003300"/>
                </a:solidFill>
              </a:rPr>
              <a:t>2</a:t>
            </a:r>
            <a:r>
              <a:rPr lang="en-US" altLang="zh-CN" b="1">
                <a:solidFill>
                  <a:srgbClr val="003300"/>
                </a:solidFill>
              </a:rPr>
              <a:t> </a:t>
            </a:r>
            <a:r>
              <a:rPr lang="en-US" altLang="zh-CN" b="1">
                <a:solidFill>
                  <a:srgbClr val="0033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b="1">
                <a:solidFill>
                  <a:srgbClr val="003300"/>
                </a:solidFill>
              </a:rPr>
              <a:t>A</a:t>
            </a:r>
            <a:r>
              <a:rPr lang="en-US" altLang="zh-CN" b="1" baseline="-25000">
                <a:solidFill>
                  <a:srgbClr val="003300"/>
                </a:solidFill>
              </a:rPr>
              <a:t>m                 </a:t>
            </a:r>
            <a:r>
              <a:rPr lang="zh-CN" altLang="en-US" b="1">
                <a:solidFill>
                  <a:srgbClr val="003300"/>
                </a:solidFill>
              </a:rPr>
              <a:t>矩阵的乘</a:t>
            </a:r>
            <a:r>
              <a:rPr lang="zh-CN" altLang="en-US" b="1">
                <a:solidFill>
                  <a:srgbClr val="0033CC"/>
                </a:solidFill>
              </a:rPr>
              <a:t>积</a:t>
            </a:r>
            <a:r>
              <a:rPr lang="zh-CN" altLang="en-US" b="1">
                <a:solidFill>
                  <a:srgbClr val="003300"/>
                </a:solidFill>
              </a:rPr>
              <a:t>，如</a:t>
            </a:r>
            <a:r>
              <a:rPr lang="en-US" altLang="zh-CN" b="1">
                <a:solidFill>
                  <a:srgbClr val="003300"/>
                </a:solidFill>
              </a:rPr>
              <a:t>FFT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b="1">
                <a:solidFill>
                  <a:srgbClr val="003300"/>
                </a:solidFill>
              </a:rPr>
              <a:t> 矩阵分解的原则与意义：</a:t>
            </a:r>
          </a:p>
          <a:p>
            <a:pPr lvl="1" eaLnBrk="1" hangingPunct="1"/>
            <a:r>
              <a:rPr lang="zh-CN" altLang="en-US" b="1">
                <a:solidFill>
                  <a:srgbClr val="003300"/>
                </a:solidFill>
              </a:rPr>
              <a:t> 实际应用的需要</a:t>
            </a:r>
          </a:p>
        </p:txBody>
      </p:sp>
      <p:sp>
        <p:nvSpPr>
          <p:cNvPr id="21509" name="AutoShape 5">
            <a:extLst>
              <a:ext uri="{FF2B5EF4-FFF2-40B4-BE49-F238E27FC236}">
                <a16:creationId xmlns:a16="http://schemas.microsoft.com/office/drawing/2014/main" id="{6BFF3CBE-C4B9-A2B7-6D8C-A7F91CF14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450" y="2420938"/>
            <a:ext cx="2971800" cy="1295400"/>
          </a:xfrm>
          <a:prstGeom prst="cloudCallout">
            <a:avLst>
              <a:gd name="adj1" fmla="val -101389"/>
              <a:gd name="adj2" fmla="val 1139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b="1">
                <a:solidFill>
                  <a:srgbClr val="006600"/>
                </a:solidFill>
              </a:rPr>
              <a:t>理论上的需要</a:t>
            </a:r>
          </a:p>
          <a:p>
            <a:pPr algn="ctr" eaLnBrk="1" hangingPunct="1">
              <a:buFontTx/>
              <a:buNone/>
            </a:pPr>
            <a:r>
              <a:rPr lang="zh-CN" altLang="en-US" sz="2000" b="1">
                <a:solidFill>
                  <a:srgbClr val="006600"/>
                </a:solidFill>
              </a:rPr>
              <a:t>计算上的需要</a:t>
            </a:r>
          </a:p>
          <a:p>
            <a:pPr algn="ctr" eaLnBrk="1" hangingPunct="1">
              <a:buFontTx/>
              <a:buNone/>
            </a:pPr>
            <a:endParaRPr lang="zh-CN" altLang="en-US" sz="2000" b="1">
              <a:solidFill>
                <a:srgbClr val="006600"/>
              </a:solidFill>
            </a:endParaRP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224899F7-10F6-67E3-C001-F6392A2A8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73463"/>
            <a:ext cx="6934200" cy="273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b="1">
                <a:solidFill>
                  <a:srgbClr val="003300"/>
                </a:solidFill>
              </a:rPr>
              <a:t>显示原矩阵的某些特性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3300"/>
                </a:solidFill>
              </a:rPr>
              <a:t> 矩阵化简的方法与矩阵技术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3300"/>
                </a:solidFill>
              </a:rPr>
              <a:t> 主要技巧：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3300"/>
                </a:solidFill>
              </a:rPr>
              <a:t> </a:t>
            </a:r>
            <a:r>
              <a:rPr lang="zh-CN" altLang="en-US" b="1">
                <a:solidFill>
                  <a:srgbClr val="0033CC"/>
                </a:solidFill>
              </a:rPr>
              <a:t>各种标准形</a:t>
            </a:r>
            <a:r>
              <a:rPr lang="zh-CN" altLang="en-US" b="1">
                <a:solidFill>
                  <a:srgbClr val="003300"/>
                </a:solidFill>
              </a:rPr>
              <a:t>的理论和计算方法</a:t>
            </a:r>
            <a:endParaRPr lang="en-US" altLang="zh-CN" b="1">
              <a:solidFill>
                <a:srgbClr val="003300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3300"/>
                </a:solidFill>
              </a:rPr>
              <a:t> 矩阵的</a:t>
            </a:r>
            <a:r>
              <a:rPr lang="zh-CN" altLang="en-US" b="1">
                <a:solidFill>
                  <a:srgbClr val="0033CC"/>
                </a:solidFill>
              </a:rPr>
              <a:t>分块运算</a:t>
            </a:r>
            <a:r>
              <a:rPr lang="zh-CN" altLang="en-US" b="1">
                <a:solidFill>
                  <a:srgbClr val="003300"/>
                </a:solidFill>
              </a:rPr>
              <a:t>和</a:t>
            </a:r>
            <a:r>
              <a:rPr lang="zh-CN" altLang="en-US" b="1">
                <a:solidFill>
                  <a:srgbClr val="0033CC"/>
                </a:solidFill>
              </a:rPr>
              <a:t>初等变换</a:t>
            </a:r>
            <a:endParaRPr lang="en-US" altLang="zh-CN" sz="3200" b="1" baseline="-25000">
              <a:solidFill>
                <a:srgbClr val="0033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bldLvl="2" autoUpdateAnimBg="0"/>
      <p:bldP spid="21509" grpId="0" animBg="1" autoUpdateAnimBg="0"/>
      <p:bldP spid="21510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846E630-D11E-9EC9-92BB-521C29E6E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15888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§3.1 </a:t>
            </a: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</a:rPr>
              <a:t>常见的矩阵标准形与分解</a:t>
            </a:r>
            <a:endParaRPr lang="en-US" altLang="zh-CN" sz="36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0B53AE6-A0CB-8958-18C9-ED4F8085D2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052513"/>
            <a:ext cx="3317875" cy="252095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003300"/>
                </a:solidFill>
              </a:rPr>
              <a:t>常见的标准形</a:t>
            </a:r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b="1">
                <a:solidFill>
                  <a:srgbClr val="003300"/>
                </a:solidFill>
              </a:rPr>
              <a:t> 等价标准形</a:t>
            </a:r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b="1">
                <a:solidFill>
                  <a:srgbClr val="003300"/>
                </a:solidFill>
              </a:rPr>
              <a:t> 相似标准形</a:t>
            </a:r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b="1">
                <a:solidFill>
                  <a:srgbClr val="003300"/>
                </a:solidFill>
              </a:rPr>
              <a:t> 合同标准形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DFA8CF71-1539-5540-B9C9-912EC7E4B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716338"/>
            <a:ext cx="6103938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3300"/>
                </a:solidFill>
              </a:rPr>
              <a:t>常见分解：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00"/>
                </a:solidFill>
              </a:rPr>
              <a:t> 可对角化矩阵的谱分解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00"/>
                </a:solidFill>
              </a:rPr>
              <a:t> 满秩分解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00"/>
                </a:solidFill>
              </a:rPr>
              <a:t> </a:t>
            </a:r>
            <a:r>
              <a:rPr lang="en-US" altLang="zh-CN" b="1" dirty="0">
                <a:solidFill>
                  <a:srgbClr val="003300"/>
                </a:solidFill>
              </a:rPr>
              <a:t>UR(</a:t>
            </a:r>
            <a:r>
              <a:rPr lang="zh-CN" altLang="en-US" b="1" dirty="0">
                <a:solidFill>
                  <a:srgbClr val="003300"/>
                </a:solidFill>
              </a:rPr>
              <a:t>或</a:t>
            </a:r>
            <a:r>
              <a:rPr lang="en-US" altLang="zh-CN" b="1" dirty="0">
                <a:solidFill>
                  <a:srgbClr val="003300"/>
                </a:solidFill>
              </a:rPr>
              <a:t>QR</a:t>
            </a:r>
            <a:r>
              <a:rPr lang="zh-CN" altLang="en-US" b="1" dirty="0">
                <a:solidFill>
                  <a:srgbClr val="003300"/>
                </a:solidFill>
              </a:rPr>
              <a:t>）分解</a:t>
            </a:r>
            <a:endParaRPr lang="en-US" altLang="zh-CN" b="1" dirty="0">
              <a:solidFill>
                <a:srgbClr val="003300"/>
              </a:solidFill>
            </a:endParaRPr>
          </a:p>
          <a:p>
            <a:pPr lvl="1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00"/>
                </a:solidFill>
              </a:rPr>
              <a:t> 奇异值分解</a:t>
            </a: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9F20CB5C-159F-9B81-0678-A1663CB080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1436688"/>
          <a:ext cx="3852862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39900" imgH="558800" progId="Equation.3">
                  <p:embed/>
                </p:oleObj>
              </mc:Choice>
              <mc:Fallback>
                <p:oleObj name="公式" r:id="rId4" imgW="17399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436688"/>
                        <a:ext cx="3852862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>
            <a:extLst>
              <a:ext uri="{FF2B5EF4-FFF2-40B4-BE49-F238E27FC236}">
                <a16:creationId xmlns:a16="http://schemas.microsoft.com/office/drawing/2014/main" id="{5718DC2D-4F79-7D9D-A512-42C910383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2438400"/>
          <a:ext cx="23590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66800" imgH="292100" progId="Equation.3">
                  <p:embed/>
                </p:oleObj>
              </mc:Choice>
              <mc:Fallback>
                <p:oleObj name="公式" r:id="rId6" imgW="1066800" imgH="292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2438400"/>
                        <a:ext cx="23590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>
            <a:extLst>
              <a:ext uri="{FF2B5EF4-FFF2-40B4-BE49-F238E27FC236}">
                <a16:creationId xmlns:a16="http://schemas.microsoft.com/office/drawing/2014/main" id="{C18F90AF-B834-D05A-598B-DF46221236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2995613"/>
          <a:ext cx="26670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600" imgH="292100" progId="Equation.3">
                  <p:embed/>
                </p:oleObj>
              </mc:Choice>
              <mc:Fallback>
                <p:oleObj name="Equation" r:id="rId8" imgW="990600" imgH="292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2995613"/>
                        <a:ext cx="26670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AutoShape 8">
            <a:extLst>
              <a:ext uri="{FF2B5EF4-FFF2-40B4-BE49-F238E27FC236}">
                <a16:creationId xmlns:a16="http://schemas.microsoft.com/office/drawing/2014/main" id="{8B733811-8C9F-0697-E282-8BF43856C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725738"/>
            <a:ext cx="1371600" cy="609600"/>
          </a:xfrm>
          <a:prstGeom prst="wedgeEllipseCallout">
            <a:avLst>
              <a:gd name="adj1" fmla="val -63773"/>
              <a:gd name="adj2" fmla="val 41148"/>
            </a:avLst>
          </a:prstGeom>
          <a:solidFill>
            <a:srgbClr val="0066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</a:rPr>
              <a:t>A</a:t>
            </a:r>
            <a:r>
              <a:rPr lang="en-US" altLang="zh-CN" sz="2400" b="1" baseline="30000">
                <a:solidFill>
                  <a:schemeClr val="bg1"/>
                </a:solidFill>
              </a:rPr>
              <a:t>T</a:t>
            </a:r>
            <a:r>
              <a:rPr lang="en-US" altLang="zh-CN" sz="2400" b="1">
                <a:solidFill>
                  <a:schemeClr val="bg1"/>
                </a:solidFill>
              </a:rPr>
              <a:t>=A</a:t>
            </a:r>
          </a:p>
        </p:txBody>
      </p:sp>
      <p:sp>
        <p:nvSpPr>
          <p:cNvPr id="22540" name="AutoShape 12">
            <a:extLst>
              <a:ext uri="{FF2B5EF4-FFF2-40B4-BE49-F238E27FC236}">
                <a16:creationId xmlns:a16="http://schemas.microsoft.com/office/drawing/2014/main" id="{DB99BE5E-18E6-280D-6C68-4C96E3AE5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925888"/>
            <a:ext cx="2743200" cy="533400"/>
          </a:xfrm>
          <a:prstGeom prst="wedgeRoundRectCallout">
            <a:avLst>
              <a:gd name="adj1" fmla="val -78995"/>
              <a:gd name="adj2" fmla="val 50000"/>
              <a:gd name="adj3" fmla="val 16667"/>
            </a:avLst>
          </a:prstGeom>
          <a:solidFill>
            <a:srgbClr val="006600"/>
          </a:solidFill>
          <a:ln w="9525">
            <a:solidFill>
              <a:srgbClr val="E07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</a:rPr>
              <a:t>相似标准形</a:t>
            </a:r>
          </a:p>
        </p:txBody>
      </p:sp>
      <p:sp>
        <p:nvSpPr>
          <p:cNvPr id="2" name="AutoShape 12">
            <a:extLst>
              <a:ext uri="{FF2B5EF4-FFF2-40B4-BE49-F238E27FC236}">
                <a16:creationId xmlns:a16="http://schemas.microsoft.com/office/drawing/2014/main" id="{7C0F19AF-D081-E2B5-4EB9-9189CBE8C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9494" y="4840288"/>
            <a:ext cx="2743200" cy="533400"/>
          </a:xfrm>
          <a:prstGeom prst="wedgeRoundRectCallout">
            <a:avLst>
              <a:gd name="adj1" fmla="val -98148"/>
              <a:gd name="adj2" fmla="val 67856"/>
              <a:gd name="adj3" fmla="val 16667"/>
            </a:avLst>
          </a:prstGeom>
          <a:solidFill>
            <a:srgbClr val="006600"/>
          </a:solidFill>
          <a:ln w="9525">
            <a:solidFill>
              <a:srgbClr val="E07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</a:rPr>
              <a:t>等价标准形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2" autoUpdateAnimBg="0"/>
      <p:bldP spid="22532" grpId="0" uiExpand="1" build="p" bldLvl="2" autoUpdateAnimBg="0"/>
      <p:bldP spid="22536" grpId="0" animBg="1" autoUpdateAnimBg="0"/>
      <p:bldP spid="22540" grpId="0" animBg="1" autoUpdateAnimBg="0"/>
      <p:bldP spid="2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1E5BA2D-0374-C268-E6BB-A345005E2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二、矩阵的满秩分解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5E44BD5-89F0-6C36-B6D4-AF4C06A88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762000"/>
            <a:ext cx="7777163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E07000"/>
                </a:solidFill>
              </a:rPr>
              <a:t>定义</a:t>
            </a:r>
            <a:r>
              <a:rPr lang="zh-CN" altLang="en-US" sz="2400" b="1">
                <a:solidFill>
                  <a:srgbClr val="E07000"/>
                </a:solidFill>
              </a:rPr>
              <a:t>3</a:t>
            </a:r>
            <a:r>
              <a:rPr lang="zh-CN" altLang="en-US" sz="2400" b="1">
                <a:solidFill>
                  <a:srgbClr val="E07000"/>
                </a:solidFill>
                <a:cs typeface="Times New Roman" panose="02020603050405020304" pitchFamily="18" charset="0"/>
              </a:rPr>
              <a:t>.</a:t>
            </a:r>
            <a:r>
              <a:rPr lang="zh-CN" altLang="en-US" sz="2400" b="1">
                <a:solidFill>
                  <a:srgbClr val="E07000"/>
                </a:solidFill>
              </a:rPr>
              <a:t>2</a:t>
            </a:r>
            <a:r>
              <a:rPr lang="zh-CN" altLang="en-US" sz="2800" b="1">
                <a:solidFill>
                  <a:srgbClr val="006600"/>
                </a:solidFill>
              </a:rPr>
              <a:t> </a:t>
            </a:r>
            <a:r>
              <a:rPr lang="zh-CN" altLang="en-US" sz="2800" b="1">
                <a:solidFill>
                  <a:srgbClr val="003300"/>
                </a:solidFill>
                <a:sym typeface="Wingdings" pitchFamily="2" charset="2"/>
              </a:rPr>
              <a:t>（</a:t>
            </a:r>
            <a:r>
              <a:rPr lang="en-US" altLang="zh-CN" sz="2400" i="1">
                <a:solidFill>
                  <a:srgbClr val="003300"/>
                </a:solidFill>
              </a:rPr>
              <a:t>P</a:t>
            </a:r>
            <a:r>
              <a:rPr lang="en-US" altLang="zh-CN" sz="2400" i="1">
                <a:solidFill>
                  <a:srgbClr val="003300"/>
                </a:solidFill>
                <a:cs typeface="Times New Roman" panose="02020603050405020304" pitchFamily="18" charset="0"/>
              </a:rPr>
              <a:t>.66</a:t>
            </a:r>
            <a:r>
              <a:rPr lang="zh-CN" altLang="en-US" sz="2400" i="1">
                <a:solidFill>
                  <a:srgbClr val="003300"/>
                </a:solidFill>
              </a:rPr>
              <a:t> </a:t>
            </a:r>
            <a:r>
              <a:rPr lang="zh-CN" altLang="en-US" sz="2800" b="1">
                <a:solidFill>
                  <a:srgbClr val="003300"/>
                </a:solidFill>
              </a:rPr>
              <a:t>）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对秩为</a:t>
            </a:r>
            <a:r>
              <a:rPr lang="en-US" altLang="zh-CN" sz="2800" b="1" i="1">
                <a:solidFill>
                  <a:srgbClr val="003300"/>
                </a:solidFill>
              </a:rPr>
              <a:t>r</a:t>
            </a:r>
            <a:r>
              <a:rPr lang="en-US" altLang="zh-CN" sz="2800" b="1">
                <a:solidFill>
                  <a:srgbClr val="003300"/>
                </a:solidFill>
              </a:rPr>
              <a:t> </a:t>
            </a:r>
            <a:r>
              <a:rPr lang="zh-CN" altLang="en-US" sz="2800" b="1">
                <a:solidFill>
                  <a:srgbClr val="003300"/>
                </a:solidFill>
              </a:rPr>
              <a:t>的矩阵</a:t>
            </a:r>
            <a:r>
              <a:rPr lang="en-US" altLang="zh-CN" sz="2800" b="1">
                <a:solidFill>
                  <a:srgbClr val="003300"/>
                </a:solidFill>
              </a:rPr>
              <a:t>A</a:t>
            </a:r>
            <a:r>
              <a:rPr lang="en-US" altLang="zh-CN" sz="2800" b="1">
                <a:solidFill>
                  <a:srgbClr val="003300"/>
                </a:solidFill>
                <a:sym typeface="Symbol" pitchFamily="2" charset="2"/>
              </a:rPr>
              <a:t></a:t>
            </a:r>
            <a:r>
              <a:rPr lang="en-US" altLang="zh-CN" sz="2800" b="1">
                <a:solidFill>
                  <a:srgbClr val="003300"/>
                </a:solidFill>
              </a:rPr>
              <a:t>F</a:t>
            </a:r>
            <a:r>
              <a:rPr lang="en-US" altLang="zh-CN" sz="2800" b="1" baseline="30000">
                <a:solidFill>
                  <a:srgbClr val="003300"/>
                </a:solidFill>
              </a:rPr>
              <a:t>m</a:t>
            </a:r>
            <a:r>
              <a:rPr lang="en-US" altLang="zh-CN" sz="2800" b="1" baseline="30000">
                <a:solidFill>
                  <a:srgbClr val="003300"/>
                </a:solidFill>
                <a:sym typeface="Symbol" pitchFamily="2" charset="2"/>
              </a:rPr>
              <a:t></a:t>
            </a:r>
            <a:r>
              <a:rPr lang="en-US" altLang="zh-CN" sz="2800" b="1" baseline="30000">
                <a:solidFill>
                  <a:srgbClr val="003300"/>
                </a:solidFill>
              </a:rPr>
              <a:t>n </a:t>
            </a:r>
            <a:r>
              <a:rPr lang="zh-CN" altLang="en-US" sz="2800" b="1">
                <a:solidFill>
                  <a:srgbClr val="003300"/>
                </a:solidFill>
              </a:rPr>
              <a:t>，若存在秩为</a:t>
            </a:r>
            <a:r>
              <a:rPr lang="en-US" altLang="zh-CN" sz="2800" b="1">
                <a:solidFill>
                  <a:srgbClr val="003300"/>
                </a:solidFill>
              </a:rPr>
              <a:t>r</a:t>
            </a:r>
            <a:r>
              <a:rPr lang="zh-CN" altLang="en-US" sz="2800" b="1">
                <a:solidFill>
                  <a:srgbClr val="003300"/>
                </a:solidFill>
              </a:rPr>
              <a:t>的矩阵  </a:t>
            </a:r>
            <a:r>
              <a:rPr lang="en-US" altLang="zh-CN" sz="2800" b="1">
                <a:solidFill>
                  <a:srgbClr val="003300"/>
                </a:solidFill>
              </a:rPr>
              <a:t>B </a:t>
            </a:r>
            <a:r>
              <a:rPr lang="en-US" altLang="zh-CN" sz="2800" b="1">
                <a:solidFill>
                  <a:srgbClr val="003300"/>
                </a:solidFill>
                <a:sym typeface="Symbol" pitchFamily="2" charset="2"/>
              </a:rPr>
              <a:t></a:t>
            </a:r>
            <a:r>
              <a:rPr lang="en-US" altLang="zh-CN" sz="2800" b="1">
                <a:solidFill>
                  <a:srgbClr val="003300"/>
                </a:solidFill>
              </a:rPr>
              <a:t>F</a:t>
            </a:r>
            <a:r>
              <a:rPr lang="en-US" altLang="zh-CN" sz="2800" b="1" baseline="30000">
                <a:solidFill>
                  <a:srgbClr val="003300"/>
                </a:solidFill>
              </a:rPr>
              <a:t>m</a:t>
            </a:r>
            <a:r>
              <a:rPr lang="en-US" altLang="zh-CN" sz="2800" b="1" baseline="30000">
                <a:solidFill>
                  <a:srgbClr val="003300"/>
                </a:solidFill>
                <a:sym typeface="Symbol" pitchFamily="2" charset="2"/>
              </a:rPr>
              <a:t></a:t>
            </a:r>
            <a:r>
              <a:rPr lang="en-US" altLang="zh-CN" sz="2800" b="1" baseline="30000">
                <a:solidFill>
                  <a:srgbClr val="003300"/>
                </a:solidFill>
              </a:rPr>
              <a:t>r，</a:t>
            </a:r>
            <a:r>
              <a:rPr lang="en-US" altLang="zh-CN" sz="2800" b="1">
                <a:solidFill>
                  <a:srgbClr val="003300"/>
                </a:solidFill>
              </a:rPr>
              <a:t>C</a:t>
            </a:r>
            <a:r>
              <a:rPr lang="en-US" altLang="zh-CN" sz="2800" b="1">
                <a:solidFill>
                  <a:srgbClr val="003300"/>
                </a:solidFill>
                <a:sym typeface="Symbol" pitchFamily="2" charset="2"/>
              </a:rPr>
              <a:t></a:t>
            </a:r>
            <a:r>
              <a:rPr lang="en-US" altLang="zh-CN" sz="2800" b="1">
                <a:solidFill>
                  <a:srgbClr val="003300"/>
                </a:solidFill>
              </a:rPr>
              <a:t>F</a:t>
            </a:r>
            <a:r>
              <a:rPr lang="en-US" altLang="zh-CN" sz="2800" b="1" baseline="30000">
                <a:solidFill>
                  <a:srgbClr val="003300"/>
                </a:solidFill>
              </a:rPr>
              <a:t>r</a:t>
            </a:r>
            <a:r>
              <a:rPr lang="en-US" altLang="zh-CN" sz="2800" b="1" baseline="30000">
                <a:solidFill>
                  <a:srgbClr val="003300"/>
                </a:solidFill>
                <a:sym typeface="Symbol" pitchFamily="2" charset="2"/>
              </a:rPr>
              <a:t></a:t>
            </a:r>
            <a:r>
              <a:rPr lang="en-US" altLang="zh-CN" sz="2800" b="1" baseline="30000">
                <a:solidFill>
                  <a:srgbClr val="003300"/>
                </a:solidFill>
              </a:rPr>
              <a:t>n</a:t>
            </a:r>
            <a:r>
              <a:rPr lang="en-US" altLang="zh-CN" sz="2800" b="1">
                <a:solidFill>
                  <a:srgbClr val="003300"/>
                </a:solidFill>
              </a:rPr>
              <a:t> ，</a:t>
            </a:r>
            <a:r>
              <a:rPr lang="zh-CN" altLang="en-US" sz="2800" b="1">
                <a:solidFill>
                  <a:srgbClr val="003300"/>
                </a:solidFill>
              </a:rPr>
              <a:t>使得</a:t>
            </a:r>
            <a:r>
              <a:rPr lang="en-US" altLang="zh-CN" sz="2800" b="1">
                <a:solidFill>
                  <a:srgbClr val="003300"/>
                </a:solidFill>
              </a:rPr>
              <a:t>A=BC</a:t>
            </a:r>
            <a:r>
              <a:rPr lang="zh-CN" altLang="en-US" sz="2800" b="1">
                <a:solidFill>
                  <a:srgbClr val="003300"/>
                </a:solidFill>
              </a:rPr>
              <a:t>，则称此式为</a:t>
            </a:r>
            <a:r>
              <a:rPr lang="en-US" altLang="zh-CN" sz="2800" b="1">
                <a:solidFill>
                  <a:srgbClr val="003300"/>
                </a:solidFill>
              </a:rPr>
              <a:t>A </a:t>
            </a:r>
            <a:r>
              <a:rPr lang="zh-CN" altLang="en-US" sz="2800" b="1">
                <a:solidFill>
                  <a:srgbClr val="003300"/>
                </a:solidFill>
              </a:rPr>
              <a:t>的满秩分解。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sz="2400" b="1">
              <a:solidFill>
                <a:srgbClr val="003300"/>
              </a:solidFill>
            </a:endParaRP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2445DBB8-BAA0-3098-11B6-4D9B07A41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652963"/>
            <a:ext cx="722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令</a:t>
            </a:r>
            <a:endParaRPr lang="zh-CN" altLang="en-US" sz="2800" b="1">
              <a:solidFill>
                <a:srgbClr val="006600"/>
              </a:solidFill>
            </a:endParaRPr>
          </a:p>
        </p:txBody>
      </p:sp>
      <p:sp>
        <p:nvSpPr>
          <p:cNvPr id="25606" name="AutoShape 6">
            <a:extLst>
              <a:ext uri="{FF2B5EF4-FFF2-40B4-BE49-F238E27FC236}">
                <a16:creationId xmlns:a16="http://schemas.microsoft.com/office/drawing/2014/main" id="{551A96B9-D3D2-6880-C94E-F646C3A7F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38200"/>
            <a:ext cx="533400" cy="1143000"/>
          </a:xfrm>
          <a:prstGeom prst="wedgeEllipseCallout">
            <a:avLst>
              <a:gd name="adj1" fmla="val 132440"/>
              <a:gd name="adj2" fmla="val 373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</a:rPr>
              <a:t>列满秩</a:t>
            </a:r>
          </a:p>
        </p:txBody>
      </p:sp>
      <p:sp>
        <p:nvSpPr>
          <p:cNvPr id="25607" name="AutoShape 7">
            <a:extLst>
              <a:ext uri="{FF2B5EF4-FFF2-40B4-BE49-F238E27FC236}">
                <a16:creationId xmlns:a16="http://schemas.microsoft.com/office/drawing/2014/main" id="{D8A63657-0A69-570E-65E4-BA7827116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692150"/>
            <a:ext cx="1447800" cy="457200"/>
          </a:xfrm>
          <a:prstGeom prst="wedgeEllipseCallout">
            <a:avLst>
              <a:gd name="adj1" fmla="val -80042"/>
              <a:gd name="adj2" fmla="val 1795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</a:rPr>
              <a:t>行满秩</a:t>
            </a: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432943BE-636D-A805-BDFC-F26103C13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41588"/>
            <a:ext cx="853281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2800" b="1">
                <a:solidFill>
                  <a:srgbClr val="006600"/>
                </a:solidFill>
              </a:rPr>
              <a:t>定理3</a:t>
            </a:r>
            <a:r>
              <a:rPr lang="zh-CN" altLang="en-US" sz="2800" b="1">
                <a:solidFill>
                  <a:srgbClr val="006600"/>
                </a:solidFill>
                <a:cs typeface="Times New Roman" panose="02020603050405020304" pitchFamily="18" charset="0"/>
              </a:rPr>
              <a:t>.2</a:t>
            </a:r>
            <a:r>
              <a:rPr lang="zh-CN" altLang="en-US" sz="2800" b="1">
                <a:solidFill>
                  <a:srgbClr val="006600"/>
                </a:solidFill>
              </a:rPr>
              <a:t>：</a:t>
            </a:r>
            <a:r>
              <a:rPr lang="zh-CN" altLang="en-US" sz="2800" b="1">
                <a:solidFill>
                  <a:srgbClr val="003300"/>
                </a:solidFill>
              </a:rPr>
              <a:t>任何</a:t>
            </a:r>
            <a:r>
              <a:rPr lang="zh-CN" altLang="en-US" sz="2800" b="1">
                <a:solidFill>
                  <a:srgbClr val="9933FF"/>
                </a:solidFill>
              </a:rPr>
              <a:t>非零</a:t>
            </a:r>
            <a:r>
              <a:rPr lang="zh-CN" altLang="en-US" sz="2800" b="1">
                <a:solidFill>
                  <a:srgbClr val="003300"/>
                </a:solidFill>
              </a:rPr>
              <a:t>矩阵</a:t>
            </a:r>
            <a:r>
              <a:rPr lang="en-US" altLang="zh-CN" sz="2800" b="1">
                <a:solidFill>
                  <a:srgbClr val="003300"/>
                </a:solidFill>
              </a:rPr>
              <a:t>A</a:t>
            </a:r>
            <a:r>
              <a:rPr lang="en-US" altLang="zh-CN" sz="2800" b="1">
                <a:solidFill>
                  <a:srgbClr val="003300"/>
                </a:solidFill>
                <a:sym typeface="Symbol" pitchFamily="2" charset="2"/>
              </a:rPr>
              <a:t></a:t>
            </a:r>
            <a:r>
              <a:rPr lang="en-US" altLang="zh-CN" sz="2800" b="1">
                <a:solidFill>
                  <a:srgbClr val="003300"/>
                </a:solidFill>
              </a:rPr>
              <a:t>F</a:t>
            </a:r>
            <a:r>
              <a:rPr lang="en-US" altLang="zh-CN" sz="2800" b="1" i="1" baseline="30000">
                <a:solidFill>
                  <a:srgbClr val="003300"/>
                </a:solidFill>
              </a:rPr>
              <a:t>m</a:t>
            </a:r>
            <a:r>
              <a:rPr lang="en-US" altLang="zh-CN" sz="2800" b="1" baseline="30000">
                <a:solidFill>
                  <a:srgbClr val="003300"/>
                </a:solidFill>
                <a:sym typeface="Symbol" pitchFamily="2" charset="2"/>
              </a:rPr>
              <a:t></a:t>
            </a:r>
            <a:r>
              <a:rPr lang="en-US" altLang="zh-CN" sz="2800" b="1" i="1" baseline="30000">
                <a:solidFill>
                  <a:srgbClr val="003300"/>
                </a:solidFill>
              </a:rPr>
              <a:t>n</a:t>
            </a:r>
            <a:r>
              <a:rPr lang="zh-CN" altLang="en-US" sz="2800" b="1">
                <a:solidFill>
                  <a:srgbClr val="003300"/>
                </a:solidFill>
              </a:rPr>
              <a:t>都有满秩分解。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olidFill>
                  <a:srgbClr val="0033CC"/>
                </a:solidFill>
              </a:rPr>
              <a:t>    </a:t>
            </a:r>
            <a:r>
              <a:rPr lang="zh-CN" altLang="en-US" sz="2800" b="1">
                <a:solidFill>
                  <a:srgbClr val="9933FF"/>
                </a:solidFill>
              </a:rPr>
              <a:t>证明：等价标准型求法（行列变换）</a:t>
            </a:r>
            <a:endParaRPr lang="en-US" altLang="zh-CN" sz="2800" b="1">
              <a:solidFill>
                <a:srgbClr val="9933FF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设通过行及列的初等变换把</a:t>
            </a:r>
            <a:r>
              <a:rPr lang="en-US" altLang="zh-CN" sz="2400" b="1">
                <a:solidFill>
                  <a:srgbClr val="003300"/>
                </a:solidFill>
              </a:rPr>
              <a:t>A</a:t>
            </a:r>
            <a:r>
              <a:rPr lang="zh-CN" altLang="en-US" sz="2400" b="1">
                <a:solidFill>
                  <a:srgbClr val="003300"/>
                </a:solidFill>
              </a:rPr>
              <a:t>变为等价标准型，即存在可逆矩阵</a:t>
            </a:r>
            <a:r>
              <a:rPr lang="en-US" altLang="zh-CN" sz="2400" b="1">
                <a:solidFill>
                  <a:srgbClr val="003300"/>
                </a:solidFill>
              </a:rPr>
              <a:t>P</a:t>
            </a:r>
            <a:r>
              <a:rPr lang="zh-CN" altLang="en-US" sz="2400" b="1">
                <a:solidFill>
                  <a:srgbClr val="003300"/>
                </a:solidFill>
              </a:rPr>
              <a:t>，</a:t>
            </a:r>
            <a:r>
              <a:rPr lang="en-US" altLang="zh-CN" sz="2400" b="1">
                <a:solidFill>
                  <a:srgbClr val="003300"/>
                </a:solidFill>
              </a:rPr>
              <a:t>Q</a:t>
            </a:r>
            <a:r>
              <a:rPr lang="zh-CN" altLang="en-US" sz="2400" b="1">
                <a:solidFill>
                  <a:srgbClr val="003300"/>
                </a:solidFill>
              </a:rPr>
              <a:t>，使得</a:t>
            </a:r>
          </a:p>
        </p:txBody>
      </p:sp>
      <p:sp>
        <p:nvSpPr>
          <p:cNvPr id="25610" name="Text Box 10">
            <a:extLst>
              <a:ext uri="{FF2B5EF4-FFF2-40B4-BE49-F238E27FC236}">
                <a16:creationId xmlns:a16="http://schemas.microsoft.com/office/drawing/2014/main" id="{7B65C961-EB85-E380-0021-DA7BC9C3B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5229225"/>
            <a:ext cx="936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得</a:t>
            </a:r>
            <a:endParaRPr lang="zh-CN" altLang="en-US" sz="2800" b="1">
              <a:solidFill>
                <a:srgbClr val="006600"/>
              </a:solidFill>
            </a:endParaRP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A64B5448-00FD-B3BE-BB06-76FF82EAE1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3933825"/>
          <a:ext cx="3852863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39900" imgH="558800" progId="Equation.3">
                  <p:embed/>
                </p:oleObj>
              </mc:Choice>
              <mc:Fallback>
                <p:oleObj name="公式" r:id="rId4" imgW="17399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933825"/>
                        <a:ext cx="3852863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2CBBC05F-BAA9-B20B-7A3C-44E386FE5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941888"/>
          <a:ext cx="3521075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87500" imgH="596900" progId="Equation.3">
                  <p:embed/>
                </p:oleObj>
              </mc:Choice>
              <mc:Fallback>
                <p:oleObj name="公式" r:id="rId6" imgW="1587500" imgH="596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941888"/>
                        <a:ext cx="3521075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967EA3FB-A82A-BFD0-B085-EAFDE55402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4978400"/>
          <a:ext cx="3519488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87500" imgH="596900" progId="Equation.3">
                  <p:embed/>
                </p:oleObj>
              </mc:Choice>
              <mc:Fallback>
                <p:oleObj name="公式" r:id="rId8" imgW="1587500" imgH="596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978400"/>
                        <a:ext cx="3519488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">
            <a:extLst>
              <a:ext uri="{FF2B5EF4-FFF2-40B4-BE49-F238E27FC236}">
                <a16:creationId xmlns:a16="http://schemas.microsoft.com/office/drawing/2014/main" id="{0C6624DE-E79D-D7B1-1293-10093FEFA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021388"/>
            <a:ext cx="5329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9933FF"/>
                </a:solidFill>
              </a:rPr>
              <a:t>B</a:t>
            </a:r>
            <a:r>
              <a:rPr lang="zh-CN" altLang="en-US" sz="2800" b="1">
                <a:solidFill>
                  <a:srgbClr val="9933FF"/>
                </a:solidFill>
              </a:rPr>
              <a:t>，</a:t>
            </a:r>
            <a:r>
              <a:rPr lang="en-US" altLang="zh-CN" sz="2800" b="1">
                <a:solidFill>
                  <a:srgbClr val="9933FF"/>
                </a:solidFill>
              </a:rPr>
              <a:t>C</a:t>
            </a:r>
            <a:r>
              <a:rPr lang="zh-CN" altLang="en-US" sz="2800" b="1">
                <a:solidFill>
                  <a:srgbClr val="9933FF"/>
                </a:solidFill>
              </a:rPr>
              <a:t>满足要求。证毕。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  <p:bldP spid="25605" grpId="0" autoUpdateAnimBg="0"/>
      <p:bldP spid="25606" grpId="0" animBg="1" autoUpdateAnimBg="0"/>
      <p:bldP spid="25607" grpId="0" animBg="1" autoUpdateAnimBg="0"/>
      <p:bldP spid="25608" grpId="0" build="p" bldLvl="2" autoUpdateAnimBg="0"/>
      <p:bldP spid="25610" grpId="0" autoUpdateAnimBg="0"/>
      <p:bldP spid="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91FCEC4-F791-1CB4-94E8-C7768547D69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二、矩阵的满秩分解</a:t>
            </a: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F95D11DE-898D-63D5-48EE-292A557AE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57563"/>
            <a:ext cx="353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例题2</a:t>
            </a:r>
            <a:r>
              <a:rPr lang="zh-CN" altLang="en-US" sz="2800" b="1">
                <a:solidFill>
                  <a:srgbClr val="006600"/>
                </a:solidFill>
              </a:rPr>
              <a:t> （</a:t>
            </a:r>
            <a:r>
              <a:rPr lang="en-US" altLang="zh-CN" sz="2800" b="1">
                <a:solidFill>
                  <a:srgbClr val="006600"/>
                </a:solidFill>
              </a:rPr>
              <a:t>P</a:t>
            </a:r>
            <a:r>
              <a:rPr lang="en-US" altLang="zh-CN" sz="2800" b="1">
                <a:solidFill>
                  <a:srgbClr val="006600"/>
                </a:solidFill>
                <a:cs typeface="Times New Roman" panose="02020603050405020304" pitchFamily="18" charset="0"/>
              </a:rPr>
              <a:t>.69</a:t>
            </a:r>
            <a:r>
              <a:rPr lang="en-US" altLang="zh-CN" sz="2800" b="1">
                <a:solidFill>
                  <a:srgbClr val="006600"/>
                </a:solidFill>
              </a:rPr>
              <a:t>，eg5）</a:t>
            </a:r>
            <a:endParaRPr lang="zh-CN" altLang="en-US" sz="2800" b="1">
              <a:solidFill>
                <a:srgbClr val="006600"/>
              </a:solidFill>
            </a:endParaRP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FE3F1E62-514E-D7FC-1956-07C5ACA2C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496300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 满秩分解的求法：</a:t>
            </a:r>
            <a:r>
              <a:rPr lang="zh-CN" altLang="en-US" sz="2800" b="1">
                <a:solidFill>
                  <a:srgbClr val="0033CC"/>
                </a:solidFill>
              </a:rPr>
              <a:t>初等变换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rgbClr val="003300"/>
                </a:solidFill>
              </a:rPr>
              <a:t> 方法1：等价标准型求法（行列变换）：</a:t>
            </a:r>
            <a:r>
              <a:rPr lang="zh-CN" altLang="en-US" sz="2400" b="1">
                <a:solidFill>
                  <a:srgbClr val="0033CC"/>
                </a:solidFill>
              </a:rPr>
              <a:t>求两个逆矩阵！</a:t>
            </a:r>
            <a:endParaRPr lang="en-US" altLang="zh-CN" sz="2400" b="1">
              <a:solidFill>
                <a:srgbClr val="0033CC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zh-CN" altLang="en-US" sz="2400" b="1">
                <a:solidFill>
                  <a:srgbClr val="003300"/>
                </a:solidFill>
              </a:rPr>
              <a:t> 方法2：阶梯型求法（行变换）：</a:t>
            </a:r>
            <a:r>
              <a:rPr lang="zh-CN" altLang="en-US" sz="2400" b="1">
                <a:solidFill>
                  <a:srgbClr val="0033CC"/>
                </a:solidFill>
              </a:rPr>
              <a:t>只求一个逆矩阵！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2400" b="1">
                <a:solidFill>
                  <a:srgbClr val="E07000"/>
                </a:solidFill>
              </a:rPr>
              <a:t>例题1</a:t>
            </a:r>
            <a:r>
              <a:rPr lang="zh-CN" altLang="en-US" sz="2400" b="1">
                <a:solidFill>
                  <a:srgbClr val="003300"/>
                </a:solidFill>
              </a:rPr>
              <a:t>（</a:t>
            </a:r>
            <a:r>
              <a:rPr lang="en-US" altLang="zh-CN" sz="2400">
                <a:solidFill>
                  <a:srgbClr val="003300"/>
                </a:solidFill>
              </a:rPr>
              <a:t>P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.68</a:t>
            </a:r>
            <a:r>
              <a:rPr lang="en-US" altLang="zh-CN" sz="2400">
                <a:solidFill>
                  <a:srgbClr val="003300"/>
                </a:solidFill>
              </a:rPr>
              <a:t>，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eg4</a:t>
            </a:r>
            <a:r>
              <a:rPr lang="zh-CN" altLang="en-US" sz="2400">
                <a:solidFill>
                  <a:srgbClr val="003300"/>
                </a:solidFill>
              </a:rPr>
              <a:t>）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w"/>
            </a:pPr>
            <a:r>
              <a:rPr lang="zh-CN" altLang="en-US" b="1">
                <a:solidFill>
                  <a:srgbClr val="003300"/>
                </a:solidFill>
              </a:rPr>
              <a:t> </a:t>
            </a:r>
            <a:r>
              <a:rPr lang="zh-CN" altLang="en-US" sz="2400" b="1">
                <a:solidFill>
                  <a:srgbClr val="9933FF"/>
                </a:solidFill>
              </a:rPr>
              <a:t>方法3</a:t>
            </a:r>
            <a:r>
              <a:rPr lang="zh-CN" altLang="en-US" sz="2400" b="1">
                <a:solidFill>
                  <a:srgbClr val="003300"/>
                </a:solidFill>
              </a:rPr>
              <a:t>：求列的极大无关组及表示（行变换）：</a:t>
            </a:r>
            <a:r>
              <a:rPr lang="zh-CN" altLang="en-US" sz="2400" b="1">
                <a:solidFill>
                  <a:srgbClr val="9933FF"/>
                </a:solidFill>
              </a:rPr>
              <a:t>不用求逆</a:t>
            </a:r>
            <a:endParaRPr lang="en-US" altLang="zh-CN" sz="2400" b="1">
              <a:solidFill>
                <a:srgbClr val="9933FF"/>
              </a:solidFill>
            </a:endParaRPr>
          </a:p>
        </p:txBody>
      </p:sp>
      <p:sp>
        <p:nvSpPr>
          <p:cNvPr id="25610" name="Text Box 10">
            <a:extLst>
              <a:ext uri="{FF2B5EF4-FFF2-40B4-BE49-F238E27FC236}">
                <a16:creationId xmlns:a16="http://schemas.microsoft.com/office/drawing/2014/main" id="{323C7A73-3D15-9281-C946-CE9D08357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3357563"/>
            <a:ext cx="4256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例题3</a:t>
            </a:r>
            <a:r>
              <a:rPr lang="zh-CN" altLang="en-US" sz="2800" b="1">
                <a:solidFill>
                  <a:srgbClr val="006600"/>
                </a:solidFill>
              </a:rPr>
              <a:t>（</a:t>
            </a:r>
            <a:r>
              <a:rPr lang="en-US" altLang="zh-CN" sz="2800" b="1">
                <a:solidFill>
                  <a:srgbClr val="006600"/>
                </a:solidFill>
              </a:rPr>
              <a:t>P</a:t>
            </a:r>
            <a:r>
              <a:rPr lang="en-US" altLang="zh-CN" sz="2800" b="1">
                <a:solidFill>
                  <a:srgbClr val="006600"/>
                </a:solidFill>
                <a:cs typeface="Times New Roman" panose="02020603050405020304" pitchFamily="18" charset="0"/>
              </a:rPr>
              <a:t>.70</a:t>
            </a:r>
            <a:r>
              <a:rPr lang="en-US" altLang="zh-CN" sz="2800" b="1">
                <a:solidFill>
                  <a:srgbClr val="006600"/>
                </a:solidFill>
              </a:rPr>
              <a:t>，eg6）</a:t>
            </a:r>
            <a:endParaRPr lang="zh-CN" altLang="en-US" sz="2800" b="1">
              <a:solidFill>
                <a:srgbClr val="006600"/>
              </a:solidFill>
            </a:endParaRP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636F6543-DF5A-820B-C507-70E942AFBD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888" y="4221163"/>
          <a:ext cx="8269287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33800" imgH="558800" progId="Equation.3">
                  <p:embed/>
                </p:oleObj>
              </mc:Choice>
              <mc:Fallback>
                <p:oleObj name="公式" r:id="rId4" imgW="37338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4221163"/>
                        <a:ext cx="8269287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7E26E641-7908-B278-8AA8-8C2D59D1B3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8225" y="5229225"/>
          <a:ext cx="1662113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49300" imgH="558800" progId="Equation.3">
                  <p:embed/>
                </p:oleObj>
              </mc:Choice>
              <mc:Fallback>
                <p:oleObj name="公式" r:id="rId6" imgW="7493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5229225"/>
                        <a:ext cx="1662113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4C9C6185-7D9E-1013-BE9E-46DC6ADD3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5229225"/>
          <a:ext cx="245745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17600" imgH="558800" progId="Equation.3">
                  <p:embed/>
                </p:oleObj>
              </mc:Choice>
              <mc:Fallback>
                <p:oleObj name="公式" r:id="rId8" imgW="11176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229225"/>
                        <a:ext cx="245745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6E7F979D-E03B-5B54-8AFE-C01F6FE038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5229225"/>
          <a:ext cx="3154363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35100" imgH="558800" progId="Equation.3">
                  <p:embed/>
                </p:oleObj>
              </mc:Choice>
              <mc:Fallback>
                <p:oleObj name="公式" r:id="rId10" imgW="14351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229225"/>
                        <a:ext cx="3154363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9" name="Rectangle 13">
            <a:extLst>
              <a:ext uri="{FF2B5EF4-FFF2-40B4-BE49-F238E27FC236}">
                <a16:creationId xmlns:a16="http://schemas.microsoft.com/office/drawing/2014/main" id="{043F2936-2691-0246-F94C-190E4E4C4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917950"/>
            <a:ext cx="865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00"/>
                </a:solidFill>
              </a:rPr>
              <a:t>法</a:t>
            </a:r>
            <a:r>
              <a:rPr lang="en-US" altLang="zh-CN" sz="2800" b="1">
                <a:solidFill>
                  <a:srgbClr val="003300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utoUpdateAnimBg="0"/>
      <p:bldP spid="25608" grpId="0" uiExpand="1" build="p" bldLvl="2" autoUpdateAnimBg="0"/>
      <p:bldP spid="25610" grpId="0" autoUpdateAnimBg="0"/>
      <p:bldP spid="399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60CACAD-50D9-CF09-3D57-B1432C990E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二、矩阵的满秩分解</a:t>
            </a:r>
          </a:p>
        </p:txBody>
      </p:sp>
      <p:sp>
        <p:nvSpPr>
          <p:cNvPr id="12291" name="Rectangle 8">
            <a:extLst>
              <a:ext uri="{FF2B5EF4-FFF2-40B4-BE49-F238E27FC236}">
                <a16:creationId xmlns:a16="http://schemas.microsoft.com/office/drawing/2014/main" id="{DF59107F-1371-58F4-DFC7-28C1B4193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496300" cy="199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 满秩分解的求法：</a:t>
            </a:r>
            <a:r>
              <a:rPr lang="zh-CN" altLang="en-US" sz="2800" b="1">
                <a:solidFill>
                  <a:srgbClr val="0033CC"/>
                </a:solidFill>
              </a:rPr>
              <a:t>初等变换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rgbClr val="003300"/>
                </a:solidFill>
              </a:rPr>
              <a:t> 方法1：等价标准型求法（行列变换）：</a:t>
            </a:r>
            <a:r>
              <a:rPr lang="zh-CN" altLang="en-US" sz="2400" b="1">
                <a:solidFill>
                  <a:srgbClr val="0033CC"/>
                </a:solidFill>
              </a:rPr>
              <a:t>求两个逆矩阵！</a:t>
            </a:r>
            <a:endParaRPr lang="en-US" altLang="zh-CN" sz="2400" b="1">
              <a:solidFill>
                <a:srgbClr val="0033CC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zh-CN" altLang="en-US" sz="2400" b="1">
                <a:solidFill>
                  <a:srgbClr val="003300"/>
                </a:solidFill>
              </a:rPr>
              <a:t> 方法2：阶梯型求法（行变换）：</a:t>
            </a:r>
            <a:r>
              <a:rPr lang="zh-CN" altLang="en-US" sz="2400" b="1">
                <a:solidFill>
                  <a:srgbClr val="0033CC"/>
                </a:solidFill>
              </a:rPr>
              <a:t>只求一个逆矩阵！</a:t>
            </a:r>
            <a:endParaRPr lang="zh-CN" altLang="en-US" sz="2400">
              <a:solidFill>
                <a:srgbClr val="0033CC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w"/>
            </a:pPr>
            <a:r>
              <a:rPr lang="zh-CN" altLang="en-US" b="1">
                <a:solidFill>
                  <a:srgbClr val="003300"/>
                </a:solidFill>
              </a:rPr>
              <a:t> </a:t>
            </a:r>
            <a:r>
              <a:rPr lang="zh-CN" altLang="en-US" sz="2400" b="1">
                <a:solidFill>
                  <a:srgbClr val="9933FF"/>
                </a:solidFill>
              </a:rPr>
              <a:t>方法3</a:t>
            </a:r>
            <a:r>
              <a:rPr lang="zh-CN" altLang="en-US" sz="2400" b="1">
                <a:solidFill>
                  <a:srgbClr val="003300"/>
                </a:solidFill>
              </a:rPr>
              <a:t>：求列的极大无关组及表示（行变换）：</a:t>
            </a:r>
            <a:r>
              <a:rPr lang="zh-CN" altLang="en-US" sz="2400" b="1">
                <a:solidFill>
                  <a:srgbClr val="9933FF"/>
                </a:solidFill>
              </a:rPr>
              <a:t>不用求逆</a:t>
            </a:r>
            <a:endParaRPr lang="en-US" altLang="zh-CN" sz="2400" b="1">
              <a:solidFill>
                <a:srgbClr val="9933FF"/>
              </a:solidFill>
            </a:endParaRP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EADA57BF-3B02-6227-42B1-5E98643DDE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284538"/>
          <a:ext cx="318770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35100" imgH="558800" progId="Equation.3">
                  <p:embed/>
                </p:oleObj>
              </mc:Choice>
              <mc:Fallback>
                <p:oleObj name="公式" r:id="rId4" imgW="14351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284538"/>
                        <a:ext cx="3187700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0FC9A2DA-EFF6-107D-10BB-D93D31E74A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9663" y="3284538"/>
          <a:ext cx="2290762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28700" imgH="558800" progId="Equation.3">
                  <p:embed/>
                </p:oleObj>
              </mc:Choice>
              <mc:Fallback>
                <p:oleObj name="公式" r:id="rId6" imgW="10287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3" y="3284538"/>
                        <a:ext cx="2290762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377994BC-B541-ACDE-31F1-A0DF8F19F5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9638" y="3284538"/>
          <a:ext cx="3154362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35100" imgH="558800" progId="Equation.3">
                  <p:embed/>
                </p:oleObj>
              </mc:Choice>
              <mc:Fallback>
                <p:oleObj name="公式" r:id="rId8" imgW="14351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638" y="3284538"/>
                        <a:ext cx="3154362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AC5A4FA5-9354-4172-46A2-81E9725E8E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460875"/>
          <a:ext cx="637540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882900" imgH="558800" progId="Equation.3">
                  <p:embed/>
                </p:oleObj>
              </mc:Choice>
              <mc:Fallback>
                <p:oleObj name="公式" r:id="rId10" imgW="2882900" imgH="55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460875"/>
                        <a:ext cx="637540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06B3C3A7-FBDB-AC26-68B2-B70B6950AB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4746625"/>
          <a:ext cx="99536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44500" imgH="215900" progId="Equation.3">
                  <p:embed/>
                </p:oleObj>
              </mc:Choice>
              <mc:Fallback>
                <p:oleObj name="公式" r:id="rId12" imgW="444500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746625"/>
                        <a:ext cx="99536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7D1F029-8F18-74BF-D5D6-1A1A0577E2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734050"/>
          <a:ext cx="11271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08000" imgH="215900" progId="Equation.3">
                  <p:embed/>
                </p:oleObj>
              </mc:Choice>
              <mc:Fallback>
                <p:oleObj name="公式" r:id="rId14" imgW="508000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734050"/>
                        <a:ext cx="11271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DFA76B02-43AD-8A06-4F53-20C38D41A5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7550" y="5661025"/>
          <a:ext cx="35464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12900" imgH="266700" progId="Equation.3">
                  <p:embed/>
                </p:oleObj>
              </mc:Choice>
              <mc:Fallback>
                <p:oleObj name="公式" r:id="rId16" imgW="1612900" imgH="266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0" y="5661025"/>
                        <a:ext cx="35464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4" name="Rectangle 14">
            <a:extLst>
              <a:ext uri="{FF2B5EF4-FFF2-40B4-BE49-F238E27FC236}">
                <a16:creationId xmlns:a16="http://schemas.microsoft.com/office/drawing/2014/main" id="{EE672A5D-23A9-8621-0B12-7BCB20899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852738"/>
            <a:ext cx="865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00"/>
                </a:solidFill>
              </a:rPr>
              <a:t>法</a:t>
            </a:r>
            <a:r>
              <a:rPr lang="en-US" altLang="zh-CN" sz="2800" b="1">
                <a:solidFill>
                  <a:srgbClr val="003300"/>
                </a:solidFill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6B6819D-B9CF-D72B-5B8C-454BA8E7C8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二、矩阵的满秩分解</a:t>
            </a:r>
          </a:p>
        </p:txBody>
      </p:sp>
      <p:sp>
        <p:nvSpPr>
          <p:cNvPr id="13315" name="Rectangle 8">
            <a:extLst>
              <a:ext uri="{FF2B5EF4-FFF2-40B4-BE49-F238E27FC236}">
                <a16:creationId xmlns:a16="http://schemas.microsoft.com/office/drawing/2014/main" id="{C9F0BFE3-9A11-C1D6-8506-E3B763C65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28688"/>
            <a:ext cx="84963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 满秩分解的求法：</a:t>
            </a:r>
            <a:r>
              <a:rPr lang="zh-CN" altLang="en-US" sz="2800" b="1">
                <a:solidFill>
                  <a:srgbClr val="0033CC"/>
                </a:solidFill>
              </a:rPr>
              <a:t>初等变换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>
                <a:solidFill>
                  <a:srgbClr val="E07000"/>
                </a:solidFill>
              </a:rPr>
              <a:t>例题1</a:t>
            </a:r>
            <a:r>
              <a:rPr lang="en-US" altLang="zh-CN" sz="2400" b="1">
                <a:solidFill>
                  <a:srgbClr val="E07000"/>
                </a:solidFill>
              </a:rPr>
              <a:t>-2</a:t>
            </a:r>
            <a:r>
              <a:rPr lang="zh-CN" altLang="en-US" sz="2400" b="1">
                <a:solidFill>
                  <a:srgbClr val="003300"/>
                </a:solidFill>
              </a:rPr>
              <a:t>（</a:t>
            </a:r>
            <a:r>
              <a:rPr lang="en-US" altLang="zh-CN" sz="2400">
                <a:solidFill>
                  <a:srgbClr val="003300"/>
                </a:solidFill>
              </a:rPr>
              <a:t>P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.68-69</a:t>
            </a:r>
            <a:r>
              <a:rPr lang="en-US" altLang="zh-CN" sz="2400">
                <a:solidFill>
                  <a:srgbClr val="003300"/>
                </a:solidFill>
              </a:rPr>
              <a:t>，</a:t>
            </a:r>
            <a:r>
              <a:rPr lang="zh-CN" altLang="en-US" sz="2400">
                <a:solidFill>
                  <a:srgbClr val="003300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4-5,</a:t>
            </a:r>
            <a:r>
              <a:rPr lang="zh-CN" altLang="en-US" sz="2400">
                <a:solidFill>
                  <a:srgbClr val="003300"/>
                </a:solidFill>
              </a:rPr>
              <a:t>）</a:t>
            </a:r>
            <a:r>
              <a:rPr lang="zh-CN" altLang="en-US" sz="2400" b="1">
                <a:solidFill>
                  <a:srgbClr val="9933FF"/>
                </a:solidFill>
              </a:rPr>
              <a:t>法</a:t>
            </a:r>
            <a:r>
              <a:rPr lang="en-US" altLang="zh-CN" sz="2400" b="1">
                <a:solidFill>
                  <a:srgbClr val="9933FF"/>
                </a:solidFill>
              </a:rPr>
              <a:t>2</a:t>
            </a:r>
            <a:r>
              <a:rPr lang="zh-CN" altLang="en-US" sz="2400" b="1">
                <a:solidFill>
                  <a:srgbClr val="9933FF"/>
                </a:solidFill>
              </a:rPr>
              <a:t>，法</a:t>
            </a:r>
            <a:r>
              <a:rPr lang="en-US" altLang="zh-CN" sz="2400" b="1">
                <a:solidFill>
                  <a:srgbClr val="9933FF"/>
                </a:solidFill>
              </a:rPr>
              <a:t>3</a:t>
            </a:r>
            <a:r>
              <a:rPr lang="zh-CN" altLang="en-US" sz="2400" b="1">
                <a:solidFill>
                  <a:srgbClr val="003300"/>
                </a:solidFill>
              </a:rPr>
              <a:t>：求</a:t>
            </a:r>
            <a:r>
              <a:rPr lang="en-US" altLang="zh-CN" sz="2400" b="1">
                <a:solidFill>
                  <a:srgbClr val="003300"/>
                </a:solidFill>
              </a:rPr>
              <a:t>A</a:t>
            </a:r>
            <a:r>
              <a:rPr lang="zh-CN" altLang="en-US" sz="2400" b="1">
                <a:solidFill>
                  <a:srgbClr val="003300"/>
                </a:solidFill>
              </a:rPr>
              <a:t>的满秩分解</a:t>
            </a:r>
            <a:endParaRPr lang="en-US" altLang="zh-CN" sz="2400" b="1">
              <a:solidFill>
                <a:srgbClr val="9933FF"/>
              </a:solidFill>
            </a:endParaRPr>
          </a:p>
        </p:txBody>
      </p:sp>
      <p:graphicFrame>
        <p:nvGraphicFramePr>
          <p:cNvPr id="23558" name="Object 6">
            <a:extLst>
              <a:ext uri="{FF2B5EF4-FFF2-40B4-BE49-F238E27FC236}">
                <a16:creationId xmlns:a16="http://schemas.microsoft.com/office/drawing/2014/main" id="{50F6E7FB-25F3-1A7A-AC35-9CBB9C3612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86613" y="0"/>
          <a:ext cx="1706562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11900" imgH="16383000" progId="Equation.3">
                  <p:embed/>
                </p:oleObj>
              </mc:Choice>
              <mc:Fallback>
                <p:oleObj name="公式" r:id="rId4" imgW="19011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6613" y="0"/>
                        <a:ext cx="1706562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ECF5FE33-F813-4A02-14AA-F89532302F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075" y="1989138"/>
          <a:ext cx="30607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6283900" imgH="16383000" progId="Equation.3">
                  <p:embed/>
                </p:oleObj>
              </mc:Choice>
              <mc:Fallback>
                <p:oleObj name="公式" r:id="rId6" imgW="36283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1989138"/>
                        <a:ext cx="30607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2EB24610-2A8A-56AD-9B66-A46C6EE062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0725" y="1989138"/>
          <a:ext cx="2895600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518600" imgH="16383000" progId="Equation.3">
                  <p:embed/>
                </p:oleObj>
              </mc:Choice>
              <mc:Fallback>
                <p:oleObj name="公式" r:id="rId8" imgW="345186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1989138"/>
                        <a:ext cx="2895600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F3EB55BE-4CCA-3AE6-31E5-21624EAE63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7425" y="1989138"/>
          <a:ext cx="2968625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699700" imgH="16383000" progId="Equation.3">
                  <p:embed/>
                </p:oleObj>
              </mc:Choice>
              <mc:Fallback>
                <p:oleObj name="公式" r:id="rId10" imgW="356997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5" y="1989138"/>
                        <a:ext cx="2968625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90081FD-75AA-F1BF-D583-1C37855F32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644900"/>
          <a:ext cx="17843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900900" imgH="10528300" progId="Equation.3">
                  <p:embed/>
                </p:oleObj>
              </mc:Choice>
              <mc:Fallback>
                <p:oleObj name="公式" r:id="rId12" imgW="19900900" imgH="10528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644900"/>
                        <a:ext cx="17843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C8521C39-3B1B-EBCF-B354-9E3D6D41B4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3750" y="3429000"/>
          <a:ext cx="249555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800300" imgH="16383000" progId="Equation.3">
                  <p:embed/>
                </p:oleObj>
              </mc:Choice>
              <mc:Fallback>
                <p:oleObj name="公式" r:id="rId14" imgW="278003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3429000"/>
                        <a:ext cx="249555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0A0971F-FC79-185E-9135-E768441B3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3429000"/>
          <a:ext cx="18923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069300" imgH="16383000" progId="Equation.3">
                  <p:embed/>
                </p:oleObj>
              </mc:Choice>
              <mc:Fallback>
                <p:oleObj name="公式" r:id="rId16" imgW="210693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429000"/>
                        <a:ext cx="189230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00406C87-F617-1BD0-6EC5-3A9F2428B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941888"/>
          <a:ext cx="4097337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5643800" imgH="16383000" progId="Equation.3">
                  <p:embed/>
                </p:oleObj>
              </mc:Choice>
              <mc:Fallback>
                <p:oleObj name="公式" r:id="rId18" imgW="456438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941888"/>
                        <a:ext cx="4097337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514C9295-C2E7-0112-E8C7-03FB85EC93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429000"/>
          <a:ext cx="2230437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4866600" imgH="16383000" progId="Equation.3">
                  <p:embed/>
                </p:oleObj>
              </mc:Choice>
              <mc:Fallback>
                <p:oleObj name="公式" r:id="rId20" imgW="248666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429000"/>
                        <a:ext cx="2230437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8" name="Rectangle 24">
            <a:extLst>
              <a:ext uri="{FF2B5EF4-FFF2-40B4-BE49-F238E27FC236}">
                <a16:creationId xmlns:a16="http://schemas.microsoft.com/office/drawing/2014/main" id="{95A7CF7A-2455-9552-7E9B-A5A6CE7F0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5229225"/>
            <a:ext cx="3024187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00"/>
                </a:solidFill>
              </a:rPr>
              <a:t>与书上的不同！</a:t>
            </a:r>
          </a:p>
          <a:p>
            <a:pPr eaLnBrk="1" hangingPunct="1"/>
            <a:r>
              <a:rPr lang="zh-CN" altLang="en-US" sz="2800" b="1">
                <a:solidFill>
                  <a:srgbClr val="003300"/>
                </a:solidFill>
              </a:rPr>
              <a:t>少了一步计算。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D367AFE-E93E-B47F-915A-3FC09F7EDB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二、矩阵的满秩分解</a:t>
            </a:r>
          </a:p>
        </p:txBody>
      </p:sp>
      <p:sp>
        <p:nvSpPr>
          <p:cNvPr id="14339" name="Rectangle 8">
            <a:extLst>
              <a:ext uri="{FF2B5EF4-FFF2-40B4-BE49-F238E27FC236}">
                <a16:creationId xmlns:a16="http://schemas.microsoft.com/office/drawing/2014/main" id="{0CC05171-758D-CA24-E025-4858FE914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28688"/>
            <a:ext cx="84963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 满秩分解的求法：</a:t>
            </a:r>
            <a:r>
              <a:rPr lang="zh-CN" altLang="en-US" sz="2800" b="1">
                <a:solidFill>
                  <a:srgbClr val="0033CC"/>
                </a:solidFill>
              </a:rPr>
              <a:t>初等变换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>
                <a:solidFill>
                  <a:srgbClr val="E07000"/>
                </a:solidFill>
              </a:rPr>
              <a:t>例题1</a:t>
            </a:r>
            <a:r>
              <a:rPr lang="en-US" altLang="zh-CN" sz="2400" b="1">
                <a:solidFill>
                  <a:srgbClr val="E07000"/>
                </a:solidFill>
              </a:rPr>
              <a:t>-2</a:t>
            </a:r>
            <a:r>
              <a:rPr lang="zh-CN" altLang="en-US" sz="2400" b="1">
                <a:solidFill>
                  <a:srgbClr val="003300"/>
                </a:solidFill>
              </a:rPr>
              <a:t>（</a:t>
            </a:r>
            <a:r>
              <a:rPr lang="en-US" altLang="zh-CN" sz="2400">
                <a:solidFill>
                  <a:srgbClr val="003300"/>
                </a:solidFill>
              </a:rPr>
              <a:t>P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.68-69</a:t>
            </a:r>
            <a:r>
              <a:rPr lang="en-US" altLang="zh-CN" sz="2400">
                <a:solidFill>
                  <a:srgbClr val="003300"/>
                </a:solidFill>
              </a:rPr>
              <a:t>，</a:t>
            </a:r>
            <a:r>
              <a:rPr lang="zh-CN" altLang="en-US" sz="2400">
                <a:solidFill>
                  <a:srgbClr val="003300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4-5,</a:t>
            </a:r>
            <a:r>
              <a:rPr lang="zh-CN" altLang="en-US" sz="2400">
                <a:solidFill>
                  <a:srgbClr val="003300"/>
                </a:solidFill>
              </a:rPr>
              <a:t>）</a:t>
            </a:r>
            <a:r>
              <a:rPr lang="zh-CN" altLang="en-US" sz="2400" b="1">
                <a:solidFill>
                  <a:srgbClr val="9933FF"/>
                </a:solidFill>
              </a:rPr>
              <a:t>法</a:t>
            </a:r>
            <a:r>
              <a:rPr lang="en-US" altLang="zh-CN" sz="2400" b="1">
                <a:solidFill>
                  <a:srgbClr val="9933FF"/>
                </a:solidFill>
              </a:rPr>
              <a:t>2</a:t>
            </a:r>
            <a:r>
              <a:rPr lang="zh-CN" altLang="en-US" sz="2400" b="1">
                <a:solidFill>
                  <a:srgbClr val="9933FF"/>
                </a:solidFill>
              </a:rPr>
              <a:t>，法</a:t>
            </a:r>
            <a:r>
              <a:rPr lang="en-US" altLang="zh-CN" sz="2400" b="1">
                <a:solidFill>
                  <a:srgbClr val="9933FF"/>
                </a:solidFill>
              </a:rPr>
              <a:t>3</a:t>
            </a:r>
            <a:r>
              <a:rPr lang="zh-CN" altLang="en-US" sz="2400" b="1">
                <a:solidFill>
                  <a:srgbClr val="003300"/>
                </a:solidFill>
              </a:rPr>
              <a:t>：求</a:t>
            </a:r>
            <a:r>
              <a:rPr lang="en-US" altLang="zh-CN" sz="2400" b="1">
                <a:solidFill>
                  <a:srgbClr val="003300"/>
                </a:solidFill>
              </a:rPr>
              <a:t>A</a:t>
            </a:r>
            <a:r>
              <a:rPr lang="zh-CN" altLang="en-US" sz="2400" b="1">
                <a:solidFill>
                  <a:srgbClr val="003300"/>
                </a:solidFill>
              </a:rPr>
              <a:t>的满秩分解</a:t>
            </a:r>
            <a:endParaRPr lang="en-US" altLang="zh-CN" sz="2400" b="1">
              <a:solidFill>
                <a:srgbClr val="9933FF"/>
              </a:solidFill>
            </a:endParaRPr>
          </a:p>
        </p:txBody>
      </p:sp>
      <p:graphicFrame>
        <p:nvGraphicFramePr>
          <p:cNvPr id="14340" name="Object 6">
            <a:extLst>
              <a:ext uri="{FF2B5EF4-FFF2-40B4-BE49-F238E27FC236}">
                <a16:creationId xmlns:a16="http://schemas.microsoft.com/office/drawing/2014/main" id="{6CFC9907-8838-D3BA-D18F-A83EC6ECC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86613" y="0"/>
          <a:ext cx="1706562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11900" imgH="16383000" progId="Equation.3">
                  <p:embed/>
                </p:oleObj>
              </mc:Choice>
              <mc:Fallback>
                <p:oleObj name="公式" r:id="rId4" imgW="19011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6613" y="0"/>
                        <a:ext cx="1706562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6">
            <a:extLst>
              <a:ext uri="{FF2B5EF4-FFF2-40B4-BE49-F238E27FC236}">
                <a16:creationId xmlns:a16="http://schemas.microsoft.com/office/drawing/2014/main" id="{32D0446C-5407-A462-5A20-B64DADB2CE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075" y="1989138"/>
          <a:ext cx="30607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6283900" imgH="16383000" progId="Equation.3">
                  <p:embed/>
                </p:oleObj>
              </mc:Choice>
              <mc:Fallback>
                <p:oleObj name="公式" r:id="rId6" imgW="36283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1989138"/>
                        <a:ext cx="30607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>
            <a:extLst>
              <a:ext uri="{FF2B5EF4-FFF2-40B4-BE49-F238E27FC236}">
                <a16:creationId xmlns:a16="http://schemas.microsoft.com/office/drawing/2014/main" id="{AE8EAFB2-A8C2-641A-1185-C4E7089A6A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0725" y="1989138"/>
          <a:ext cx="2895600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518600" imgH="16383000" progId="Equation.3">
                  <p:embed/>
                </p:oleObj>
              </mc:Choice>
              <mc:Fallback>
                <p:oleObj name="公式" r:id="rId8" imgW="345186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1989138"/>
                        <a:ext cx="2895600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6">
            <a:extLst>
              <a:ext uri="{FF2B5EF4-FFF2-40B4-BE49-F238E27FC236}">
                <a16:creationId xmlns:a16="http://schemas.microsoft.com/office/drawing/2014/main" id="{C56B8AA7-F80A-9398-2555-87F362F0F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7425" y="1989138"/>
          <a:ext cx="2968625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699700" imgH="16383000" progId="Equation.3">
                  <p:embed/>
                </p:oleObj>
              </mc:Choice>
              <mc:Fallback>
                <p:oleObj name="公式" r:id="rId10" imgW="356997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5" y="1989138"/>
                        <a:ext cx="2968625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6">
            <a:extLst>
              <a:ext uri="{FF2B5EF4-FFF2-40B4-BE49-F238E27FC236}">
                <a16:creationId xmlns:a16="http://schemas.microsoft.com/office/drawing/2014/main" id="{A587241C-D0F8-0B0D-B459-CCEBAD24A6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644900"/>
          <a:ext cx="17843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900900" imgH="10528300" progId="Equation.3">
                  <p:embed/>
                </p:oleObj>
              </mc:Choice>
              <mc:Fallback>
                <p:oleObj name="公式" r:id="rId12" imgW="19900900" imgH="10528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644900"/>
                        <a:ext cx="17843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6">
            <a:extLst>
              <a:ext uri="{FF2B5EF4-FFF2-40B4-BE49-F238E27FC236}">
                <a16:creationId xmlns:a16="http://schemas.microsoft.com/office/drawing/2014/main" id="{AA7656F3-2EE1-1CEA-6A0D-1F58494347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3750" y="3429000"/>
          <a:ext cx="249555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800300" imgH="16383000" progId="Equation.3">
                  <p:embed/>
                </p:oleObj>
              </mc:Choice>
              <mc:Fallback>
                <p:oleObj name="公式" r:id="rId14" imgW="278003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3429000"/>
                        <a:ext cx="249555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6">
            <a:extLst>
              <a:ext uri="{FF2B5EF4-FFF2-40B4-BE49-F238E27FC236}">
                <a16:creationId xmlns:a16="http://schemas.microsoft.com/office/drawing/2014/main" id="{D0879B7D-731D-5FFD-D443-0754CF1D04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3429000"/>
          <a:ext cx="18923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069300" imgH="16383000" progId="Equation.3">
                  <p:embed/>
                </p:oleObj>
              </mc:Choice>
              <mc:Fallback>
                <p:oleObj name="公式" r:id="rId16" imgW="210693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429000"/>
                        <a:ext cx="189230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6">
            <a:extLst>
              <a:ext uri="{FF2B5EF4-FFF2-40B4-BE49-F238E27FC236}">
                <a16:creationId xmlns:a16="http://schemas.microsoft.com/office/drawing/2014/main" id="{EA3A098A-7C63-5F7A-5AB5-07C0933890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941888"/>
          <a:ext cx="4097337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5643800" imgH="16383000" progId="Equation.3">
                  <p:embed/>
                </p:oleObj>
              </mc:Choice>
              <mc:Fallback>
                <p:oleObj name="公式" r:id="rId18" imgW="456438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941888"/>
                        <a:ext cx="4097337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6">
            <a:extLst>
              <a:ext uri="{FF2B5EF4-FFF2-40B4-BE49-F238E27FC236}">
                <a16:creationId xmlns:a16="http://schemas.microsoft.com/office/drawing/2014/main" id="{99BB5806-6460-A8F6-CB5B-787CBB8EF5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429000"/>
          <a:ext cx="2230437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4866600" imgH="16383000" progId="Equation.3">
                  <p:embed/>
                </p:oleObj>
              </mc:Choice>
              <mc:Fallback>
                <p:oleObj name="公式" r:id="rId20" imgW="248666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429000"/>
                        <a:ext cx="2230437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6">
            <a:extLst>
              <a:ext uri="{FF2B5EF4-FFF2-40B4-BE49-F238E27FC236}">
                <a16:creationId xmlns:a16="http://schemas.microsoft.com/office/drawing/2014/main" id="{0908978E-198B-D857-12FB-0C427CED87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4941888"/>
          <a:ext cx="22860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5450800" imgH="16383000" progId="Equation.3">
                  <p:embed/>
                </p:oleObj>
              </mc:Choice>
              <mc:Fallback>
                <p:oleObj name="公式" r:id="rId22" imgW="254508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941888"/>
                        <a:ext cx="228600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46BABB8-7644-3E36-7AAF-DB7B586935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二、矩阵的满秩分解</a:t>
            </a:r>
          </a:p>
        </p:txBody>
      </p:sp>
      <p:sp>
        <p:nvSpPr>
          <p:cNvPr id="15363" name="Rectangle 8">
            <a:extLst>
              <a:ext uri="{FF2B5EF4-FFF2-40B4-BE49-F238E27FC236}">
                <a16:creationId xmlns:a16="http://schemas.microsoft.com/office/drawing/2014/main" id="{E51121D1-63D7-69DC-9318-687B0E5AD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28688"/>
            <a:ext cx="84963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 满秩分解的求法：</a:t>
            </a:r>
            <a:r>
              <a:rPr lang="zh-CN" altLang="en-US" sz="2800" b="1">
                <a:solidFill>
                  <a:srgbClr val="0033CC"/>
                </a:solidFill>
              </a:rPr>
              <a:t>初等变换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>
                <a:solidFill>
                  <a:srgbClr val="E07000"/>
                </a:solidFill>
              </a:rPr>
              <a:t>例题1</a:t>
            </a:r>
            <a:r>
              <a:rPr lang="en-US" altLang="zh-CN" sz="2400" b="1">
                <a:solidFill>
                  <a:srgbClr val="E07000"/>
                </a:solidFill>
              </a:rPr>
              <a:t>-2</a:t>
            </a:r>
            <a:r>
              <a:rPr lang="zh-CN" altLang="en-US" sz="2400" b="1">
                <a:solidFill>
                  <a:srgbClr val="003300"/>
                </a:solidFill>
              </a:rPr>
              <a:t>（</a:t>
            </a:r>
            <a:r>
              <a:rPr lang="en-US" altLang="zh-CN" sz="2400">
                <a:solidFill>
                  <a:srgbClr val="003300"/>
                </a:solidFill>
              </a:rPr>
              <a:t>P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.68-69</a:t>
            </a:r>
            <a:r>
              <a:rPr lang="en-US" altLang="zh-CN" sz="2400">
                <a:solidFill>
                  <a:srgbClr val="003300"/>
                </a:solidFill>
              </a:rPr>
              <a:t>，</a:t>
            </a:r>
            <a:r>
              <a:rPr lang="zh-CN" altLang="en-US" sz="2400">
                <a:solidFill>
                  <a:srgbClr val="003300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4-5,</a:t>
            </a:r>
            <a:r>
              <a:rPr lang="zh-CN" altLang="en-US" sz="2400">
                <a:solidFill>
                  <a:srgbClr val="003300"/>
                </a:solidFill>
              </a:rPr>
              <a:t>）</a:t>
            </a:r>
            <a:r>
              <a:rPr lang="zh-CN" altLang="en-US" sz="2400" b="1">
                <a:solidFill>
                  <a:srgbClr val="9933FF"/>
                </a:solidFill>
              </a:rPr>
              <a:t>法</a:t>
            </a:r>
            <a:r>
              <a:rPr lang="en-US" altLang="zh-CN" sz="2400" b="1">
                <a:solidFill>
                  <a:srgbClr val="9933FF"/>
                </a:solidFill>
              </a:rPr>
              <a:t>2</a:t>
            </a:r>
            <a:r>
              <a:rPr lang="zh-CN" altLang="en-US" sz="2400" b="1">
                <a:solidFill>
                  <a:srgbClr val="9933FF"/>
                </a:solidFill>
              </a:rPr>
              <a:t>，法</a:t>
            </a:r>
            <a:r>
              <a:rPr lang="en-US" altLang="zh-CN" sz="2400" b="1">
                <a:solidFill>
                  <a:srgbClr val="9933FF"/>
                </a:solidFill>
              </a:rPr>
              <a:t>3</a:t>
            </a:r>
            <a:r>
              <a:rPr lang="zh-CN" altLang="en-US" sz="2400" b="1">
                <a:solidFill>
                  <a:srgbClr val="003300"/>
                </a:solidFill>
              </a:rPr>
              <a:t>：求</a:t>
            </a:r>
            <a:r>
              <a:rPr lang="en-US" altLang="zh-CN" sz="2400" b="1">
                <a:solidFill>
                  <a:srgbClr val="003300"/>
                </a:solidFill>
              </a:rPr>
              <a:t>A</a:t>
            </a:r>
            <a:r>
              <a:rPr lang="zh-CN" altLang="en-US" sz="2400" b="1">
                <a:solidFill>
                  <a:srgbClr val="003300"/>
                </a:solidFill>
              </a:rPr>
              <a:t>的满秩分解</a:t>
            </a:r>
            <a:endParaRPr lang="en-US" altLang="zh-CN" sz="2400" b="1">
              <a:solidFill>
                <a:srgbClr val="9933FF"/>
              </a:solidFill>
            </a:endParaRPr>
          </a:p>
        </p:txBody>
      </p:sp>
      <p:graphicFrame>
        <p:nvGraphicFramePr>
          <p:cNvPr id="15364" name="Object 6">
            <a:extLst>
              <a:ext uri="{FF2B5EF4-FFF2-40B4-BE49-F238E27FC236}">
                <a16:creationId xmlns:a16="http://schemas.microsoft.com/office/drawing/2014/main" id="{40D7C6BA-04A4-171F-D15B-D96A6035BC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86613" y="0"/>
          <a:ext cx="1706562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11900" imgH="16383000" progId="Equation.3">
                  <p:embed/>
                </p:oleObj>
              </mc:Choice>
              <mc:Fallback>
                <p:oleObj name="公式" r:id="rId4" imgW="19011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6613" y="0"/>
                        <a:ext cx="1706562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6">
            <a:extLst>
              <a:ext uri="{FF2B5EF4-FFF2-40B4-BE49-F238E27FC236}">
                <a16:creationId xmlns:a16="http://schemas.microsoft.com/office/drawing/2014/main" id="{3C879723-05DF-B119-5F78-F27F2DD23E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075" y="1989138"/>
          <a:ext cx="30607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6283900" imgH="16383000" progId="Equation.3">
                  <p:embed/>
                </p:oleObj>
              </mc:Choice>
              <mc:Fallback>
                <p:oleObj name="公式" r:id="rId6" imgW="36283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1989138"/>
                        <a:ext cx="30607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B128D59D-2D34-9E81-E7FD-F92061A0B2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0725" y="1989138"/>
          <a:ext cx="2895600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518600" imgH="16383000" progId="Equation.3">
                  <p:embed/>
                </p:oleObj>
              </mc:Choice>
              <mc:Fallback>
                <p:oleObj name="公式" r:id="rId8" imgW="345186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1989138"/>
                        <a:ext cx="2895600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6">
            <a:extLst>
              <a:ext uri="{FF2B5EF4-FFF2-40B4-BE49-F238E27FC236}">
                <a16:creationId xmlns:a16="http://schemas.microsoft.com/office/drawing/2014/main" id="{33421566-9163-ACDA-6305-742320CE20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7425" y="1989138"/>
          <a:ext cx="2968625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699700" imgH="16383000" progId="Equation.3">
                  <p:embed/>
                </p:oleObj>
              </mc:Choice>
              <mc:Fallback>
                <p:oleObj name="公式" r:id="rId10" imgW="356997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5" y="1989138"/>
                        <a:ext cx="2968625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C649AC64-3B43-8DD9-61A1-D252A6B395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941888"/>
          <a:ext cx="4017962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4767500" imgH="16383000" progId="Equation.3">
                  <p:embed/>
                </p:oleObj>
              </mc:Choice>
              <mc:Fallback>
                <p:oleObj name="公式" r:id="rId12" imgW="447675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941888"/>
                        <a:ext cx="4017962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6">
            <a:extLst>
              <a:ext uri="{FF2B5EF4-FFF2-40B4-BE49-F238E27FC236}">
                <a16:creationId xmlns:a16="http://schemas.microsoft.com/office/drawing/2014/main" id="{8907331D-3158-CDED-F38C-0C94798C03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1288" y="3500438"/>
          <a:ext cx="1604962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011900" imgH="16383000" progId="Equation.3">
                  <p:embed/>
                </p:oleObj>
              </mc:Choice>
              <mc:Fallback>
                <p:oleObj name="公式" r:id="rId14" imgW="19011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288" y="3500438"/>
                        <a:ext cx="1604962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6">
            <a:extLst>
              <a:ext uri="{FF2B5EF4-FFF2-40B4-BE49-F238E27FC236}">
                <a16:creationId xmlns:a16="http://schemas.microsoft.com/office/drawing/2014/main" id="{2ADCFB92-5740-8502-5D23-36273B7141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500438"/>
          <a:ext cx="1619250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304000" imgH="16383000" progId="Equation.3">
                  <p:embed/>
                </p:oleObj>
              </mc:Choice>
              <mc:Fallback>
                <p:oleObj name="公式" r:id="rId16" imgW="193040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00438"/>
                        <a:ext cx="1619250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0E86051D-6B75-F5D6-02DA-7521A3C492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3500438"/>
          <a:ext cx="1471612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7551400" imgH="16383000" progId="Equation.3">
                  <p:embed/>
                </p:oleObj>
              </mc:Choice>
              <mc:Fallback>
                <p:oleObj name="公式" r:id="rId18" imgW="175514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500438"/>
                        <a:ext cx="1471612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F49027C6-A15B-C2DF-C4BE-0634C60E92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4941888"/>
          <a:ext cx="3519488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9204900" imgH="16383000" progId="Equation.3">
                  <p:embed/>
                </p:oleObj>
              </mc:Choice>
              <mc:Fallback>
                <p:oleObj name="公式" r:id="rId20" imgW="39204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941888"/>
                        <a:ext cx="3519488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Rectangle 18">
            <a:extLst>
              <a:ext uri="{FF2B5EF4-FFF2-40B4-BE49-F238E27FC236}">
                <a16:creationId xmlns:a16="http://schemas.microsoft.com/office/drawing/2014/main" id="{BE05FE33-AEBA-B821-C56D-E0F5DE4F6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3716338"/>
            <a:ext cx="8651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00"/>
                </a:solidFill>
              </a:rPr>
              <a:t>法</a:t>
            </a:r>
            <a:r>
              <a:rPr lang="en-US" altLang="zh-CN" sz="2800" b="1">
                <a:solidFill>
                  <a:srgbClr val="003300"/>
                </a:solidFill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028A9BB-67E4-3649-700C-8EF0DB8CA3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二、矩阵的满秩分解</a:t>
            </a:r>
          </a:p>
        </p:txBody>
      </p:sp>
      <p:sp>
        <p:nvSpPr>
          <p:cNvPr id="16387" name="Rectangle 8">
            <a:extLst>
              <a:ext uri="{FF2B5EF4-FFF2-40B4-BE49-F238E27FC236}">
                <a16:creationId xmlns:a16="http://schemas.microsoft.com/office/drawing/2014/main" id="{BC7CDF56-BE55-DD59-B912-823695463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28688"/>
            <a:ext cx="84963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 满秩分解的求法：</a:t>
            </a:r>
            <a:r>
              <a:rPr lang="zh-CN" altLang="en-US" sz="2800" b="1">
                <a:solidFill>
                  <a:srgbClr val="0033CC"/>
                </a:solidFill>
              </a:rPr>
              <a:t>初等变换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400" b="1">
                <a:solidFill>
                  <a:srgbClr val="E07000"/>
                </a:solidFill>
              </a:rPr>
              <a:t>例题1</a:t>
            </a:r>
            <a:r>
              <a:rPr lang="en-US" altLang="zh-CN" sz="2400" b="1">
                <a:solidFill>
                  <a:srgbClr val="E07000"/>
                </a:solidFill>
              </a:rPr>
              <a:t>-2</a:t>
            </a:r>
            <a:r>
              <a:rPr lang="zh-CN" altLang="en-US" sz="2400" b="1">
                <a:solidFill>
                  <a:srgbClr val="003300"/>
                </a:solidFill>
              </a:rPr>
              <a:t>（</a:t>
            </a:r>
            <a:r>
              <a:rPr lang="en-US" altLang="zh-CN" sz="2400">
                <a:solidFill>
                  <a:srgbClr val="003300"/>
                </a:solidFill>
              </a:rPr>
              <a:t>P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.68-69</a:t>
            </a:r>
            <a:r>
              <a:rPr lang="en-US" altLang="zh-CN" sz="2400">
                <a:solidFill>
                  <a:srgbClr val="003300"/>
                </a:solidFill>
              </a:rPr>
              <a:t>，</a:t>
            </a:r>
            <a:r>
              <a:rPr lang="zh-CN" altLang="en-US" sz="2400">
                <a:solidFill>
                  <a:srgbClr val="003300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sz="2400">
                <a:solidFill>
                  <a:srgbClr val="003300"/>
                </a:solidFill>
                <a:cs typeface="Times New Roman" panose="02020603050405020304" pitchFamily="18" charset="0"/>
              </a:rPr>
              <a:t>4-5,</a:t>
            </a:r>
            <a:r>
              <a:rPr lang="zh-CN" altLang="en-US" sz="2400">
                <a:solidFill>
                  <a:srgbClr val="003300"/>
                </a:solidFill>
              </a:rPr>
              <a:t>）</a:t>
            </a:r>
            <a:r>
              <a:rPr lang="zh-CN" altLang="en-US" sz="2400" b="1">
                <a:solidFill>
                  <a:srgbClr val="9933FF"/>
                </a:solidFill>
              </a:rPr>
              <a:t>法</a:t>
            </a:r>
            <a:r>
              <a:rPr lang="en-US" altLang="zh-CN" sz="2400" b="1">
                <a:solidFill>
                  <a:srgbClr val="9933FF"/>
                </a:solidFill>
              </a:rPr>
              <a:t>2</a:t>
            </a:r>
            <a:r>
              <a:rPr lang="zh-CN" altLang="en-US" sz="2400" b="1">
                <a:solidFill>
                  <a:srgbClr val="9933FF"/>
                </a:solidFill>
              </a:rPr>
              <a:t>，法</a:t>
            </a:r>
            <a:r>
              <a:rPr lang="en-US" altLang="zh-CN" sz="2400" b="1">
                <a:solidFill>
                  <a:srgbClr val="9933FF"/>
                </a:solidFill>
              </a:rPr>
              <a:t>3</a:t>
            </a:r>
            <a:r>
              <a:rPr lang="zh-CN" altLang="en-US" sz="2400" b="1">
                <a:solidFill>
                  <a:srgbClr val="003300"/>
                </a:solidFill>
              </a:rPr>
              <a:t>：求</a:t>
            </a:r>
            <a:r>
              <a:rPr lang="en-US" altLang="zh-CN" sz="2400" b="1">
                <a:solidFill>
                  <a:srgbClr val="003300"/>
                </a:solidFill>
              </a:rPr>
              <a:t>A</a:t>
            </a:r>
            <a:r>
              <a:rPr lang="zh-CN" altLang="en-US" sz="2400" b="1">
                <a:solidFill>
                  <a:srgbClr val="003300"/>
                </a:solidFill>
              </a:rPr>
              <a:t>的满秩分解</a:t>
            </a:r>
            <a:endParaRPr lang="en-US" altLang="zh-CN" sz="2400" b="1">
              <a:solidFill>
                <a:srgbClr val="9933FF"/>
              </a:solidFill>
            </a:endParaRPr>
          </a:p>
        </p:txBody>
      </p:sp>
      <p:graphicFrame>
        <p:nvGraphicFramePr>
          <p:cNvPr id="16388" name="Object 6">
            <a:extLst>
              <a:ext uri="{FF2B5EF4-FFF2-40B4-BE49-F238E27FC236}">
                <a16:creationId xmlns:a16="http://schemas.microsoft.com/office/drawing/2014/main" id="{6FCE902A-868D-CE0D-BFA2-E8037F68EE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86613" y="0"/>
          <a:ext cx="1706562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11900" imgH="16383000" progId="Equation.3">
                  <p:embed/>
                </p:oleObj>
              </mc:Choice>
              <mc:Fallback>
                <p:oleObj name="公式" r:id="rId4" imgW="19011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6613" y="0"/>
                        <a:ext cx="1706562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6">
            <a:extLst>
              <a:ext uri="{FF2B5EF4-FFF2-40B4-BE49-F238E27FC236}">
                <a16:creationId xmlns:a16="http://schemas.microsoft.com/office/drawing/2014/main" id="{B2999BC4-3364-7339-7643-F9D4C8D196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075" y="1989138"/>
          <a:ext cx="30607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6283900" imgH="16383000" progId="Equation.3">
                  <p:embed/>
                </p:oleObj>
              </mc:Choice>
              <mc:Fallback>
                <p:oleObj name="公式" r:id="rId6" imgW="36283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1989138"/>
                        <a:ext cx="30607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>
            <a:extLst>
              <a:ext uri="{FF2B5EF4-FFF2-40B4-BE49-F238E27FC236}">
                <a16:creationId xmlns:a16="http://schemas.microsoft.com/office/drawing/2014/main" id="{382AF66E-2AF6-C719-E2B5-2220C5A10E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0725" y="1989138"/>
          <a:ext cx="2895600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518600" imgH="16383000" progId="Equation.3">
                  <p:embed/>
                </p:oleObj>
              </mc:Choice>
              <mc:Fallback>
                <p:oleObj name="公式" r:id="rId8" imgW="345186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1989138"/>
                        <a:ext cx="2895600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6">
            <a:extLst>
              <a:ext uri="{FF2B5EF4-FFF2-40B4-BE49-F238E27FC236}">
                <a16:creationId xmlns:a16="http://schemas.microsoft.com/office/drawing/2014/main" id="{52760426-BF0B-9898-5B57-7B489F24BF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7425" y="1989138"/>
          <a:ext cx="2968625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699700" imgH="16383000" progId="Equation.3">
                  <p:embed/>
                </p:oleObj>
              </mc:Choice>
              <mc:Fallback>
                <p:oleObj name="公式" r:id="rId10" imgW="356997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5" y="1989138"/>
                        <a:ext cx="2968625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12250C9F-3203-0456-3A61-52C4C2C5C8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9650" y="4941888"/>
          <a:ext cx="365125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0665400" imgH="16383000" progId="Equation.3">
                  <p:embed/>
                </p:oleObj>
              </mc:Choice>
              <mc:Fallback>
                <p:oleObj name="公式" r:id="rId12" imgW="406654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4941888"/>
                        <a:ext cx="365125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6">
            <a:extLst>
              <a:ext uri="{FF2B5EF4-FFF2-40B4-BE49-F238E27FC236}">
                <a16:creationId xmlns:a16="http://schemas.microsoft.com/office/drawing/2014/main" id="{93869956-3CC3-9F57-6EE8-90F8FBCA5D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1288" y="3500438"/>
          <a:ext cx="1604962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011900" imgH="16383000" progId="Equation.3">
                  <p:embed/>
                </p:oleObj>
              </mc:Choice>
              <mc:Fallback>
                <p:oleObj name="公式" r:id="rId14" imgW="190119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288" y="3500438"/>
                        <a:ext cx="1604962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6">
            <a:extLst>
              <a:ext uri="{FF2B5EF4-FFF2-40B4-BE49-F238E27FC236}">
                <a16:creationId xmlns:a16="http://schemas.microsoft.com/office/drawing/2014/main" id="{97E52C14-A067-6563-C60B-0E5BD5398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500438"/>
          <a:ext cx="1619250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304000" imgH="16383000" progId="Equation.3">
                  <p:embed/>
                </p:oleObj>
              </mc:Choice>
              <mc:Fallback>
                <p:oleObj name="公式" r:id="rId16" imgW="193040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00438"/>
                        <a:ext cx="1619250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6">
            <a:extLst>
              <a:ext uri="{FF2B5EF4-FFF2-40B4-BE49-F238E27FC236}">
                <a16:creationId xmlns:a16="http://schemas.microsoft.com/office/drawing/2014/main" id="{E9FF6A8A-8D8A-0B9A-83B1-9FAF4C9A6A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3500438"/>
          <a:ext cx="1617662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304000" imgH="16383000" progId="Equation.3">
                  <p:embed/>
                </p:oleObj>
              </mc:Choice>
              <mc:Fallback>
                <p:oleObj name="公式" r:id="rId18" imgW="193040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500438"/>
                        <a:ext cx="1617662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DF1A0F4B-2DA3-CA72-2D05-D43EB30514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7588" y="4941888"/>
          <a:ext cx="3730625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1541700" imgH="16383000" progId="Equation.3">
                  <p:embed/>
                </p:oleObj>
              </mc:Choice>
              <mc:Fallback>
                <p:oleObj name="公式" r:id="rId20" imgW="415417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4941888"/>
                        <a:ext cx="3730625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Rectangle 13">
            <a:extLst>
              <a:ext uri="{FF2B5EF4-FFF2-40B4-BE49-F238E27FC236}">
                <a16:creationId xmlns:a16="http://schemas.microsoft.com/office/drawing/2014/main" id="{F226F147-E2FF-381C-AA14-B145B8FA4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3716338"/>
            <a:ext cx="8651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00"/>
                </a:solidFill>
              </a:rPr>
              <a:t>法</a:t>
            </a:r>
            <a:r>
              <a:rPr lang="en-US" altLang="zh-CN" sz="2800" b="1">
                <a:solidFill>
                  <a:srgbClr val="003300"/>
                </a:solidFill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1797B88-9C91-336B-4E13-52713185F0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15888"/>
            <a:ext cx="5538788" cy="730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§3.2  </a:t>
            </a: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Schur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分解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E49AC78-4EE3-3BCA-9155-3BAAE2825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836613"/>
            <a:ext cx="7997825" cy="27908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3600" b="1">
                <a:solidFill>
                  <a:srgbClr val="E07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1、 </a:t>
            </a:r>
            <a:r>
              <a:rPr lang="zh-CN" altLang="en-US" b="1">
                <a:solidFill>
                  <a:srgbClr val="E07000"/>
                </a:solidFill>
              </a:rPr>
              <a:t>可逆矩阵的</a:t>
            </a:r>
            <a:r>
              <a:rPr lang="en-US" altLang="zh-CN" b="1">
                <a:solidFill>
                  <a:srgbClr val="E07000"/>
                </a:solidFill>
              </a:rPr>
              <a:t>UR</a:t>
            </a:r>
            <a:r>
              <a:rPr lang="zh-CN" altLang="en-US" b="1">
                <a:solidFill>
                  <a:srgbClr val="E07000"/>
                </a:solidFill>
              </a:rPr>
              <a:t>分解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CN" altLang="en-US" b="1">
                <a:solidFill>
                  <a:srgbClr val="003300"/>
                </a:solidFill>
              </a:rPr>
              <a:t>  </a:t>
            </a:r>
            <a:r>
              <a:rPr lang="zh-CN" altLang="en-US" sz="2800" b="1">
                <a:solidFill>
                  <a:srgbClr val="C86400"/>
                </a:solidFill>
              </a:rPr>
              <a:t>定理3</a:t>
            </a:r>
            <a:r>
              <a:rPr lang="zh-CN" altLang="en-US" sz="2800">
                <a:solidFill>
                  <a:srgbClr val="C86400"/>
                </a:solidFill>
                <a:cs typeface="Times New Roman" panose="02020603050405020304" pitchFamily="18" charset="0"/>
              </a:rPr>
              <a:t>.</a:t>
            </a:r>
            <a:r>
              <a:rPr lang="zh-CN" altLang="en-US" sz="2800" b="1">
                <a:solidFill>
                  <a:srgbClr val="C86400"/>
                </a:solidFill>
                <a:cs typeface="Times New Roman" panose="02020603050405020304" pitchFamily="18" charset="0"/>
              </a:rPr>
              <a:t>7</a:t>
            </a:r>
            <a:r>
              <a:rPr lang="zh-CN" altLang="en-US" sz="2800" b="1">
                <a:solidFill>
                  <a:srgbClr val="C86400"/>
                </a:solidFill>
              </a:rPr>
              <a:t>（</a:t>
            </a:r>
            <a:r>
              <a:rPr lang="en-US" altLang="zh-CN" sz="2800" b="1">
                <a:solidFill>
                  <a:srgbClr val="C86400"/>
                </a:solidFill>
              </a:rPr>
              <a:t>P</a:t>
            </a:r>
            <a:r>
              <a:rPr lang="en-US" altLang="zh-CN" sz="2800" b="1">
                <a:solidFill>
                  <a:srgbClr val="C86400"/>
                </a:solidFill>
                <a:cs typeface="Times New Roman" panose="02020603050405020304" pitchFamily="18" charset="0"/>
              </a:rPr>
              <a:t>.74</a:t>
            </a:r>
            <a:r>
              <a:rPr lang="en-US" altLang="zh-CN" sz="2800" b="1">
                <a:solidFill>
                  <a:srgbClr val="C86400"/>
                </a:solidFill>
              </a:rPr>
              <a:t>）</a:t>
            </a:r>
            <a:r>
              <a:rPr lang="en-US" altLang="zh-CN" sz="2800" b="1">
                <a:solidFill>
                  <a:srgbClr val="003300"/>
                </a:solidFill>
              </a:rPr>
              <a:t>A</a:t>
            </a:r>
            <a:r>
              <a:rPr lang="en-US" altLang="zh-CN" sz="2800" b="1">
                <a:solidFill>
                  <a:srgbClr val="003300"/>
                </a:solidFill>
                <a:sym typeface="Symbol" pitchFamily="2" charset="2"/>
              </a:rPr>
              <a:t></a:t>
            </a:r>
            <a:r>
              <a:rPr lang="en-US" altLang="zh-CN" sz="2800" b="1">
                <a:solidFill>
                  <a:srgbClr val="003300"/>
                </a:solidFill>
              </a:rPr>
              <a:t>C</a:t>
            </a:r>
            <a:r>
              <a:rPr lang="en-US" altLang="zh-CN" sz="2800" b="1" baseline="30000">
                <a:solidFill>
                  <a:srgbClr val="003300"/>
                </a:solidFill>
              </a:rPr>
              <a:t>n</a:t>
            </a:r>
            <a:r>
              <a:rPr lang="en-US" altLang="zh-CN" sz="2800" b="1" baseline="30000">
                <a:solidFill>
                  <a:srgbClr val="003300"/>
                </a:solidFill>
                <a:sym typeface="Symbol" pitchFamily="2" charset="2"/>
              </a:rPr>
              <a:t></a:t>
            </a:r>
            <a:r>
              <a:rPr lang="en-US" altLang="zh-CN" sz="2800" b="1" baseline="30000">
                <a:solidFill>
                  <a:srgbClr val="003300"/>
                </a:solidFill>
              </a:rPr>
              <a:t>n</a:t>
            </a:r>
            <a:r>
              <a:rPr lang="zh-CN" altLang="en-US" sz="2800" b="1">
                <a:solidFill>
                  <a:srgbClr val="003300"/>
                </a:solidFill>
              </a:rPr>
              <a:t>为可逆矩阵，则存在酉矩阵</a:t>
            </a:r>
            <a:r>
              <a:rPr lang="en-US" altLang="zh-CN" sz="2800" b="1">
                <a:solidFill>
                  <a:srgbClr val="003300"/>
                </a:solidFill>
              </a:rPr>
              <a:t>U</a:t>
            </a:r>
            <a:r>
              <a:rPr lang="zh-CN" altLang="en-US" sz="2800" b="1">
                <a:solidFill>
                  <a:srgbClr val="003300"/>
                </a:solidFill>
              </a:rPr>
              <a:t>和主对角线上元素皆正的上三角矩阵</a:t>
            </a:r>
            <a:r>
              <a:rPr lang="en-US" altLang="zh-CN" sz="2800" b="1">
                <a:solidFill>
                  <a:srgbClr val="003300"/>
                </a:solidFill>
              </a:rPr>
              <a:t>R，</a:t>
            </a:r>
            <a:r>
              <a:rPr lang="zh-CN" altLang="en-US" sz="2800" b="1">
                <a:solidFill>
                  <a:srgbClr val="003300"/>
                </a:solidFill>
              </a:rPr>
              <a:t>使得</a:t>
            </a:r>
            <a:r>
              <a:rPr lang="en-US" altLang="zh-CN" sz="2800" b="1">
                <a:solidFill>
                  <a:srgbClr val="003300"/>
                </a:solidFill>
              </a:rPr>
              <a:t>A=UR。（ </a:t>
            </a:r>
            <a:r>
              <a:rPr lang="zh-CN" altLang="en-US" sz="2800" b="1">
                <a:solidFill>
                  <a:srgbClr val="006600"/>
                </a:solidFill>
              </a:rPr>
              <a:t>称</a:t>
            </a:r>
            <a:r>
              <a:rPr lang="en-US" altLang="zh-CN" sz="2800" b="1">
                <a:solidFill>
                  <a:srgbClr val="006600"/>
                </a:solidFill>
              </a:rPr>
              <a:t>A=UR</a:t>
            </a:r>
            <a:r>
              <a:rPr lang="zh-CN" altLang="en-US" sz="2800" b="1">
                <a:solidFill>
                  <a:srgbClr val="006600"/>
                </a:solidFill>
              </a:rPr>
              <a:t>为矩阵</a:t>
            </a:r>
            <a:r>
              <a:rPr lang="en-US" altLang="zh-CN" sz="2800" b="1">
                <a:solidFill>
                  <a:srgbClr val="006600"/>
                </a:solidFill>
              </a:rPr>
              <a:t>A</a:t>
            </a:r>
            <a:r>
              <a:rPr lang="zh-CN" altLang="en-US" sz="2800" b="1">
                <a:solidFill>
                  <a:srgbClr val="006600"/>
                </a:solidFill>
              </a:rPr>
              <a:t>的酉分解</a:t>
            </a:r>
            <a:r>
              <a:rPr lang="zh-CN" altLang="en-US" sz="2800" b="1">
                <a:solidFill>
                  <a:srgbClr val="003300"/>
                </a:solidFill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C86400"/>
                </a:solidFill>
              </a:rPr>
              <a:t>证明</a:t>
            </a:r>
            <a:r>
              <a:rPr lang="zh-CN" altLang="en-US" sz="2800" b="1">
                <a:solidFill>
                  <a:srgbClr val="003300"/>
                </a:solidFill>
              </a:rPr>
              <a:t>：</a:t>
            </a:r>
            <a:r>
              <a:rPr lang="zh-CN" altLang="en-US" sz="2800" b="1">
                <a:solidFill>
                  <a:srgbClr val="9933FF"/>
                </a:solidFill>
              </a:rPr>
              <a:t>源于</a:t>
            </a:r>
            <a:r>
              <a:rPr lang="en-US" altLang="zh-CN" sz="2800" b="1">
                <a:solidFill>
                  <a:srgbClr val="9933FF"/>
                </a:solidFill>
              </a:rPr>
              <a:t>Schmidt</a:t>
            </a:r>
            <a:r>
              <a:rPr lang="zh-CN" altLang="en-US" sz="2800" b="1">
                <a:solidFill>
                  <a:srgbClr val="9933FF"/>
                </a:solidFill>
              </a:rPr>
              <a:t>正交化方法</a:t>
            </a:r>
            <a:r>
              <a:rPr lang="zh-CN" altLang="en-US" sz="2800" b="1">
                <a:solidFill>
                  <a:srgbClr val="C86400"/>
                </a:solidFill>
              </a:rPr>
              <a:t>（</a:t>
            </a:r>
            <a:r>
              <a:rPr lang="en-US" altLang="zh-CN" sz="2800" b="1">
                <a:solidFill>
                  <a:srgbClr val="C86400"/>
                </a:solidFill>
              </a:rPr>
              <a:t>P</a:t>
            </a:r>
            <a:r>
              <a:rPr lang="en-US" altLang="zh-CN" sz="2800" b="1">
                <a:solidFill>
                  <a:srgbClr val="C86400"/>
                </a:solidFill>
                <a:cs typeface="Times New Roman" panose="02020603050405020304" pitchFamily="18" charset="0"/>
              </a:rPr>
              <a:t>.18</a:t>
            </a:r>
            <a:r>
              <a:rPr lang="en-US" altLang="zh-CN" sz="2800" b="1">
                <a:solidFill>
                  <a:srgbClr val="C86400"/>
                </a:solidFill>
              </a:rPr>
              <a:t>）</a:t>
            </a:r>
            <a:endParaRPr lang="zh-CN" altLang="en-US" b="1">
              <a:solidFill>
                <a:srgbClr val="003300"/>
              </a:solidFill>
            </a:endParaRP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08A3FD8A-FD11-45AD-2099-BBA68EDD6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05263"/>
            <a:ext cx="82184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C86400"/>
                </a:solidFill>
              </a:rPr>
              <a:t>定理3</a:t>
            </a:r>
            <a:r>
              <a:rPr lang="zh-CN" altLang="en-US" sz="2800">
                <a:solidFill>
                  <a:srgbClr val="C86400"/>
                </a:solidFill>
                <a:cs typeface="Times New Roman" panose="02020603050405020304" pitchFamily="18" charset="0"/>
              </a:rPr>
              <a:t>.</a:t>
            </a:r>
            <a:r>
              <a:rPr lang="zh-CN" altLang="en-US" sz="2800" b="1">
                <a:solidFill>
                  <a:srgbClr val="C86400"/>
                </a:solidFill>
                <a:cs typeface="Times New Roman" panose="02020603050405020304" pitchFamily="18" charset="0"/>
              </a:rPr>
              <a:t>8</a:t>
            </a:r>
            <a:r>
              <a:rPr lang="zh-CN" altLang="en-US" sz="2800" b="1">
                <a:solidFill>
                  <a:srgbClr val="C86400"/>
                </a:solidFill>
              </a:rPr>
              <a:t>（</a:t>
            </a:r>
            <a:r>
              <a:rPr lang="en-US" altLang="zh-CN" sz="2800" b="1">
                <a:solidFill>
                  <a:srgbClr val="C86400"/>
                </a:solidFill>
              </a:rPr>
              <a:t>P</a:t>
            </a:r>
            <a:r>
              <a:rPr lang="en-US" altLang="zh-CN" sz="2800" b="1">
                <a:solidFill>
                  <a:srgbClr val="C86400"/>
                </a:solidFill>
                <a:cs typeface="Times New Roman" panose="02020603050405020304" pitchFamily="18" charset="0"/>
              </a:rPr>
              <a:t>.76</a:t>
            </a:r>
            <a:r>
              <a:rPr lang="en-US" altLang="zh-CN" sz="2800" b="1">
                <a:solidFill>
                  <a:srgbClr val="C86400"/>
                </a:solidFill>
              </a:rPr>
              <a:t>）</a:t>
            </a:r>
            <a:r>
              <a:rPr lang="zh-CN" altLang="en-US" sz="2800" b="1">
                <a:solidFill>
                  <a:srgbClr val="006600"/>
                </a:solidFill>
              </a:rPr>
              <a:t>：</a:t>
            </a:r>
            <a:r>
              <a:rPr lang="zh-CN" altLang="en-US" sz="2800" b="1">
                <a:solidFill>
                  <a:srgbClr val="003300"/>
                </a:solidFill>
              </a:rPr>
              <a:t>设矩阵</a:t>
            </a:r>
            <a:r>
              <a:rPr lang="en-US" altLang="zh-CN" sz="2800" b="1">
                <a:solidFill>
                  <a:srgbClr val="003300"/>
                </a:solidFill>
              </a:rPr>
              <a:t>A</a:t>
            </a:r>
            <a:r>
              <a:rPr lang="en-US" altLang="zh-CN" sz="2800" b="1">
                <a:solidFill>
                  <a:srgbClr val="003300"/>
                </a:solidFill>
                <a:sym typeface="Symbol" pitchFamily="2" charset="2"/>
              </a:rPr>
              <a:t></a:t>
            </a:r>
            <a:r>
              <a:rPr lang="en-US" altLang="zh-CN" sz="2800" b="1">
                <a:solidFill>
                  <a:srgbClr val="003300"/>
                </a:solidFill>
              </a:rPr>
              <a:t>C</a:t>
            </a:r>
            <a:r>
              <a:rPr lang="en-US" altLang="zh-CN" sz="2800" b="1" baseline="30000">
                <a:solidFill>
                  <a:srgbClr val="003300"/>
                </a:solidFill>
              </a:rPr>
              <a:t>n</a:t>
            </a:r>
            <a:r>
              <a:rPr lang="en-US" altLang="zh-CN" sz="2800" b="1" baseline="30000">
                <a:solidFill>
                  <a:srgbClr val="003300"/>
                </a:solidFill>
                <a:sym typeface="Symbol" pitchFamily="2" charset="2"/>
              </a:rPr>
              <a:t>r</a:t>
            </a:r>
            <a:r>
              <a:rPr lang="zh-CN" altLang="en-US" sz="2800" b="1">
                <a:solidFill>
                  <a:srgbClr val="003300"/>
                </a:solidFill>
              </a:rPr>
              <a:t>是列满秩的矩阵，则矩阵</a:t>
            </a:r>
            <a:r>
              <a:rPr lang="en-US" altLang="zh-CN" sz="2800" b="1">
                <a:solidFill>
                  <a:srgbClr val="003300"/>
                </a:solidFill>
              </a:rPr>
              <a:t>A</a:t>
            </a:r>
            <a:r>
              <a:rPr lang="zh-CN" altLang="en-US" sz="2800" b="1">
                <a:solidFill>
                  <a:srgbClr val="003300"/>
                </a:solidFill>
              </a:rPr>
              <a:t>可以分解为</a:t>
            </a:r>
            <a:r>
              <a:rPr lang="en-US" altLang="zh-CN" sz="2800" b="1">
                <a:solidFill>
                  <a:srgbClr val="003300"/>
                </a:solidFill>
              </a:rPr>
              <a:t>A=QR，</a:t>
            </a:r>
            <a:r>
              <a:rPr lang="zh-CN" altLang="en-US" sz="2800" b="1">
                <a:solidFill>
                  <a:srgbClr val="003300"/>
                </a:solidFill>
              </a:rPr>
              <a:t>其中</a:t>
            </a:r>
            <a:r>
              <a:rPr lang="en-US" altLang="zh-CN" sz="2800" b="1">
                <a:solidFill>
                  <a:srgbClr val="003300"/>
                </a:solidFill>
              </a:rPr>
              <a:t>Q </a:t>
            </a:r>
            <a:r>
              <a:rPr lang="en-US" altLang="zh-CN" sz="2800" b="1">
                <a:solidFill>
                  <a:srgbClr val="003300"/>
                </a:solidFill>
                <a:sym typeface="Symbol" pitchFamily="2" charset="2"/>
              </a:rPr>
              <a:t></a:t>
            </a:r>
            <a:r>
              <a:rPr lang="en-US" altLang="zh-CN" sz="2800" b="1">
                <a:solidFill>
                  <a:srgbClr val="003300"/>
                </a:solidFill>
              </a:rPr>
              <a:t>C</a:t>
            </a:r>
            <a:r>
              <a:rPr lang="en-US" altLang="zh-CN" sz="2800" b="1" baseline="30000">
                <a:solidFill>
                  <a:srgbClr val="003300"/>
                </a:solidFill>
              </a:rPr>
              <a:t>n</a:t>
            </a:r>
            <a:r>
              <a:rPr lang="en-US" altLang="zh-CN" sz="2800" b="1" baseline="30000">
                <a:solidFill>
                  <a:srgbClr val="003300"/>
                </a:solidFill>
                <a:sym typeface="Symbol" pitchFamily="2" charset="2"/>
              </a:rPr>
              <a:t>r</a:t>
            </a:r>
            <a:r>
              <a:rPr lang="zh-CN" altLang="en-US" sz="2800" b="1">
                <a:solidFill>
                  <a:srgbClr val="003300"/>
                </a:solidFill>
              </a:rPr>
              <a:t>的列向量是标准正交的向量组，</a:t>
            </a:r>
            <a:r>
              <a:rPr lang="en-US" altLang="zh-CN" sz="2800" b="1">
                <a:solidFill>
                  <a:srgbClr val="003300"/>
                </a:solidFill>
              </a:rPr>
              <a:t>R </a:t>
            </a:r>
            <a:r>
              <a:rPr lang="en-US" altLang="zh-CN" sz="2800" b="1">
                <a:solidFill>
                  <a:srgbClr val="003300"/>
                </a:solidFill>
                <a:sym typeface="Symbol" pitchFamily="2" charset="2"/>
              </a:rPr>
              <a:t></a:t>
            </a:r>
            <a:r>
              <a:rPr lang="en-US" altLang="zh-CN" sz="2800" b="1">
                <a:solidFill>
                  <a:srgbClr val="003300"/>
                </a:solidFill>
              </a:rPr>
              <a:t>C</a:t>
            </a:r>
            <a:r>
              <a:rPr lang="en-US" altLang="zh-CN" sz="2800" b="1" baseline="30000">
                <a:solidFill>
                  <a:srgbClr val="003300"/>
                </a:solidFill>
              </a:rPr>
              <a:t>r</a:t>
            </a:r>
            <a:r>
              <a:rPr lang="en-US" altLang="zh-CN" sz="2800" b="1" baseline="30000">
                <a:solidFill>
                  <a:srgbClr val="003300"/>
                </a:solidFill>
                <a:sym typeface="Symbol" pitchFamily="2" charset="2"/>
              </a:rPr>
              <a:t>r</a:t>
            </a:r>
            <a:r>
              <a:rPr lang="zh-CN" altLang="en-US" sz="2800" b="1">
                <a:solidFill>
                  <a:srgbClr val="003300"/>
                </a:solidFill>
              </a:rPr>
              <a:t>是主对角线上元素为正数的上三角形矩阵。</a:t>
            </a:r>
          </a:p>
        </p:txBody>
      </p:sp>
      <p:sp>
        <p:nvSpPr>
          <p:cNvPr id="30728" name="Text Box 8">
            <a:extLst>
              <a:ext uri="{FF2B5EF4-FFF2-40B4-BE49-F238E27FC236}">
                <a16:creationId xmlns:a16="http://schemas.microsoft.com/office/drawing/2014/main" id="{E5475492-D268-A853-644B-53A7960D2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429000"/>
            <a:ext cx="7272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s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FontTx/>
              <a:buNone/>
            </a:pPr>
            <a:r>
              <a:rPr lang="zh-CN" altLang="en-US" sz="2800" b="1">
                <a:solidFill>
                  <a:srgbClr val="E07000"/>
                </a:solidFill>
              </a:rPr>
              <a:t>列满秩矩阵的</a:t>
            </a:r>
            <a:r>
              <a:rPr lang="en-US" altLang="zh-CN" sz="2800" b="1">
                <a:solidFill>
                  <a:srgbClr val="E07000"/>
                </a:solidFill>
              </a:rPr>
              <a:t>QR</a:t>
            </a:r>
            <a:r>
              <a:rPr lang="zh-CN" altLang="en-US" sz="2800" b="1">
                <a:solidFill>
                  <a:srgbClr val="E07000"/>
                </a:solidFill>
              </a:rPr>
              <a:t>分解</a:t>
            </a:r>
            <a:r>
              <a:rPr lang="en-US" altLang="zh-CN" sz="2800" b="1">
                <a:solidFill>
                  <a:srgbClr val="E07000"/>
                </a:solidFill>
              </a:rPr>
              <a:t>(Th3.8(</a:t>
            </a:r>
            <a:r>
              <a:rPr lang="en-US" altLang="zh-CN" sz="2800" b="1" i="1">
                <a:solidFill>
                  <a:srgbClr val="0033CC"/>
                </a:solidFill>
              </a:rPr>
              <a:t>r</a:t>
            </a:r>
            <a:r>
              <a:rPr lang="en-US" altLang="zh-CN" sz="2800" b="1">
                <a:solidFill>
                  <a:srgbClr val="0033CC"/>
                </a:solidFill>
              </a:rPr>
              <a:t>=</a:t>
            </a:r>
            <a:r>
              <a:rPr lang="en-US" altLang="zh-CN" sz="2800" b="1" i="1">
                <a:solidFill>
                  <a:srgbClr val="0033CC"/>
                </a:solidFill>
              </a:rPr>
              <a:t>n</a:t>
            </a:r>
            <a:r>
              <a:rPr lang="en-US" altLang="zh-CN" sz="2800" b="1">
                <a:solidFill>
                  <a:srgbClr val="E07000"/>
                </a:solidFill>
              </a:rPr>
              <a:t>) </a:t>
            </a:r>
            <a:r>
              <a:rPr lang="en-US" altLang="zh-CN" sz="2800" b="1">
                <a:solidFill>
                  <a:srgbClr val="E07000"/>
                </a:solidFill>
                <a:sym typeface="Wingdings" pitchFamily="2" charset="2"/>
              </a:rPr>
              <a:t> Th3.7)</a:t>
            </a:r>
            <a:endParaRPr lang="zh-CN" altLang="en-US" sz="2800" b="1">
              <a:solidFill>
                <a:srgbClr val="E07000"/>
              </a:solidFill>
            </a:endParaRPr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FDE9B9E0-A371-9EC2-1A70-E93487F66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876925"/>
            <a:ext cx="590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CC"/>
                </a:solidFill>
              </a:rPr>
              <a:t>例题1</a:t>
            </a:r>
            <a:r>
              <a:rPr lang="zh-CN" altLang="en-US" sz="2800" b="1">
                <a:solidFill>
                  <a:srgbClr val="003300"/>
                </a:solidFill>
              </a:rPr>
              <a:t>（例</a:t>
            </a:r>
            <a:r>
              <a:rPr lang="en-US" altLang="zh-CN" sz="2800" b="1">
                <a:solidFill>
                  <a:srgbClr val="003300"/>
                </a:solidFill>
              </a:rPr>
              <a:t>7</a:t>
            </a:r>
            <a:r>
              <a:rPr lang="zh-CN" altLang="en-US" sz="2800" b="1">
                <a:solidFill>
                  <a:srgbClr val="003300"/>
                </a:solidFill>
              </a:rPr>
              <a:t>）求矩阵</a:t>
            </a:r>
            <a:r>
              <a:rPr lang="en-US" altLang="zh-CN" sz="2800" b="1">
                <a:solidFill>
                  <a:srgbClr val="003300"/>
                </a:solidFill>
              </a:rPr>
              <a:t>A</a:t>
            </a:r>
            <a:r>
              <a:rPr lang="zh-CN" altLang="en-US" sz="2800" b="1">
                <a:solidFill>
                  <a:srgbClr val="003300"/>
                </a:solidFill>
              </a:rPr>
              <a:t>的</a:t>
            </a:r>
            <a:r>
              <a:rPr lang="en-US" altLang="zh-CN" sz="2800" b="1">
                <a:solidFill>
                  <a:srgbClr val="003300"/>
                </a:solidFill>
              </a:rPr>
              <a:t>UR</a:t>
            </a:r>
            <a:r>
              <a:rPr lang="zh-CN" altLang="en-US" sz="2800" b="1">
                <a:solidFill>
                  <a:srgbClr val="003300"/>
                </a:solidFill>
              </a:rPr>
              <a:t>分解。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  <p:bldP spid="30726" grpId="0" autoUpdateAnimBg="0"/>
      <p:bldP spid="30728" grpId="0" autoUpdateAnimBg="0"/>
      <p:bldP spid="51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2A8F2C61-410F-65B1-8616-94DA9B7BBE8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836613"/>
            <a:ext cx="8588375" cy="48974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3600" b="1" dirty="0">
                <a:solidFill>
                  <a:srgbClr val="E07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zh-CN" altLang="en-US" b="1" dirty="0">
                <a:solidFill>
                  <a:srgbClr val="E07000"/>
                </a:solidFill>
              </a:rPr>
              <a:t>列满秩矩阵的</a:t>
            </a:r>
            <a:r>
              <a:rPr lang="en-US" altLang="zh-CN" b="1" dirty="0">
                <a:solidFill>
                  <a:srgbClr val="E07000"/>
                </a:solidFill>
              </a:rPr>
              <a:t>QR</a:t>
            </a:r>
            <a:r>
              <a:rPr lang="zh-CN" altLang="en-US" b="1" dirty="0">
                <a:solidFill>
                  <a:srgbClr val="E07000"/>
                </a:solidFill>
              </a:rPr>
              <a:t>分解的推导</a:t>
            </a:r>
            <a:endParaRPr lang="en-US" altLang="zh-CN" b="1" dirty="0">
              <a:solidFill>
                <a:srgbClr val="E07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b="1" dirty="0">
                <a:solidFill>
                  <a:srgbClr val="9933FF"/>
                </a:solidFill>
              </a:rPr>
              <a:t>       </a:t>
            </a:r>
            <a:r>
              <a:rPr lang="zh-CN" altLang="en-US" b="1" dirty="0">
                <a:solidFill>
                  <a:srgbClr val="003300"/>
                </a:solidFill>
                <a:sym typeface="Symbol" pitchFamily="2" charset="2"/>
              </a:rPr>
              <a:t>设</a:t>
            </a:r>
            <a:r>
              <a:rPr lang="en-US" altLang="zh-CN" b="1" dirty="0">
                <a:solidFill>
                  <a:srgbClr val="003300"/>
                </a:solidFill>
                <a:sym typeface="Symbol" pitchFamily="2" charset="2"/>
              </a:rPr>
              <a:t>A = ( </a:t>
            </a:r>
            <a:r>
              <a:rPr lang="zh-CN" altLang="en-US" b="1" dirty="0">
                <a:solidFill>
                  <a:srgbClr val="003300"/>
                </a:solidFill>
                <a:sym typeface="Symbol" pitchFamily="2" charset="2"/>
              </a:rPr>
              <a:t></a:t>
            </a:r>
            <a:r>
              <a:rPr lang="en-US" altLang="zh-CN" b="1" baseline="-30000" dirty="0">
                <a:solidFill>
                  <a:srgbClr val="003300"/>
                </a:solidFill>
              </a:rPr>
              <a:t>1</a:t>
            </a:r>
            <a:r>
              <a:rPr lang="zh-CN" altLang="en-US" b="1" dirty="0">
                <a:solidFill>
                  <a:srgbClr val="003300"/>
                </a:solidFill>
              </a:rPr>
              <a:t>，</a:t>
            </a:r>
            <a:r>
              <a:rPr lang="zh-CN" altLang="en-US" b="1" dirty="0">
                <a:solidFill>
                  <a:srgbClr val="003300"/>
                </a:solidFill>
                <a:sym typeface="Symbol" pitchFamily="2" charset="2"/>
              </a:rPr>
              <a:t></a:t>
            </a:r>
            <a:r>
              <a:rPr lang="zh-CN" altLang="en-US" b="1" baseline="-30000" dirty="0">
                <a:solidFill>
                  <a:srgbClr val="003300"/>
                </a:solidFill>
              </a:rPr>
              <a:t>2</a:t>
            </a:r>
            <a:r>
              <a:rPr lang="zh-CN" altLang="en-US" b="1" dirty="0">
                <a:solidFill>
                  <a:srgbClr val="003300"/>
                </a:solidFill>
              </a:rPr>
              <a:t>，…，</a:t>
            </a:r>
            <a:r>
              <a:rPr lang="zh-CN" altLang="en-US" b="1" dirty="0">
                <a:solidFill>
                  <a:srgbClr val="003300"/>
                </a:solidFill>
                <a:sym typeface="Symbol" pitchFamily="2" charset="2"/>
              </a:rPr>
              <a:t></a:t>
            </a:r>
            <a:r>
              <a:rPr lang="en-US" altLang="zh-CN" b="1" i="1" baseline="-30000" dirty="0">
                <a:solidFill>
                  <a:srgbClr val="003300"/>
                </a:solidFill>
              </a:rPr>
              <a:t>r </a:t>
            </a:r>
            <a:r>
              <a:rPr lang="en-US" altLang="zh-CN" b="1" dirty="0">
                <a:solidFill>
                  <a:srgbClr val="003300"/>
                </a:solidFill>
              </a:rPr>
              <a:t>)</a:t>
            </a:r>
            <a:r>
              <a:rPr lang="zh-CN" altLang="en-US" b="1" dirty="0">
                <a:solidFill>
                  <a:srgbClr val="003300"/>
                </a:solidFill>
              </a:rPr>
              <a:t>，</a:t>
            </a:r>
            <a:r>
              <a:rPr lang="en-US" altLang="zh-CN" b="1" dirty="0">
                <a:solidFill>
                  <a:srgbClr val="003300"/>
                </a:solidFill>
              </a:rPr>
              <a:t>rank(A) = </a:t>
            </a:r>
            <a:r>
              <a:rPr lang="en-US" altLang="zh-CN" b="1" i="1" dirty="0">
                <a:solidFill>
                  <a:srgbClr val="003300"/>
                </a:solidFill>
              </a:rPr>
              <a:t>r</a:t>
            </a:r>
            <a:r>
              <a:rPr lang="zh-CN" altLang="en-US" b="1" dirty="0">
                <a:solidFill>
                  <a:srgbClr val="003300"/>
                </a:solidFill>
              </a:rPr>
              <a:t>，则由</a:t>
            </a:r>
            <a:r>
              <a:rPr lang="en-US" altLang="zh-CN" b="1" dirty="0">
                <a:solidFill>
                  <a:srgbClr val="9933FF"/>
                </a:solidFill>
              </a:rPr>
              <a:t>Schmidt</a:t>
            </a:r>
            <a:r>
              <a:rPr lang="zh-CN" altLang="en-US" b="1" dirty="0">
                <a:solidFill>
                  <a:srgbClr val="9933FF"/>
                </a:solidFill>
              </a:rPr>
              <a:t>正交化方法</a:t>
            </a:r>
            <a:r>
              <a:rPr lang="zh-CN" altLang="en-US" b="1" dirty="0"/>
              <a:t>（</a:t>
            </a:r>
            <a:r>
              <a:rPr lang="en-US" altLang="zh-CN" b="1" dirty="0"/>
              <a:t>P</a:t>
            </a:r>
            <a:r>
              <a:rPr lang="en-US" altLang="zh-CN" b="1" dirty="0">
                <a:cs typeface="Times New Roman" panose="02020603050405020304" pitchFamily="18" charset="0"/>
              </a:rPr>
              <a:t>.18</a:t>
            </a:r>
            <a:r>
              <a:rPr lang="en-US" altLang="zh-CN" b="1" dirty="0"/>
              <a:t>）</a:t>
            </a:r>
            <a:r>
              <a:rPr lang="zh-CN" altLang="en-US" b="1" dirty="0"/>
              <a:t>可将</a:t>
            </a:r>
            <a:r>
              <a:rPr lang="en-US" altLang="zh-CN" b="1" dirty="0"/>
              <a:t>A</a:t>
            </a:r>
            <a:r>
              <a:rPr lang="zh-CN" altLang="en-US" b="1" dirty="0"/>
              <a:t>的列化为标准正交的向量组：</a:t>
            </a:r>
            <a:r>
              <a:rPr lang="en-US" altLang="zh-CN" b="1" dirty="0">
                <a:solidFill>
                  <a:srgbClr val="000000"/>
                </a:solidFill>
                <a:sym typeface="Symbol" pitchFamily="2" charset="2"/>
              </a:rPr>
              <a:t>( </a:t>
            </a:r>
            <a:r>
              <a:rPr lang="en-US" altLang="zh-CN" b="1" baseline="-30000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，</a:t>
            </a: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</a:t>
            </a:r>
            <a:r>
              <a:rPr lang="zh-CN" altLang="en-US" b="1" baseline="-30000" dirty="0">
                <a:solidFill>
                  <a:srgbClr val="000000"/>
                </a:solidFill>
              </a:rPr>
              <a:t> 2</a:t>
            </a:r>
            <a:r>
              <a:rPr lang="zh-CN" altLang="en-US" b="1" dirty="0">
                <a:solidFill>
                  <a:srgbClr val="000000"/>
                </a:solidFill>
              </a:rPr>
              <a:t>，…，</a:t>
            </a: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</a:t>
            </a:r>
            <a:r>
              <a:rPr lang="en-US" altLang="zh-CN" b="1" i="1" baseline="-30000" dirty="0">
                <a:solidFill>
                  <a:srgbClr val="000000"/>
                </a:solidFill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sym typeface="Symbol" pitchFamily="2" charset="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记</a:t>
            </a:r>
            <a:r>
              <a:rPr lang="en-US" altLang="zh-CN" b="1" dirty="0">
                <a:solidFill>
                  <a:srgbClr val="000000"/>
                </a:solidFill>
                <a:sym typeface="Symbol" pitchFamily="2" charset="2"/>
              </a:rPr>
              <a:t>Q = ( </a:t>
            </a:r>
            <a:r>
              <a:rPr lang="en-US" altLang="zh-CN" b="1" baseline="-30000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，</a:t>
            </a: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</a:t>
            </a:r>
            <a:r>
              <a:rPr lang="zh-CN" altLang="en-US" b="1" baseline="-30000" dirty="0">
                <a:solidFill>
                  <a:srgbClr val="000000"/>
                </a:solidFill>
              </a:rPr>
              <a:t> 2</a:t>
            </a:r>
            <a:r>
              <a:rPr lang="zh-CN" altLang="en-US" b="1" dirty="0">
                <a:solidFill>
                  <a:srgbClr val="000000"/>
                </a:solidFill>
              </a:rPr>
              <a:t>，…，</a:t>
            </a: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</a:t>
            </a:r>
            <a:r>
              <a:rPr lang="en-US" altLang="zh-CN" b="1" i="1" baseline="-30000" dirty="0">
                <a:solidFill>
                  <a:srgbClr val="000000"/>
                </a:solidFill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sym typeface="Symbol" pitchFamily="2" charset="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，则有关系式：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b="1" dirty="0">
              <a:solidFill>
                <a:srgbClr val="003300"/>
              </a:solidFill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3300"/>
                </a:solidFill>
                <a:sym typeface="Symbol" pitchFamily="2" charset="2"/>
              </a:rPr>
              <a:t>   (</a:t>
            </a:r>
            <a:r>
              <a:rPr lang="zh-CN" altLang="en-US" sz="2800" b="1" dirty="0">
                <a:solidFill>
                  <a:srgbClr val="003300"/>
                </a:solidFill>
                <a:sym typeface="Symbol" pitchFamily="2" charset="2"/>
              </a:rPr>
              <a:t></a:t>
            </a:r>
            <a:r>
              <a:rPr lang="en-US" altLang="zh-CN" sz="2800" b="1" baseline="-30000" dirty="0">
                <a:solidFill>
                  <a:srgbClr val="003300"/>
                </a:solidFill>
              </a:rPr>
              <a:t>1</a:t>
            </a:r>
            <a:r>
              <a:rPr lang="en-US" altLang="zh-CN" sz="2800" b="1" dirty="0">
                <a:solidFill>
                  <a:srgbClr val="003300"/>
                </a:solidFill>
              </a:rPr>
              <a:t>, </a:t>
            </a:r>
            <a:r>
              <a:rPr lang="en-US" altLang="zh-CN" sz="2800" b="1" dirty="0">
                <a:solidFill>
                  <a:srgbClr val="003300"/>
                </a:solidFill>
                <a:sym typeface="Symbol" pitchFamily="2" charset="2"/>
              </a:rPr>
              <a:t></a:t>
            </a:r>
            <a:r>
              <a:rPr lang="en-US" altLang="zh-CN" sz="2800" b="1" baseline="-30000" dirty="0">
                <a:solidFill>
                  <a:srgbClr val="003300"/>
                </a:solidFill>
              </a:rPr>
              <a:t>2</a:t>
            </a:r>
            <a:r>
              <a:rPr lang="en-US" altLang="zh-CN" sz="2800" b="1" dirty="0">
                <a:solidFill>
                  <a:srgbClr val="003300"/>
                </a:solidFill>
              </a:rPr>
              <a:t>, …, </a:t>
            </a:r>
            <a:r>
              <a:rPr lang="en-US" altLang="zh-CN" sz="2800" b="1" dirty="0">
                <a:solidFill>
                  <a:srgbClr val="003300"/>
                </a:solidFill>
                <a:sym typeface="Symbol" pitchFamily="2" charset="2"/>
              </a:rPr>
              <a:t></a:t>
            </a:r>
            <a:r>
              <a:rPr lang="en-US" altLang="zh-CN" sz="2800" b="1" i="1" baseline="-30000" dirty="0">
                <a:solidFill>
                  <a:srgbClr val="003300"/>
                </a:solidFill>
              </a:rPr>
              <a:t>r</a:t>
            </a:r>
            <a:r>
              <a:rPr lang="en-US" altLang="zh-CN" sz="2800" b="1" dirty="0">
                <a:solidFill>
                  <a:srgbClr val="003300"/>
                </a:solidFill>
              </a:rPr>
              <a:t>) = </a:t>
            </a:r>
            <a:r>
              <a:rPr lang="en-US" altLang="zh-CN" sz="2800" b="1" dirty="0">
                <a:solidFill>
                  <a:srgbClr val="000000"/>
                </a:solidFill>
                <a:sym typeface="Symbol" pitchFamily="2" charset="2"/>
              </a:rPr>
              <a:t>(</a:t>
            </a:r>
            <a:r>
              <a:rPr lang="en-US" altLang="zh-CN" sz="2800" b="1" baseline="-30000" dirty="0">
                <a:solidFill>
                  <a:srgbClr val="000000"/>
                </a:solidFill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</a:rPr>
              <a:t>, </a:t>
            </a:r>
            <a:r>
              <a:rPr lang="en-US" altLang="zh-CN" sz="2800" b="1" dirty="0">
                <a:solidFill>
                  <a:srgbClr val="000000"/>
                </a:solidFill>
                <a:sym typeface="Symbol" pitchFamily="2" charset="2"/>
              </a:rPr>
              <a:t></a:t>
            </a:r>
            <a:r>
              <a:rPr lang="en-US" altLang="zh-CN" sz="2800" b="1" baseline="-30000" dirty="0">
                <a:solidFill>
                  <a:srgbClr val="000000"/>
                </a:solidFill>
              </a:rPr>
              <a:t> 2</a:t>
            </a:r>
            <a:r>
              <a:rPr lang="en-US" altLang="zh-CN" sz="2800" b="1" dirty="0">
                <a:solidFill>
                  <a:srgbClr val="000000"/>
                </a:solidFill>
              </a:rPr>
              <a:t>, …, </a:t>
            </a:r>
            <a:r>
              <a:rPr lang="en-US" altLang="zh-CN" sz="2800" b="1" dirty="0">
                <a:solidFill>
                  <a:srgbClr val="000000"/>
                </a:solidFill>
                <a:sym typeface="Symbol" pitchFamily="2" charset="2"/>
              </a:rPr>
              <a:t></a:t>
            </a:r>
            <a:r>
              <a:rPr lang="en-US" altLang="zh-CN" sz="2800" b="1" i="1" baseline="-30000" dirty="0">
                <a:solidFill>
                  <a:srgbClr val="000000"/>
                </a:solidFill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sym typeface="Symbol" pitchFamily="2" charset="2"/>
              </a:rPr>
              <a:t>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sym typeface="Symbol" pitchFamily="2" charset="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即得</a:t>
            </a:r>
            <a:r>
              <a:rPr lang="en-US" altLang="zh-CN" b="1" dirty="0">
                <a:solidFill>
                  <a:srgbClr val="000000"/>
                </a:solidFill>
                <a:sym typeface="Symbol" pitchFamily="2" charset="2"/>
              </a:rPr>
              <a:t>QR</a:t>
            </a: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分解</a:t>
            </a:r>
            <a:r>
              <a:rPr lang="en-US" altLang="zh-CN" b="1" dirty="0">
                <a:solidFill>
                  <a:srgbClr val="000000"/>
                </a:solidFill>
                <a:sym typeface="Symbol" pitchFamily="2" charset="2"/>
              </a:rPr>
              <a:t>A=QR</a:t>
            </a:r>
            <a:r>
              <a:rPr lang="zh-CN" altLang="en-US" b="1" dirty="0">
                <a:solidFill>
                  <a:srgbClr val="000000"/>
                </a:solidFill>
                <a:sym typeface="Symbol" pitchFamily="2" charset="2"/>
              </a:rPr>
              <a:t>。</a:t>
            </a:r>
          </a:p>
        </p:txBody>
      </p:sp>
      <p:graphicFrame>
        <p:nvGraphicFramePr>
          <p:cNvPr id="43008" name="Object 0">
            <a:extLst>
              <a:ext uri="{FF2B5EF4-FFF2-40B4-BE49-F238E27FC236}">
                <a16:creationId xmlns:a16="http://schemas.microsoft.com/office/drawing/2014/main" id="{E6B00366-C45F-09FC-EA2A-F9BA19775A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3619500"/>
          <a:ext cx="3394075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328600" imgH="22237700" progId="Equation.3">
                  <p:embed/>
                </p:oleObj>
              </mc:Choice>
              <mc:Fallback>
                <p:oleObj name="公式" r:id="rId2" imgW="38328600" imgH="222377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619500"/>
                        <a:ext cx="3394075" cy="197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8">
            <a:extLst>
              <a:ext uri="{FF2B5EF4-FFF2-40B4-BE49-F238E27FC236}">
                <a16:creationId xmlns:a16="http://schemas.microsoft.com/office/drawing/2014/main" id="{AF5163BA-9F4D-56EB-B97D-E433712B5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734050"/>
            <a:ext cx="8569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E07000"/>
                </a:solidFill>
              </a:rPr>
              <a:t>UR</a:t>
            </a:r>
            <a:r>
              <a:rPr lang="zh-CN" altLang="en-US" sz="2800" b="1">
                <a:solidFill>
                  <a:srgbClr val="E07000"/>
                </a:solidFill>
              </a:rPr>
              <a:t>分解和前面某些分解结合，可导出一些新的分解。</a:t>
            </a: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C4BB994E-49B0-8C33-0D11-C1496D96F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15888"/>
            <a:ext cx="553878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0"/>
              </a:spcBef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spcBef>
                <a:spcPct val="0"/>
              </a:spcBef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spcBef>
                <a:spcPct val="0"/>
              </a:spcBef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spcBef>
                <a:spcPct val="0"/>
              </a:spcBef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spcBef>
                <a:spcPct val="0"/>
              </a:spcBef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一、</a:t>
            </a:r>
            <a:r>
              <a:rPr lang="en-US" altLang="zh-CN" sz="4000" b="1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Schur </a:t>
            </a: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分解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 autoUpdateAnimBg="0"/>
      <p:bldP spid="3687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9C1F90-6A0B-4857-89D5-0A0EC0C38CCD}"/>
              </a:ext>
            </a:extLst>
          </p:cNvPr>
          <p:cNvSpPr txBox="1"/>
          <p:nvPr/>
        </p:nvSpPr>
        <p:spPr>
          <a:xfrm>
            <a:off x="469595" y="332656"/>
            <a:ext cx="4102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E07000"/>
                </a:solidFill>
              </a:rPr>
              <a:t>列满秩矩阵的</a:t>
            </a:r>
            <a:r>
              <a:rPr lang="en-US" altLang="zh-CN" b="1" dirty="0">
                <a:solidFill>
                  <a:srgbClr val="E07000"/>
                </a:solidFill>
              </a:rPr>
              <a:t>QR</a:t>
            </a:r>
            <a:r>
              <a:rPr lang="zh-CN" altLang="en-US" b="1" dirty="0">
                <a:solidFill>
                  <a:srgbClr val="E07000"/>
                </a:solidFill>
              </a:rPr>
              <a:t>分解的推导</a:t>
            </a: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D867C-99C6-D6CB-3F8A-7B526A44713B}"/>
              </a:ext>
            </a:extLst>
          </p:cNvPr>
          <p:cNvSpPr txBox="1"/>
          <p:nvPr/>
        </p:nvSpPr>
        <p:spPr>
          <a:xfrm>
            <a:off x="494675" y="1214203"/>
            <a:ext cx="3244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将上面的关系式展开得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2107D8-9A1A-0B1B-E322-FB277FAC0E47}"/>
                  </a:ext>
                </a:extLst>
              </p:cNvPr>
              <p:cNvSpPr txBox="1"/>
              <p:nvPr/>
            </p:nvSpPr>
            <p:spPr>
              <a:xfrm>
                <a:off x="469595" y="1963943"/>
                <a:ext cx="2880532" cy="679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CN" dirty="0"/>
                  <a:t>;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2107D8-9A1A-0B1B-E322-FB277FAC0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95" y="1963943"/>
                <a:ext cx="2880532" cy="679994"/>
              </a:xfrm>
              <a:prstGeom prst="rect">
                <a:avLst/>
              </a:prstGeom>
              <a:blipFill>
                <a:blip r:embed="rId2"/>
                <a:stretch>
                  <a:fillRect l="-1316" r="-2632" b="-90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DD8F86-1D28-A8C4-84A3-229DFCDA3EAD}"/>
                  </a:ext>
                </a:extLst>
              </p:cNvPr>
              <p:cNvSpPr txBox="1"/>
              <p:nvPr/>
            </p:nvSpPr>
            <p:spPr>
              <a:xfrm>
                <a:off x="494675" y="2926045"/>
                <a:ext cx="4301306" cy="679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CN" dirty="0"/>
                  <a:t>;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DD8F86-1D28-A8C4-84A3-229DFCDA3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5" y="2926045"/>
                <a:ext cx="4301306" cy="679994"/>
              </a:xfrm>
              <a:prstGeom prst="rect">
                <a:avLst/>
              </a:prstGeom>
              <a:blipFill>
                <a:blip r:embed="rId3"/>
                <a:stretch>
                  <a:fillRect l="-882" r="-1471" b="-727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820DD6-787D-9149-E5FC-C1D92301AC5A}"/>
                  </a:ext>
                </a:extLst>
              </p:cNvPr>
              <p:cNvSpPr txBox="1"/>
              <p:nvPr/>
            </p:nvSpPr>
            <p:spPr>
              <a:xfrm>
                <a:off x="494675" y="3888167"/>
                <a:ext cx="6148158" cy="680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CN" dirty="0"/>
                  <a:t>;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820DD6-787D-9149-E5FC-C1D92301A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5" y="3888167"/>
                <a:ext cx="6148158" cy="680571"/>
              </a:xfrm>
              <a:prstGeom prst="rect">
                <a:avLst/>
              </a:prstGeom>
              <a:blipFill>
                <a:blip r:embed="rId4"/>
                <a:stretch>
                  <a:fillRect l="-617" b="-925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1363E3-C8DB-9F83-213E-9301730F5CEC}"/>
                  </a:ext>
                </a:extLst>
              </p:cNvPr>
              <p:cNvSpPr txBox="1"/>
              <p:nvPr/>
            </p:nvSpPr>
            <p:spPr>
              <a:xfrm>
                <a:off x="2520797" y="4994476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1363E3-C8DB-9F83-213E-9301730F5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797" y="4994476"/>
                <a:ext cx="49244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5660BD-99AC-B02F-84DF-41FED3ED20A2}"/>
                  </a:ext>
                </a:extLst>
              </p:cNvPr>
              <p:cNvSpPr txBox="1"/>
              <p:nvPr/>
            </p:nvSpPr>
            <p:spPr>
              <a:xfrm>
                <a:off x="494675" y="5643797"/>
                <a:ext cx="8818504" cy="679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−…−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CN" dirty="0"/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5660BD-99AC-B02F-84DF-41FED3ED2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5" y="5643797"/>
                <a:ext cx="8818504" cy="679994"/>
              </a:xfrm>
              <a:prstGeom prst="rect">
                <a:avLst/>
              </a:prstGeom>
              <a:blipFill>
                <a:blip r:embed="rId6"/>
                <a:stretch>
                  <a:fillRect l="-431" b="-111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733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5B82DCD2-83EA-1806-842F-766C526934D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333375"/>
            <a:ext cx="8642350" cy="3600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QR</a:t>
            </a:r>
            <a:r>
              <a:rPr lang="zh-CN" altLang="en-US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或</a:t>
            </a:r>
            <a:r>
              <a:rPr lang="en-US" altLang="zh-CN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UR</a:t>
            </a:r>
            <a:r>
              <a:rPr lang="zh-CN" altLang="en-US" b="1">
                <a:solidFill>
                  <a:srgbClr val="C864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分解的应用：其它一些分解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en-US" altLang="zh-CN" b="1"/>
              <a:t>(1) A</a:t>
            </a:r>
            <a:r>
              <a:rPr lang="zh-CN" altLang="en-US" b="1"/>
              <a:t>行满秩（可逆），则 </a:t>
            </a:r>
            <a:r>
              <a:rPr lang="en-US" altLang="zh-CN" b="1"/>
              <a:t>A = LV</a:t>
            </a:r>
            <a:r>
              <a:rPr lang="zh-CN" altLang="en-US" b="1"/>
              <a:t>，</a:t>
            </a:r>
            <a:r>
              <a:rPr lang="en-US" altLang="zh-CN" b="1"/>
              <a:t>L</a:t>
            </a:r>
            <a:r>
              <a:rPr lang="zh-CN" altLang="en-US" b="1"/>
              <a:t>为正线下三角矩阵，</a:t>
            </a:r>
            <a:r>
              <a:rPr lang="en-US" altLang="zh-CN" b="1"/>
              <a:t>V</a:t>
            </a:r>
            <a:r>
              <a:rPr lang="zh-CN" altLang="en-US" b="1"/>
              <a:t>的</a:t>
            </a:r>
            <a:r>
              <a:rPr lang="zh-CN" altLang="en-US" b="1">
                <a:solidFill>
                  <a:srgbClr val="0033CC"/>
                </a:solidFill>
              </a:rPr>
              <a:t>行标准正交</a:t>
            </a:r>
            <a:r>
              <a:rPr lang="zh-CN" altLang="en-US" b="1"/>
              <a:t>（</a:t>
            </a:r>
            <a:r>
              <a:rPr lang="en-US" altLang="zh-CN" b="1"/>
              <a:t>V</a:t>
            </a:r>
            <a:r>
              <a:rPr lang="zh-CN" altLang="en-US" b="1"/>
              <a:t>为酉阵）；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/>
              <a:t>(2) </a:t>
            </a:r>
            <a:r>
              <a:rPr lang="zh-CN" altLang="en-US" b="1"/>
              <a:t>满秩分解，</a:t>
            </a:r>
            <a:r>
              <a:rPr lang="en-US" altLang="zh-CN" b="1"/>
              <a:t>A</a:t>
            </a:r>
            <a:r>
              <a:rPr lang="en-US" altLang="zh-CN" b="1" baseline="-25000"/>
              <a:t>m</a:t>
            </a:r>
            <a:r>
              <a:rPr lang="en-US" altLang="zh-CN" b="1" baseline="-25000">
                <a:cs typeface="Times New Roman" panose="02020603050405020304" pitchFamily="18" charset="0"/>
              </a:rPr>
              <a:t>×</a:t>
            </a:r>
            <a:r>
              <a:rPr lang="en-US" altLang="zh-CN" b="1" baseline="-25000"/>
              <a:t>n</a:t>
            </a:r>
            <a:r>
              <a:rPr lang="en-US" altLang="zh-CN" b="1"/>
              <a:t> = Q</a:t>
            </a:r>
            <a:r>
              <a:rPr lang="en-US" altLang="zh-CN" b="1" baseline="-25000"/>
              <a:t>m</a:t>
            </a:r>
            <a:r>
              <a:rPr lang="en-US" altLang="zh-CN" b="1" baseline="-25000">
                <a:cs typeface="Times New Roman" panose="02020603050405020304" pitchFamily="18" charset="0"/>
              </a:rPr>
              <a:t>×</a:t>
            </a:r>
            <a:r>
              <a:rPr lang="en-US" altLang="zh-CN" b="1" baseline="-25000"/>
              <a:t>r</a:t>
            </a:r>
            <a:r>
              <a:rPr lang="en-US" altLang="zh-CN" b="1"/>
              <a:t>D</a:t>
            </a:r>
            <a:r>
              <a:rPr lang="en-US" altLang="zh-CN" b="1" baseline="-25000"/>
              <a:t>r</a:t>
            </a:r>
            <a:r>
              <a:rPr lang="en-US" altLang="zh-CN" b="1" baseline="-25000">
                <a:cs typeface="Times New Roman" panose="02020603050405020304" pitchFamily="18" charset="0"/>
              </a:rPr>
              <a:t>×</a:t>
            </a:r>
            <a:r>
              <a:rPr lang="en-US" altLang="zh-CN" b="1" baseline="-25000"/>
              <a:t>n</a:t>
            </a:r>
            <a:r>
              <a:rPr lang="zh-CN" altLang="en-US" b="1"/>
              <a:t>，</a:t>
            </a:r>
            <a:r>
              <a:rPr lang="en-US" altLang="zh-CN" b="1"/>
              <a:t>rank(A)=r,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/>
              <a:t>      </a:t>
            </a:r>
            <a:r>
              <a:rPr lang="zh-CN" altLang="en-US" b="1"/>
              <a:t>其中</a:t>
            </a:r>
            <a:r>
              <a:rPr lang="en-US" altLang="zh-CN" b="1"/>
              <a:t>Q</a:t>
            </a:r>
            <a:r>
              <a:rPr lang="zh-CN" altLang="en-US" b="1"/>
              <a:t>的</a:t>
            </a:r>
            <a:r>
              <a:rPr lang="zh-CN" altLang="en-US" b="1">
                <a:solidFill>
                  <a:srgbClr val="0033CC"/>
                </a:solidFill>
              </a:rPr>
              <a:t>列标准正交</a:t>
            </a:r>
            <a:r>
              <a:rPr lang="zh-CN" altLang="en-US" b="1"/>
              <a:t>，</a:t>
            </a:r>
            <a:r>
              <a:rPr lang="en-US" altLang="zh-CN" b="1"/>
              <a:t>rank(D)=r</a:t>
            </a:r>
            <a:r>
              <a:rPr lang="zh-CN" altLang="en-US" b="1"/>
              <a:t>；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b="1"/>
              <a:t>(3)                                     B</a:t>
            </a:r>
            <a:r>
              <a:rPr lang="en-US" altLang="zh-CN" b="1" i="1" baseline="-25000"/>
              <a:t>r</a:t>
            </a:r>
            <a:r>
              <a:rPr lang="zh-CN" altLang="en-US" b="1"/>
              <a:t>可逆</a:t>
            </a:r>
            <a:r>
              <a:rPr lang="en-US" altLang="zh-CN" b="1"/>
              <a:t>, U</a:t>
            </a:r>
            <a:r>
              <a:rPr lang="zh-CN" altLang="en-US" b="1"/>
              <a:t>和</a:t>
            </a:r>
            <a:r>
              <a:rPr lang="en-US" altLang="zh-CN" b="1"/>
              <a:t>V</a:t>
            </a:r>
            <a:r>
              <a:rPr lang="zh-CN" altLang="en-US" b="1"/>
              <a:t>为</a:t>
            </a:r>
            <a:r>
              <a:rPr lang="zh-CN" altLang="en-US" b="1">
                <a:solidFill>
                  <a:srgbClr val="0033CC"/>
                </a:solidFill>
              </a:rPr>
              <a:t>酉矩阵</a:t>
            </a:r>
            <a:r>
              <a:rPr lang="zh-CN" altLang="en-US" b="1"/>
              <a:t>。</a:t>
            </a:r>
          </a:p>
        </p:txBody>
      </p:sp>
      <p:graphicFrame>
        <p:nvGraphicFramePr>
          <p:cNvPr id="27651" name="Object 0">
            <a:extLst>
              <a:ext uri="{FF2B5EF4-FFF2-40B4-BE49-F238E27FC236}">
                <a16:creationId xmlns:a16="http://schemas.microsoft.com/office/drawing/2014/main" id="{0464B992-ACE5-3235-052E-A1FF0D3A85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927350"/>
          <a:ext cx="3671887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16100" imgH="558800" progId="Equation.3">
                  <p:embed/>
                </p:oleObj>
              </mc:Choice>
              <mc:Fallback>
                <p:oleObj name="公式" r:id="rId2" imgW="1816100" imgH="5588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927350"/>
                        <a:ext cx="3671887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0">
            <a:extLst>
              <a:ext uri="{FF2B5EF4-FFF2-40B4-BE49-F238E27FC236}">
                <a16:creationId xmlns:a16="http://schemas.microsoft.com/office/drawing/2014/main" id="{A5CB9991-3783-C4DD-A9EE-C74DE752A7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125" y="3986213"/>
          <a:ext cx="179228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14400" imgH="279400" progId="Equation.3">
                  <p:embed/>
                </p:oleObj>
              </mc:Choice>
              <mc:Fallback>
                <p:oleObj name="公式" r:id="rId4" imgW="914400" imgH="2794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3986213"/>
                        <a:ext cx="1792288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0">
            <a:extLst>
              <a:ext uri="{FF2B5EF4-FFF2-40B4-BE49-F238E27FC236}">
                <a16:creationId xmlns:a16="http://schemas.microsoft.com/office/drawing/2014/main" id="{50D0C939-27D3-B1F9-E0B2-D31266E313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3986213"/>
          <a:ext cx="405606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70100" imgH="279400" progId="Equation.3">
                  <p:embed/>
                </p:oleObj>
              </mc:Choice>
              <mc:Fallback>
                <p:oleObj name="公式" r:id="rId6" imgW="2070100" imgH="2794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986213"/>
                        <a:ext cx="405606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0">
            <a:extLst>
              <a:ext uri="{FF2B5EF4-FFF2-40B4-BE49-F238E27FC236}">
                <a16:creationId xmlns:a16="http://schemas.microsoft.com/office/drawing/2014/main" id="{E9A55910-42C4-9E21-C61B-326DDB0FB0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138" y="4692650"/>
          <a:ext cx="16764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50900" imgH="241300" progId="Equation.3">
                  <p:embed/>
                </p:oleObj>
              </mc:Choice>
              <mc:Fallback>
                <p:oleObj name="公式" r:id="rId8" imgW="850900" imgH="2413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4692650"/>
                        <a:ext cx="16764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0">
            <a:extLst>
              <a:ext uri="{FF2B5EF4-FFF2-40B4-BE49-F238E27FC236}">
                <a16:creationId xmlns:a16="http://schemas.microsoft.com/office/drawing/2014/main" id="{4D9C90DD-DB6D-9E35-F5E0-1FB15B7C75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613" y="5192713"/>
          <a:ext cx="27336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97000" imgH="558800" progId="Equation.3">
                  <p:embed/>
                </p:oleObj>
              </mc:Choice>
              <mc:Fallback>
                <p:oleObj name="公式" r:id="rId10" imgW="1397000" imgH="5588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5192713"/>
                        <a:ext cx="273367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0">
            <a:extLst>
              <a:ext uri="{FF2B5EF4-FFF2-40B4-BE49-F238E27FC236}">
                <a16:creationId xmlns:a16="http://schemas.microsoft.com/office/drawing/2014/main" id="{475AD1BC-5349-4EEC-936A-8DFEC9AA18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4238" y="5264150"/>
          <a:ext cx="25876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20800" imgH="558800" progId="Equation.3">
                  <p:embed/>
                </p:oleObj>
              </mc:Choice>
              <mc:Fallback>
                <p:oleObj name="公式" r:id="rId12" imgW="1320800" imgH="5588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238" y="5264150"/>
                        <a:ext cx="25876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0">
            <a:extLst>
              <a:ext uri="{FF2B5EF4-FFF2-40B4-BE49-F238E27FC236}">
                <a16:creationId xmlns:a16="http://schemas.microsoft.com/office/drawing/2014/main" id="{7744C525-1A2A-61FF-5372-BF4FB16EC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5264150"/>
          <a:ext cx="279241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35100" imgH="558800" progId="Equation.3">
                  <p:embed/>
                </p:oleObj>
              </mc:Choice>
              <mc:Fallback>
                <p:oleObj name="公式" r:id="rId14" imgW="1435100" imgH="5588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5264150"/>
                        <a:ext cx="2792413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0">
            <a:extLst>
              <a:ext uri="{FF2B5EF4-FFF2-40B4-BE49-F238E27FC236}">
                <a16:creationId xmlns:a16="http://schemas.microsoft.com/office/drawing/2014/main" id="{2996E33F-C2C1-A521-7F6F-26219DEC1D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4692650"/>
          <a:ext cx="21463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92200" imgH="241300" progId="Equation.3">
                  <p:embed/>
                </p:oleObj>
              </mc:Choice>
              <mc:Fallback>
                <p:oleObj name="公式" r:id="rId16" imgW="1092200" imgH="2413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692650"/>
                        <a:ext cx="21463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0">
            <a:extLst>
              <a:ext uri="{FF2B5EF4-FFF2-40B4-BE49-F238E27FC236}">
                <a16:creationId xmlns:a16="http://schemas.microsoft.com/office/drawing/2014/main" id="{3298859B-1462-182A-D864-1079FB2F83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692650"/>
          <a:ext cx="23209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81100" imgH="241300" progId="Equation.3">
                  <p:embed/>
                </p:oleObj>
              </mc:Choice>
              <mc:Fallback>
                <p:oleObj name="公式" r:id="rId18" imgW="1181100" imgH="2413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692650"/>
                        <a:ext cx="2320925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0">
            <a:extLst>
              <a:ext uri="{FF2B5EF4-FFF2-40B4-BE49-F238E27FC236}">
                <a16:creationId xmlns:a16="http://schemas.microsoft.com/office/drawing/2014/main" id="{FA5480E9-9465-8AAC-3EB5-FA1DF4ABAF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986213"/>
          <a:ext cx="22336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30300" imgH="279400" progId="Equation.3">
                  <p:embed/>
                </p:oleObj>
              </mc:Choice>
              <mc:Fallback>
                <p:oleObj name="公式" r:id="rId20" imgW="1130300" imgH="2794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986213"/>
                        <a:ext cx="2233612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xpedition">
  <a:themeElements>
    <a:clrScheme name="">
      <a:dk1>
        <a:srgbClr val="000000"/>
      </a:dk1>
      <a:lt1>
        <a:srgbClr val="FFFFFF"/>
      </a:lt1>
      <a:dk2>
        <a:srgbClr val="802A0C"/>
      </a:dk2>
      <a:lt2>
        <a:srgbClr val="808080"/>
      </a:lt2>
      <a:accent1>
        <a:srgbClr val="DFD6C3"/>
      </a:accent1>
      <a:accent2>
        <a:srgbClr val="D69B80"/>
      </a:accent2>
      <a:accent3>
        <a:srgbClr val="FFFFFF"/>
      </a:accent3>
      <a:accent4>
        <a:srgbClr val="000000"/>
      </a:accent4>
      <a:accent5>
        <a:srgbClr val="ECE8DE"/>
      </a:accent5>
      <a:accent6>
        <a:srgbClr val="C28C73"/>
      </a:accent6>
      <a:hlink>
        <a:srgbClr val="993300"/>
      </a:hlink>
      <a:folHlink>
        <a:srgbClr val="666600"/>
      </a:folHlink>
    </a:clrScheme>
    <a:fontScheme name="Expedition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Expedition 1">
        <a:dk1>
          <a:srgbClr val="000000"/>
        </a:dk1>
        <a:lt1>
          <a:srgbClr val="A7947B"/>
        </a:lt1>
        <a:dk2>
          <a:srgbClr val="482400"/>
        </a:dk2>
        <a:lt2>
          <a:srgbClr val="808080"/>
        </a:lt2>
        <a:accent1>
          <a:srgbClr val="DFD6C3"/>
        </a:accent1>
        <a:accent2>
          <a:srgbClr val="D69B80"/>
        </a:accent2>
        <a:accent3>
          <a:srgbClr val="D0C8BF"/>
        </a:accent3>
        <a:accent4>
          <a:srgbClr val="000000"/>
        </a:accent4>
        <a:accent5>
          <a:srgbClr val="ECE8DE"/>
        </a:accent5>
        <a:accent6>
          <a:srgbClr val="C28C73"/>
        </a:accent6>
        <a:hlink>
          <a:srgbClr val="993300"/>
        </a:hlink>
        <a:folHlink>
          <a:srgbClr val="66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xpedition 2">
        <a:dk1>
          <a:srgbClr val="000000"/>
        </a:dk1>
        <a:lt1>
          <a:srgbClr val="FFFFFF"/>
        </a:lt1>
        <a:dk2>
          <a:srgbClr val="482400"/>
        </a:dk2>
        <a:lt2>
          <a:srgbClr val="808080"/>
        </a:lt2>
        <a:accent1>
          <a:srgbClr val="DFD6C3"/>
        </a:accent1>
        <a:accent2>
          <a:srgbClr val="D69B80"/>
        </a:accent2>
        <a:accent3>
          <a:srgbClr val="FFFFFF"/>
        </a:accent3>
        <a:accent4>
          <a:srgbClr val="000000"/>
        </a:accent4>
        <a:accent5>
          <a:srgbClr val="ECE8DE"/>
        </a:accent5>
        <a:accent6>
          <a:srgbClr val="C28C73"/>
        </a:accent6>
        <a:hlink>
          <a:srgbClr val="993300"/>
        </a:hlink>
        <a:folHlink>
          <a:srgbClr val="66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xpeditio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xpedition 4">
        <a:dk1>
          <a:srgbClr val="000000"/>
        </a:dk1>
        <a:lt1>
          <a:srgbClr val="9D7643"/>
        </a:lt1>
        <a:dk2>
          <a:srgbClr val="FFFFFF"/>
        </a:dk2>
        <a:lt2>
          <a:srgbClr val="554025"/>
        </a:lt2>
        <a:accent1>
          <a:srgbClr val="CAA966"/>
        </a:accent1>
        <a:accent2>
          <a:srgbClr val="8488AC"/>
        </a:accent2>
        <a:accent3>
          <a:srgbClr val="CCBDB0"/>
        </a:accent3>
        <a:accent4>
          <a:srgbClr val="000000"/>
        </a:accent4>
        <a:accent5>
          <a:srgbClr val="E1D1B8"/>
        </a:accent5>
        <a:accent6>
          <a:srgbClr val="777B9B"/>
        </a:accent6>
        <a:hlink>
          <a:srgbClr val="993300"/>
        </a:hlink>
        <a:folHlink>
          <a:srgbClr val="66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Designs\Expedition.pot</Template>
  <TotalTime>2364</TotalTime>
  <Words>1141</Words>
  <Application>Microsoft Macintosh PowerPoint</Application>
  <PresentationFormat>On-screen Show (4:3)</PresentationFormat>
  <Paragraphs>98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Cambria Math</vt:lpstr>
      <vt:lpstr>Times New Roman</vt:lpstr>
      <vt:lpstr>Wingdings</vt:lpstr>
      <vt:lpstr>Expedition</vt:lpstr>
      <vt:lpstr>公式</vt:lpstr>
      <vt:lpstr>Equation</vt:lpstr>
      <vt:lpstr>第3章   矩阵的分解</vt:lpstr>
      <vt:lpstr>矩阵分解的概述</vt:lpstr>
      <vt:lpstr>§3.1 常见的矩阵标准形与分解</vt:lpstr>
      <vt:lpstr>二、矩阵的满秩分解</vt:lpstr>
      <vt:lpstr>二、矩阵的满秩分解</vt:lpstr>
      <vt:lpstr>二、矩阵的满秩分解</vt:lpstr>
      <vt:lpstr>二、矩阵的满秩分解</vt:lpstr>
      <vt:lpstr>二、矩阵的满秩分解</vt:lpstr>
      <vt:lpstr>二、矩阵的满秩分解</vt:lpstr>
      <vt:lpstr>二、矩阵的满秩分解</vt:lpstr>
      <vt:lpstr>§3.2  Schur 分解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第3章、 矩阵的分解</dc:title>
  <dc:creator>yang</dc:creator>
  <cp:lastModifiedBy>Microsoft Office User</cp:lastModifiedBy>
  <cp:revision>296</cp:revision>
  <cp:lastPrinted>1601-01-01T00:00:00Z</cp:lastPrinted>
  <dcterms:created xsi:type="dcterms:W3CDTF">2004-10-26T11:33:39Z</dcterms:created>
  <dcterms:modified xsi:type="dcterms:W3CDTF">2024-09-29T08:11:08Z</dcterms:modified>
</cp:coreProperties>
</file>