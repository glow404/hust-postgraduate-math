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p:sldMasterIdLst>
    <p:sldMasterId id="2147483649" r:id="rId1"/>
  </p:sldMasterIdLst>
  <p:sldIdLst>
    <p:sldId id="256" r:id="rId2"/>
    <p:sldId id="257" r:id="rId3"/>
    <p:sldId id="258" r:id="rId4"/>
    <p:sldId id="274" r:id="rId5"/>
    <p:sldId id="259" r:id="rId6"/>
    <p:sldId id="275" r:id="rId7"/>
    <p:sldId id="260" r:id="rId8"/>
    <p:sldId id="261" r:id="rId9"/>
    <p:sldId id="278" r:id="rId10"/>
    <p:sldId id="276" r:id="rId11"/>
    <p:sldId id="279" r:id="rId12"/>
    <p:sldId id="280" r:id="rId13"/>
    <p:sldId id="262" r:id="rId14"/>
    <p:sldId id="266" r:id="rId15"/>
    <p:sldId id="265" r:id="rId16"/>
    <p:sldId id="267" r:id="rId17"/>
    <p:sldId id="273" r:id="rId18"/>
  </p:sldIdLst>
  <p:sldSz cx="9144000" cy="6858000" type="screen4x3"/>
  <p:notesSz cx="6858000" cy="9144000"/>
  <p:defaultTextStyle>
    <a:defPPr>
      <a:defRPr lang="en-US"/>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787"/>
    <p:restoredTop sz="90909"/>
  </p:normalViewPr>
  <p:slideViewPr>
    <p:cSldViewPr>
      <p:cViewPr varScale="1">
        <p:scale>
          <a:sx n="114" d="100"/>
          <a:sy n="114" d="100"/>
        </p:scale>
        <p:origin x="576"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8" d="100"/>
          <a:sy n="58" d="100"/>
        </p:scale>
        <p:origin x="-181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F8F6CAFC-C6ED-2E1B-310D-8E89536B7AD7}"/>
              </a:ext>
            </a:extLst>
          </p:cNvPr>
          <p:cNvGrpSpPr>
            <a:grpSpLocks/>
          </p:cNvGrpSpPr>
          <p:nvPr/>
        </p:nvGrpSpPr>
        <p:grpSpPr bwMode="auto">
          <a:xfrm>
            <a:off x="0" y="0"/>
            <a:ext cx="6362700" cy="6858000"/>
            <a:chOff x="0" y="0"/>
            <a:chExt cx="4008" cy="4320"/>
          </a:xfrm>
        </p:grpSpPr>
        <p:pic>
          <p:nvPicPr>
            <p:cNvPr id="3" name="Picture 8" descr="Expbanna">
              <a:extLst>
                <a:ext uri="{FF2B5EF4-FFF2-40B4-BE49-F238E27FC236}">
                  <a16:creationId xmlns:a16="http://schemas.microsoft.com/office/drawing/2014/main" id="{EC4F05FF-37C2-47BC-0E32-2CAA056F26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invGray">
            <a:xfrm>
              <a:off x="0" y="0"/>
              <a:ext cx="432"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9" descr="EXPHORSA">
              <a:extLst>
                <a:ext uri="{FF2B5EF4-FFF2-40B4-BE49-F238E27FC236}">
                  <a16:creationId xmlns:a16="http://schemas.microsoft.com/office/drawing/2014/main" id="{B46CDEEA-3652-E010-FF3A-1131CE4CF3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8" y="3600"/>
              <a:ext cx="1800" cy="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 name="Picture 10" descr="EXPHORSA">
            <a:extLst>
              <a:ext uri="{FF2B5EF4-FFF2-40B4-BE49-F238E27FC236}">
                <a16:creationId xmlns:a16="http://schemas.microsoft.com/office/drawing/2014/main" id="{AC1A4A17-194F-2A6A-5BE4-108124E104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3657600"/>
            <a:ext cx="5715000" cy="9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2"/>
          <p:cNvSpPr>
            <a:spLocks noGrp="1" noChangeArrowheads="1"/>
          </p:cNvSpPr>
          <p:nvPr>
            <p:ph type="ctrTitle"/>
          </p:nvPr>
        </p:nvSpPr>
        <p:spPr>
          <a:xfrm>
            <a:off x="1752600" y="990600"/>
            <a:ext cx="6400800" cy="2514600"/>
          </a:xfrm>
          <a:ln w="76200" cmpd="tri"/>
        </p:spPr>
        <p:txBody>
          <a:bodyPr/>
          <a:lstStyle>
            <a:lvl1pPr algn="ctr">
              <a:defRPr/>
            </a:lvl1pPr>
          </a:lstStyle>
          <a:p>
            <a:r>
              <a:rPr lang="zh-CN" altLang="en-US"/>
              <a:t>单击此处编辑母版标题样式</a:t>
            </a:r>
          </a:p>
        </p:txBody>
      </p:sp>
      <p:sp>
        <p:nvSpPr>
          <p:cNvPr id="4099" name="Rectangle 3"/>
          <p:cNvSpPr>
            <a:spLocks noGrp="1" noChangeArrowheads="1"/>
          </p:cNvSpPr>
          <p:nvPr>
            <p:ph type="subTitle" idx="1"/>
          </p:nvPr>
        </p:nvSpPr>
        <p:spPr>
          <a:xfrm>
            <a:off x="1752600" y="3886200"/>
            <a:ext cx="6400800" cy="1752600"/>
          </a:xfrm>
          <a:ln w="6350"/>
        </p:spPr>
        <p:txBody>
          <a:bodyPr/>
          <a:lstStyle>
            <a:lvl1pPr marL="0" indent="0" algn="ctr">
              <a:buFontTx/>
              <a:buNone/>
              <a:defRPr/>
            </a:lvl1pPr>
          </a:lstStyle>
          <a:p>
            <a:r>
              <a:rPr lang="zh-CN" altLang="en-US"/>
              <a:t>单击此处编辑母版副标题样式</a:t>
            </a:r>
          </a:p>
        </p:txBody>
      </p:sp>
      <p:sp>
        <p:nvSpPr>
          <p:cNvPr id="6" name="Rectangle 4">
            <a:extLst>
              <a:ext uri="{FF2B5EF4-FFF2-40B4-BE49-F238E27FC236}">
                <a16:creationId xmlns:a16="http://schemas.microsoft.com/office/drawing/2014/main" id="{263737C9-4D24-E805-C880-E107FD5D5719}"/>
              </a:ext>
            </a:extLst>
          </p:cNvPr>
          <p:cNvSpPr>
            <a:spLocks noGrp="1" noChangeArrowheads="1"/>
          </p:cNvSpPr>
          <p:nvPr>
            <p:ph type="dt" sz="half" idx="10"/>
          </p:nvPr>
        </p:nvSpPr>
        <p:spPr>
          <a:xfrm>
            <a:off x="914400" y="6400800"/>
            <a:ext cx="1905000" cy="457200"/>
          </a:xfrm>
        </p:spPr>
        <p:txBody>
          <a:bodyPr anchorCtr="0"/>
          <a:lstStyle>
            <a:lvl1pPr>
              <a:defRPr/>
            </a:lvl1pPr>
          </a:lstStyle>
          <a:p>
            <a:pPr>
              <a:defRPr/>
            </a:pPr>
            <a:endParaRPr lang="en-US" altLang="zh-CN"/>
          </a:p>
        </p:txBody>
      </p:sp>
      <p:sp>
        <p:nvSpPr>
          <p:cNvPr id="7" name="Rectangle 5">
            <a:extLst>
              <a:ext uri="{FF2B5EF4-FFF2-40B4-BE49-F238E27FC236}">
                <a16:creationId xmlns:a16="http://schemas.microsoft.com/office/drawing/2014/main" id="{E7506B5D-210B-8451-98F0-31D44BD73142}"/>
              </a:ext>
            </a:extLst>
          </p:cNvPr>
          <p:cNvSpPr>
            <a:spLocks noGrp="1" noChangeArrowheads="1"/>
          </p:cNvSpPr>
          <p:nvPr>
            <p:ph type="ftr" sz="quarter" idx="11"/>
          </p:nvPr>
        </p:nvSpPr>
        <p:spPr>
          <a:xfrm>
            <a:off x="3505200" y="6400800"/>
            <a:ext cx="2895600" cy="457200"/>
          </a:xfrm>
        </p:spPr>
        <p:txBody>
          <a:bodyPr anchorCtr="0"/>
          <a:lstStyle>
            <a:lvl1pPr>
              <a:defRPr/>
            </a:lvl1pPr>
          </a:lstStyle>
          <a:p>
            <a:pPr>
              <a:defRPr/>
            </a:pPr>
            <a:endParaRPr lang="en-US" altLang="zh-CN"/>
          </a:p>
        </p:txBody>
      </p:sp>
      <p:sp>
        <p:nvSpPr>
          <p:cNvPr id="8" name="Rectangle 6">
            <a:extLst>
              <a:ext uri="{FF2B5EF4-FFF2-40B4-BE49-F238E27FC236}">
                <a16:creationId xmlns:a16="http://schemas.microsoft.com/office/drawing/2014/main" id="{4ACFE9CF-39C4-2929-C685-B0B30E2D485B}"/>
              </a:ext>
            </a:extLst>
          </p:cNvPr>
          <p:cNvSpPr>
            <a:spLocks noGrp="1" noChangeArrowheads="1"/>
          </p:cNvSpPr>
          <p:nvPr>
            <p:ph type="sldNum" sz="quarter" idx="12"/>
          </p:nvPr>
        </p:nvSpPr>
        <p:spPr/>
        <p:txBody>
          <a:bodyPr anchorCtr="0"/>
          <a:lstStyle>
            <a:lvl1pPr>
              <a:defRPr/>
            </a:lvl1pPr>
          </a:lstStyle>
          <a:p>
            <a:fld id="{0FE8D922-AB0B-DC47-A706-BBC838F5F37C}" type="slidenum">
              <a:rPr lang="zh-CN" altLang="en-US"/>
              <a:pPr/>
              <a:t>‹#›</a:t>
            </a:fld>
            <a:endParaRPr lang="en-US" altLang="zh-CN"/>
          </a:p>
        </p:txBody>
      </p:sp>
    </p:spTree>
    <p:extLst>
      <p:ext uri="{BB962C8B-B14F-4D97-AF65-F5344CB8AC3E}">
        <p14:creationId xmlns:p14="http://schemas.microsoft.com/office/powerpoint/2010/main" val="1552382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9FD1EF3E-319B-D34E-9F88-850659C7FB4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546D6060-A48A-920C-70DB-C2A6253032A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4B7C815-65BE-7BC8-9805-736D2B8912A6}"/>
              </a:ext>
            </a:extLst>
          </p:cNvPr>
          <p:cNvSpPr>
            <a:spLocks noGrp="1" noChangeArrowheads="1"/>
          </p:cNvSpPr>
          <p:nvPr>
            <p:ph type="sldNum" sz="quarter" idx="12"/>
          </p:nvPr>
        </p:nvSpPr>
        <p:spPr>
          <a:ln/>
        </p:spPr>
        <p:txBody>
          <a:bodyPr/>
          <a:lstStyle>
            <a:lvl1pPr>
              <a:defRPr/>
            </a:lvl1pPr>
          </a:lstStyle>
          <a:p>
            <a:fld id="{29EC9BD4-0A63-D947-8010-10B2A2E17F36}" type="slidenum">
              <a:rPr lang="zh-CN" altLang="en-US"/>
              <a:pPr/>
              <a:t>‹#›</a:t>
            </a:fld>
            <a:endParaRPr lang="en-US" altLang="zh-CN"/>
          </a:p>
        </p:txBody>
      </p:sp>
    </p:spTree>
    <p:extLst>
      <p:ext uri="{BB962C8B-B14F-4D97-AF65-F5344CB8AC3E}">
        <p14:creationId xmlns:p14="http://schemas.microsoft.com/office/powerpoint/2010/main" val="3704528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88E46703-03C9-7419-8669-56DD440F2B7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EA426DCC-EA52-8814-E32D-0A7039A3747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8D8C4AF-77CC-8FBD-C1E8-6C2D39647173}"/>
              </a:ext>
            </a:extLst>
          </p:cNvPr>
          <p:cNvSpPr>
            <a:spLocks noGrp="1" noChangeArrowheads="1"/>
          </p:cNvSpPr>
          <p:nvPr>
            <p:ph type="sldNum" sz="quarter" idx="12"/>
          </p:nvPr>
        </p:nvSpPr>
        <p:spPr>
          <a:ln/>
        </p:spPr>
        <p:txBody>
          <a:bodyPr/>
          <a:lstStyle>
            <a:lvl1pPr>
              <a:defRPr/>
            </a:lvl1pPr>
          </a:lstStyle>
          <a:p>
            <a:fld id="{FE5BE9CD-F867-1F48-82D7-BB2E423F8B50}" type="slidenum">
              <a:rPr lang="zh-CN" altLang="en-US"/>
              <a:pPr/>
              <a:t>‹#›</a:t>
            </a:fld>
            <a:endParaRPr lang="en-US" altLang="zh-CN"/>
          </a:p>
        </p:txBody>
      </p:sp>
    </p:spTree>
    <p:extLst>
      <p:ext uri="{BB962C8B-B14F-4D97-AF65-F5344CB8AC3E}">
        <p14:creationId xmlns:p14="http://schemas.microsoft.com/office/powerpoint/2010/main" val="1919146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062038" y="1766888"/>
            <a:ext cx="3808412" cy="41132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22850" y="1766888"/>
            <a:ext cx="3808413" cy="41132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EBCF6ED2-2254-28D0-E528-9FBEDF073AE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3C4531A3-B7CA-CCC4-A9DD-A3D8250AA05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7AA3D4E4-89C9-4D3D-3D6C-EF233B1878BD}"/>
              </a:ext>
            </a:extLst>
          </p:cNvPr>
          <p:cNvSpPr>
            <a:spLocks noGrp="1" noChangeArrowheads="1"/>
          </p:cNvSpPr>
          <p:nvPr>
            <p:ph type="sldNum" sz="quarter" idx="12"/>
          </p:nvPr>
        </p:nvSpPr>
        <p:spPr>
          <a:ln/>
        </p:spPr>
        <p:txBody>
          <a:bodyPr/>
          <a:lstStyle>
            <a:lvl1pPr>
              <a:defRPr/>
            </a:lvl1pPr>
          </a:lstStyle>
          <a:p>
            <a:fld id="{60E1C4BA-B980-BB43-A411-219CF6AD3AED}" type="slidenum">
              <a:rPr lang="zh-CN" altLang="en-US"/>
              <a:pPr/>
              <a:t>‹#›</a:t>
            </a:fld>
            <a:endParaRPr lang="en-US" altLang="zh-CN"/>
          </a:p>
        </p:txBody>
      </p:sp>
    </p:spTree>
    <p:extLst>
      <p:ext uri="{BB962C8B-B14F-4D97-AF65-F5344CB8AC3E}">
        <p14:creationId xmlns:p14="http://schemas.microsoft.com/office/powerpoint/2010/main" val="4184211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A975F676-56F8-06A1-FC1E-F8A36E67ADE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CA9445FD-719B-5FC4-8714-2D8A196B427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20BEACD1-671A-DD4C-7083-D58559D914D6}"/>
              </a:ext>
            </a:extLst>
          </p:cNvPr>
          <p:cNvSpPr>
            <a:spLocks noGrp="1" noChangeArrowheads="1"/>
          </p:cNvSpPr>
          <p:nvPr>
            <p:ph type="sldNum" sz="quarter" idx="12"/>
          </p:nvPr>
        </p:nvSpPr>
        <p:spPr>
          <a:ln/>
        </p:spPr>
        <p:txBody>
          <a:bodyPr/>
          <a:lstStyle>
            <a:lvl1pPr>
              <a:defRPr/>
            </a:lvl1pPr>
          </a:lstStyle>
          <a:p>
            <a:fld id="{1E93A9D1-2EE2-0242-AD37-7E8DADA3FED1}" type="slidenum">
              <a:rPr lang="zh-CN" altLang="en-US"/>
              <a:pPr/>
              <a:t>‹#›</a:t>
            </a:fld>
            <a:endParaRPr lang="en-US" altLang="zh-CN"/>
          </a:p>
        </p:txBody>
      </p:sp>
    </p:spTree>
    <p:extLst>
      <p:ext uri="{BB962C8B-B14F-4D97-AF65-F5344CB8AC3E}">
        <p14:creationId xmlns:p14="http://schemas.microsoft.com/office/powerpoint/2010/main" val="953479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261E9287-1F86-28B5-70BF-B6F3D54FD44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807D577D-4035-82D9-DA29-371E8BAA676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0D880DF3-0235-308B-D4D1-E6AB11AFF697}"/>
              </a:ext>
            </a:extLst>
          </p:cNvPr>
          <p:cNvSpPr>
            <a:spLocks noGrp="1" noChangeArrowheads="1"/>
          </p:cNvSpPr>
          <p:nvPr>
            <p:ph type="sldNum" sz="quarter" idx="12"/>
          </p:nvPr>
        </p:nvSpPr>
        <p:spPr>
          <a:ln/>
        </p:spPr>
        <p:txBody>
          <a:bodyPr/>
          <a:lstStyle>
            <a:lvl1pPr>
              <a:defRPr/>
            </a:lvl1pPr>
          </a:lstStyle>
          <a:p>
            <a:fld id="{8FF90E24-C882-6341-884E-05C6BAC44C61}" type="slidenum">
              <a:rPr lang="zh-CN" altLang="en-US"/>
              <a:pPr/>
              <a:t>‹#›</a:t>
            </a:fld>
            <a:endParaRPr lang="en-US" altLang="zh-CN"/>
          </a:p>
        </p:txBody>
      </p:sp>
    </p:spTree>
    <p:extLst>
      <p:ext uri="{BB962C8B-B14F-4D97-AF65-F5344CB8AC3E}">
        <p14:creationId xmlns:p14="http://schemas.microsoft.com/office/powerpoint/2010/main" val="142348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00827B3-C7B3-5F84-7D77-B614FF29D25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245E6470-B7B3-9CD5-0801-635AA96BF31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78B3AF29-ECAD-C664-089D-31B79D822880}"/>
              </a:ext>
            </a:extLst>
          </p:cNvPr>
          <p:cNvSpPr>
            <a:spLocks noGrp="1" noChangeArrowheads="1"/>
          </p:cNvSpPr>
          <p:nvPr>
            <p:ph type="sldNum" sz="quarter" idx="12"/>
          </p:nvPr>
        </p:nvSpPr>
        <p:spPr>
          <a:ln/>
        </p:spPr>
        <p:txBody>
          <a:bodyPr/>
          <a:lstStyle>
            <a:lvl1pPr>
              <a:defRPr/>
            </a:lvl1pPr>
          </a:lstStyle>
          <a:p>
            <a:fld id="{6BA6CA29-CCE2-E349-8B16-53E207E6DF92}" type="slidenum">
              <a:rPr lang="zh-CN" altLang="en-US"/>
              <a:pPr/>
              <a:t>‹#›</a:t>
            </a:fld>
            <a:endParaRPr lang="en-US" altLang="zh-CN"/>
          </a:p>
        </p:txBody>
      </p:sp>
    </p:spTree>
    <p:extLst>
      <p:ext uri="{BB962C8B-B14F-4D97-AF65-F5344CB8AC3E}">
        <p14:creationId xmlns:p14="http://schemas.microsoft.com/office/powerpoint/2010/main" val="2539892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DB7627CC-2B74-C91C-0C92-C318EBBD885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91979299-0BD7-63DE-C235-9F68B62E5EF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A1F4EF7A-4E2A-BC41-DA2C-DDBBD283FAED}"/>
              </a:ext>
            </a:extLst>
          </p:cNvPr>
          <p:cNvSpPr>
            <a:spLocks noGrp="1" noChangeArrowheads="1"/>
          </p:cNvSpPr>
          <p:nvPr>
            <p:ph type="sldNum" sz="quarter" idx="12"/>
          </p:nvPr>
        </p:nvSpPr>
        <p:spPr>
          <a:ln/>
        </p:spPr>
        <p:txBody>
          <a:bodyPr/>
          <a:lstStyle>
            <a:lvl1pPr>
              <a:defRPr/>
            </a:lvl1pPr>
          </a:lstStyle>
          <a:p>
            <a:fld id="{EEB0472C-5E05-444F-BFFA-ED572700C60F}" type="slidenum">
              <a:rPr lang="zh-CN" altLang="en-US"/>
              <a:pPr/>
              <a:t>‹#›</a:t>
            </a:fld>
            <a:endParaRPr lang="en-US" altLang="zh-CN"/>
          </a:p>
        </p:txBody>
      </p:sp>
    </p:spTree>
    <p:extLst>
      <p:ext uri="{BB962C8B-B14F-4D97-AF65-F5344CB8AC3E}">
        <p14:creationId xmlns:p14="http://schemas.microsoft.com/office/powerpoint/2010/main" val="1899133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D4D29E7E-77CA-986C-10CF-579A9B19407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6CEA2CED-8CC0-7E20-1BA9-51EE05C6579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4D763DB0-3CF2-B6B6-C427-1CAB5ACD5750}"/>
              </a:ext>
            </a:extLst>
          </p:cNvPr>
          <p:cNvSpPr>
            <a:spLocks noGrp="1" noChangeArrowheads="1"/>
          </p:cNvSpPr>
          <p:nvPr>
            <p:ph type="sldNum" sz="quarter" idx="12"/>
          </p:nvPr>
        </p:nvSpPr>
        <p:spPr>
          <a:ln/>
        </p:spPr>
        <p:txBody>
          <a:bodyPr/>
          <a:lstStyle>
            <a:lvl1pPr>
              <a:defRPr/>
            </a:lvl1pPr>
          </a:lstStyle>
          <a:p>
            <a:fld id="{5E26B4F7-49B7-6845-94D9-B5C139BF2C1D}" type="slidenum">
              <a:rPr lang="zh-CN" altLang="en-US"/>
              <a:pPr/>
              <a:t>‹#›</a:t>
            </a:fld>
            <a:endParaRPr lang="en-US" altLang="zh-CN"/>
          </a:p>
        </p:txBody>
      </p:sp>
    </p:spTree>
    <p:extLst>
      <p:ext uri="{BB962C8B-B14F-4D97-AF65-F5344CB8AC3E}">
        <p14:creationId xmlns:p14="http://schemas.microsoft.com/office/powerpoint/2010/main" val="1705551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4C933933-57D4-4AB8-C8E6-D853E79048B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12DC9D84-4A1E-D14E-EB28-9B6CB1997D2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9109ADE-D96B-2FF7-5831-BC004B0776C9}"/>
              </a:ext>
            </a:extLst>
          </p:cNvPr>
          <p:cNvSpPr>
            <a:spLocks noGrp="1" noChangeArrowheads="1"/>
          </p:cNvSpPr>
          <p:nvPr>
            <p:ph type="sldNum" sz="quarter" idx="12"/>
          </p:nvPr>
        </p:nvSpPr>
        <p:spPr>
          <a:ln/>
        </p:spPr>
        <p:txBody>
          <a:bodyPr/>
          <a:lstStyle>
            <a:lvl1pPr>
              <a:defRPr/>
            </a:lvl1pPr>
          </a:lstStyle>
          <a:p>
            <a:fld id="{46FA0506-A41C-FC46-83EC-A6CA97152675}" type="slidenum">
              <a:rPr lang="zh-CN" altLang="en-US"/>
              <a:pPr/>
              <a:t>‹#›</a:t>
            </a:fld>
            <a:endParaRPr lang="en-US" altLang="zh-CN"/>
          </a:p>
        </p:txBody>
      </p:sp>
    </p:spTree>
    <p:extLst>
      <p:ext uri="{BB962C8B-B14F-4D97-AF65-F5344CB8AC3E}">
        <p14:creationId xmlns:p14="http://schemas.microsoft.com/office/powerpoint/2010/main" val="3161017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96100" y="381000"/>
            <a:ext cx="1943100" cy="54991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062038" y="381000"/>
            <a:ext cx="5681662" cy="54991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30901787-7153-2541-BBCE-ACF3A6272C3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25DC576-1C79-A338-FBB7-C91C94BBF58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4D453FE-01AD-74EF-5C23-48F85BF037E8}"/>
              </a:ext>
            </a:extLst>
          </p:cNvPr>
          <p:cNvSpPr>
            <a:spLocks noGrp="1" noChangeArrowheads="1"/>
          </p:cNvSpPr>
          <p:nvPr>
            <p:ph type="sldNum" sz="quarter" idx="12"/>
          </p:nvPr>
        </p:nvSpPr>
        <p:spPr>
          <a:ln/>
        </p:spPr>
        <p:txBody>
          <a:bodyPr/>
          <a:lstStyle>
            <a:lvl1pPr>
              <a:defRPr/>
            </a:lvl1pPr>
          </a:lstStyle>
          <a:p>
            <a:fld id="{81212303-4B49-AE48-B5C5-5CE9964542F9}" type="slidenum">
              <a:rPr lang="zh-CN" altLang="en-US"/>
              <a:pPr/>
              <a:t>‹#›</a:t>
            </a:fld>
            <a:endParaRPr lang="en-US" altLang="zh-CN"/>
          </a:p>
        </p:txBody>
      </p:sp>
    </p:spTree>
    <p:extLst>
      <p:ext uri="{BB962C8B-B14F-4D97-AF65-F5344CB8AC3E}">
        <p14:creationId xmlns:p14="http://schemas.microsoft.com/office/powerpoint/2010/main" val="2723471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Expbanna">
            <a:extLst>
              <a:ext uri="{FF2B5EF4-FFF2-40B4-BE49-F238E27FC236}">
                <a16:creationId xmlns:a16="http://schemas.microsoft.com/office/drawing/2014/main" id="{AEDCD070-7F5A-9213-1B10-52C57ED0530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invGray">
          <a:xfrm>
            <a:off x="0" y="0"/>
            <a:ext cx="6858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696F5F50-A740-1B38-35F8-5B9544126CA6}"/>
              </a:ext>
            </a:extLst>
          </p:cNvPr>
          <p:cNvSpPr>
            <a:spLocks noGrp="1" noChangeArrowheads="1"/>
          </p:cNvSpPr>
          <p:nvPr>
            <p:ph type="title"/>
          </p:nvPr>
        </p:nvSpPr>
        <p:spPr bwMode="auto">
          <a:xfrm>
            <a:off x="1066800" y="3810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3076" name="Rectangle 4">
            <a:extLst>
              <a:ext uri="{FF2B5EF4-FFF2-40B4-BE49-F238E27FC236}">
                <a16:creationId xmlns:a16="http://schemas.microsoft.com/office/drawing/2014/main" id="{7932A2DC-84C4-4F7B-9C61-D9D4C3538ED5}"/>
              </a:ext>
            </a:extLst>
          </p:cNvPr>
          <p:cNvSpPr>
            <a:spLocks noGrp="1" noChangeArrowheads="1"/>
          </p:cNvSpPr>
          <p:nvPr>
            <p:ph type="dt" sz="half" idx="2"/>
          </p:nvPr>
        </p:nvSpPr>
        <p:spPr bwMode="auto">
          <a:xfrm>
            <a:off x="838200" y="6400800"/>
            <a:ext cx="1905000" cy="457200"/>
          </a:xfrm>
          <a:prstGeom prst="rect">
            <a:avLst/>
          </a:prstGeom>
          <a:noFill/>
          <a:ln w="9525">
            <a:noFill/>
            <a:miter lim="800000"/>
            <a:headEnd/>
            <a:tailEnd/>
          </a:ln>
          <a:effectLst/>
        </p:spPr>
        <p:txBody>
          <a:bodyPr vert="horz" wrap="square" lIns="91440" tIns="45720" rIns="91440" bIns="45720" numCol="1" anchor="b" anchorCtr="1" compatLnSpc="1">
            <a:prstTxWarp prst="textNoShape">
              <a:avLst/>
            </a:prstTxWarp>
          </a:bodyPr>
          <a:lstStyle>
            <a:lvl1pPr eaLnBrk="1" hangingPunct="1">
              <a:spcBef>
                <a:spcPct val="0"/>
              </a:spcBef>
              <a:defRPr kumimoji="0" sz="1400">
                <a:solidFill>
                  <a:schemeClr val="tx2"/>
                </a:solidFill>
                <a:latin typeface="Arial" charset="0"/>
              </a:defRPr>
            </a:lvl1pPr>
          </a:lstStyle>
          <a:p>
            <a:pPr>
              <a:defRPr/>
            </a:pPr>
            <a:endParaRPr lang="en-US" altLang="zh-CN"/>
          </a:p>
        </p:txBody>
      </p:sp>
      <p:sp>
        <p:nvSpPr>
          <p:cNvPr id="3077" name="Rectangle 5">
            <a:extLst>
              <a:ext uri="{FF2B5EF4-FFF2-40B4-BE49-F238E27FC236}">
                <a16:creationId xmlns:a16="http://schemas.microsoft.com/office/drawing/2014/main" id="{E81AFC50-9BA1-4DA4-BDE2-6F552FF7FC2B}"/>
              </a:ext>
            </a:extLst>
          </p:cNvPr>
          <p:cNvSpPr>
            <a:spLocks noGrp="1" noChangeArrowheads="1"/>
          </p:cNvSpPr>
          <p:nvPr>
            <p:ph type="ftr" sz="quarter" idx="3"/>
          </p:nvPr>
        </p:nvSpPr>
        <p:spPr bwMode="auto">
          <a:xfrm>
            <a:off x="3429000" y="6400800"/>
            <a:ext cx="2895600" cy="457200"/>
          </a:xfrm>
          <a:prstGeom prst="rect">
            <a:avLst/>
          </a:prstGeom>
          <a:noFill/>
          <a:ln w="9525">
            <a:noFill/>
            <a:miter lim="800000"/>
            <a:headEnd/>
            <a:tailEnd/>
          </a:ln>
          <a:effectLst/>
        </p:spPr>
        <p:txBody>
          <a:bodyPr vert="horz" wrap="square" lIns="91440" tIns="45720" rIns="91440" bIns="45720" numCol="1" anchor="b" anchorCtr="1" compatLnSpc="1">
            <a:prstTxWarp prst="textNoShape">
              <a:avLst/>
            </a:prstTxWarp>
          </a:bodyPr>
          <a:lstStyle>
            <a:lvl1pPr algn="ctr" eaLnBrk="1" hangingPunct="1">
              <a:spcBef>
                <a:spcPct val="0"/>
              </a:spcBef>
              <a:defRPr kumimoji="0" sz="1400">
                <a:solidFill>
                  <a:schemeClr val="tx2"/>
                </a:solidFill>
                <a:latin typeface="Arial" charset="0"/>
              </a:defRPr>
            </a:lvl1pPr>
          </a:lstStyle>
          <a:p>
            <a:pPr>
              <a:defRPr/>
            </a:pPr>
            <a:endParaRPr lang="en-US" altLang="zh-CN"/>
          </a:p>
        </p:txBody>
      </p:sp>
      <p:sp>
        <p:nvSpPr>
          <p:cNvPr id="3078" name="Rectangle 6">
            <a:extLst>
              <a:ext uri="{FF2B5EF4-FFF2-40B4-BE49-F238E27FC236}">
                <a16:creationId xmlns:a16="http://schemas.microsoft.com/office/drawing/2014/main" id="{BF3C7B6F-6536-41A3-9715-B160ABFAB379}"/>
              </a:ext>
            </a:extLst>
          </p:cNvPr>
          <p:cNvSpPr>
            <a:spLocks noGrp="1" noChangeArrowheads="1"/>
          </p:cNvSpPr>
          <p:nvPr>
            <p:ph type="sldNum" sz="quarter" idx="4"/>
          </p:nvPr>
        </p:nvSpPr>
        <p:spPr bwMode="auto">
          <a:xfrm>
            <a:off x="7010400" y="6400800"/>
            <a:ext cx="1905000" cy="457200"/>
          </a:xfrm>
          <a:prstGeom prst="rect">
            <a:avLst/>
          </a:prstGeom>
          <a:noFill/>
          <a:ln w="9525">
            <a:noFill/>
            <a:miter lim="800000"/>
            <a:headEnd/>
            <a:tailEnd/>
          </a:ln>
          <a:effectLst/>
        </p:spPr>
        <p:txBody>
          <a:bodyPr vert="horz" wrap="square" lIns="91440" tIns="45720" rIns="91440" bIns="45720" numCol="1" anchor="b" anchorCtr="1" compatLnSpc="1">
            <a:prstTxWarp prst="textNoShape">
              <a:avLst/>
            </a:prstTxWarp>
          </a:bodyPr>
          <a:lstStyle>
            <a:lvl1pPr algn="r" eaLnBrk="1" hangingPunct="1">
              <a:defRPr kumimoji="0" sz="1400">
                <a:solidFill>
                  <a:schemeClr val="tx2"/>
                </a:solidFill>
                <a:latin typeface="Arial" panose="020B0604020202020204" pitchFamily="34" charset="0"/>
              </a:defRPr>
            </a:lvl1pPr>
          </a:lstStyle>
          <a:p>
            <a:fld id="{226B373C-EC1B-D84C-B3B0-CCC9414D419B}" type="slidenum">
              <a:rPr lang="zh-CN" altLang="en-US"/>
              <a:pPr/>
              <a:t>‹#›</a:t>
            </a:fld>
            <a:endParaRPr lang="en-US" altLang="zh-CN"/>
          </a:p>
        </p:txBody>
      </p:sp>
      <p:pic>
        <p:nvPicPr>
          <p:cNvPr id="1031" name="Picture 7" descr="EXPHORSA">
            <a:extLst>
              <a:ext uri="{FF2B5EF4-FFF2-40B4-BE49-F238E27FC236}">
                <a16:creationId xmlns:a16="http://schemas.microsoft.com/office/drawing/2014/main" id="{3F0DF2BE-BC5B-DBA7-3A32-EEA2FA67EB9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66800" y="1574800"/>
            <a:ext cx="7772400" cy="13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Rectangle 8">
            <a:extLst>
              <a:ext uri="{FF2B5EF4-FFF2-40B4-BE49-F238E27FC236}">
                <a16:creationId xmlns:a16="http://schemas.microsoft.com/office/drawing/2014/main" id="{EB68E6B0-3F1B-BF9E-265C-C803C5CD37F8}"/>
              </a:ext>
            </a:extLst>
          </p:cNvPr>
          <p:cNvSpPr>
            <a:spLocks noGrp="1" noChangeArrowheads="1"/>
          </p:cNvSpPr>
          <p:nvPr>
            <p:ph type="body" idx="1"/>
          </p:nvPr>
        </p:nvSpPr>
        <p:spPr bwMode="auto">
          <a:xfrm>
            <a:off x="1062038" y="1766888"/>
            <a:ext cx="7769225" cy="411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3708"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l"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l"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l"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Blip>
          <a:blip r:embed="rId15"/>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Blip>
          <a:blip r:embed="rId16"/>
        </a:buBlip>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Font typeface="Wingdings" pitchFamily="2" charset="2"/>
        <a:buChar char="s"/>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Font typeface="Wingdings" pitchFamily="2" charset="2"/>
        <a:buChar char="s"/>
        <a:defRPr kumimoji="1" sz="2000">
          <a:solidFill>
            <a:schemeClr val="tx1"/>
          </a:solidFill>
          <a:latin typeface="+mn-lt"/>
          <a:ea typeface="+mn-ea"/>
        </a:defRPr>
      </a:lvl5pPr>
      <a:lvl6pPr marL="2514600" indent="-228600" algn="l" rtl="0" fontAlgn="base">
        <a:spcBef>
          <a:spcPct val="20000"/>
        </a:spcBef>
        <a:spcAft>
          <a:spcPct val="0"/>
        </a:spcAft>
        <a:buClr>
          <a:schemeClr val="tx2"/>
        </a:buClr>
        <a:buFont typeface="Wingdings" pitchFamily="2" charset="2"/>
        <a:buChar char="s"/>
        <a:defRPr kumimoji="1" sz="2000">
          <a:solidFill>
            <a:schemeClr val="tx1"/>
          </a:solidFill>
          <a:latin typeface="+mn-lt"/>
          <a:ea typeface="+mn-ea"/>
        </a:defRPr>
      </a:lvl6pPr>
      <a:lvl7pPr marL="2971800" indent="-228600" algn="l" rtl="0" fontAlgn="base">
        <a:spcBef>
          <a:spcPct val="20000"/>
        </a:spcBef>
        <a:spcAft>
          <a:spcPct val="0"/>
        </a:spcAft>
        <a:buClr>
          <a:schemeClr val="tx2"/>
        </a:buClr>
        <a:buFont typeface="Wingdings" pitchFamily="2" charset="2"/>
        <a:buChar char="s"/>
        <a:defRPr kumimoji="1" sz="2000">
          <a:solidFill>
            <a:schemeClr val="tx1"/>
          </a:solidFill>
          <a:latin typeface="+mn-lt"/>
          <a:ea typeface="+mn-ea"/>
        </a:defRPr>
      </a:lvl7pPr>
      <a:lvl8pPr marL="3429000" indent="-228600" algn="l" rtl="0" fontAlgn="base">
        <a:spcBef>
          <a:spcPct val="20000"/>
        </a:spcBef>
        <a:spcAft>
          <a:spcPct val="0"/>
        </a:spcAft>
        <a:buClr>
          <a:schemeClr val="tx2"/>
        </a:buClr>
        <a:buFont typeface="Wingdings" pitchFamily="2" charset="2"/>
        <a:buChar char="s"/>
        <a:defRPr kumimoji="1" sz="2000">
          <a:solidFill>
            <a:schemeClr val="tx1"/>
          </a:solidFill>
          <a:latin typeface="+mn-lt"/>
          <a:ea typeface="+mn-ea"/>
        </a:defRPr>
      </a:lvl8pPr>
      <a:lvl9pPr marL="3886200" indent="-228600" algn="l" rtl="0" fontAlgn="base">
        <a:spcBef>
          <a:spcPct val="20000"/>
        </a:spcBef>
        <a:spcAft>
          <a:spcPct val="0"/>
        </a:spcAft>
        <a:buClr>
          <a:schemeClr val="tx2"/>
        </a:buClr>
        <a:buFont typeface="Wingdings" pitchFamily="2" charset="2"/>
        <a:buChar char="s"/>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emf"/><Relationship Id="rId7" Type="http://schemas.openxmlformats.org/officeDocument/2006/relationships/image" Target="../media/image7.e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8.emf"/><Relationship Id="rId4" Type="http://schemas.openxmlformats.org/officeDocument/2006/relationships/oleObject" Target="../embeddings/oleObject3.bin"/></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4.png"/><Relationship Id="rId7" Type="http://schemas.openxmlformats.org/officeDocument/2006/relationships/image" Target="../media/image10.emf"/><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oleObject" Target="../embeddings/oleObject5.bin"/><Relationship Id="rId11" Type="http://schemas.openxmlformats.org/officeDocument/2006/relationships/image" Target="../media/image12.emf"/><Relationship Id="rId5" Type="http://schemas.openxmlformats.org/officeDocument/2006/relationships/image" Target="../media/image9.e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11.emf"/></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4.png"/><Relationship Id="rId7" Type="http://schemas.openxmlformats.org/officeDocument/2006/relationships/image" Target="../media/image14.emf"/><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oleObject" Target="../embeddings/oleObject9.bin"/><Relationship Id="rId11" Type="http://schemas.openxmlformats.org/officeDocument/2006/relationships/image" Target="../media/image16.emf"/><Relationship Id="rId5" Type="http://schemas.openxmlformats.org/officeDocument/2006/relationships/image" Target="../media/image13.e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15.emf"/></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image" Target="../media/image4.png"/><Relationship Id="rId7" Type="http://schemas.openxmlformats.org/officeDocument/2006/relationships/image" Target="../media/image18.emf"/><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oleObject" Target="../embeddings/oleObject13.bin"/><Relationship Id="rId11" Type="http://schemas.openxmlformats.org/officeDocument/2006/relationships/image" Target="../media/image20.emf"/><Relationship Id="rId5" Type="http://schemas.openxmlformats.org/officeDocument/2006/relationships/image" Target="../media/image17.emf"/><Relationship Id="rId10" Type="http://schemas.openxmlformats.org/officeDocument/2006/relationships/oleObject" Target="../embeddings/oleObject15.bin"/><Relationship Id="rId4" Type="http://schemas.openxmlformats.org/officeDocument/2006/relationships/oleObject" Target="../embeddings/oleObject12.bin"/><Relationship Id="rId9" Type="http://schemas.openxmlformats.org/officeDocument/2006/relationships/image" Target="../media/image19.e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image" Target="../media/image21.emf"/><Relationship Id="rId7" Type="http://schemas.openxmlformats.org/officeDocument/2006/relationships/image" Target="../media/image22.emf"/><Relationship Id="rId2" Type="http://schemas.openxmlformats.org/officeDocument/2006/relationships/oleObject" Target="../embeddings/oleObject16.bin"/><Relationship Id="rId1" Type="http://schemas.openxmlformats.org/officeDocument/2006/relationships/slideLayout" Target="../slideLayouts/slideLayout2.xml"/><Relationship Id="rId6" Type="http://schemas.openxmlformats.org/officeDocument/2006/relationships/oleObject" Target="../embeddings/oleObject17.bin"/><Relationship Id="rId11" Type="http://schemas.openxmlformats.org/officeDocument/2006/relationships/image" Target="../media/image24.emf"/><Relationship Id="rId5" Type="http://schemas.openxmlformats.org/officeDocument/2006/relationships/image" Target="../media/image4.png"/><Relationship Id="rId10" Type="http://schemas.openxmlformats.org/officeDocument/2006/relationships/oleObject" Target="../embeddings/oleObject19.bin"/><Relationship Id="rId4" Type="http://schemas.openxmlformats.org/officeDocument/2006/relationships/image" Target="../media/image3.png"/><Relationship Id="rId9" Type="http://schemas.openxmlformats.org/officeDocument/2006/relationships/image" Target="../media/image23.e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23.bin"/><Relationship Id="rId13" Type="http://schemas.openxmlformats.org/officeDocument/2006/relationships/image" Target="../media/image30.emf"/><Relationship Id="rId18" Type="http://schemas.openxmlformats.org/officeDocument/2006/relationships/oleObject" Target="../embeddings/oleObject28.bin"/><Relationship Id="rId3" Type="http://schemas.openxmlformats.org/officeDocument/2006/relationships/image" Target="../media/image25.emf"/><Relationship Id="rId7" Type="http://schemas.openxmlformats.org/officeDocument/2006/relationships/image" Target="../media/image27.emf"/><Relationship Id="rId12" Type="http://schemas.openxmlformats.org/officeDocument/2006/relationships/oleObject" Target="../embeddings/oleObject25.bin"/><Relationship Id="rId17" Type="http://schemas.openxmlformats.org/officeDocument/2006/relationships/image" Target="../media/image32.emf"/><Relationship Id="rId2" Type="http://schemas.openxmlformats.org/officeDocument/2006/relationships/oleObject" Target="../embeddings/oleObject20.bin"/><Relationship Id="rId16" Type="http://schemas.openxmlformats.org/officeDocument/2006/relationships/oleObject" Target="../embeddings/oleObject27.bin"/><Relationship Id="rId1" Type="http://schemas.openxmlformats.org/officeDocument/2006/relationships/slideLayout" Target="../slideLayouts/slideLayout2.xml"/><Relationship Id="rId6" Type="http://schemas.openxmlformats.org/officeDocument/2006/relationships/oleObject" Target="../embeddings/oleObject22.bin"/><Relationship Id="rId11" Type="http://schemas.openxmlformats.org/officeDocument/2006/relationships/image" Target="../media/image29.emf"/><Relationship Id="rId5" Type="http://schemas.openxmlformats.org/officeDocument/2006/relationships/image" Target="../media/image26.emf"/><Relationship Id="rId15" Type="http://schemas.openxmlformats.org/officeDocument/2006/relationships/image" Target="../media/image31.emf"/><Relationship Id="rId10" Type="http://schemas.openxmlformats.org/officeDocument/2006/relationships/oleObject" Target="../embeddings/oleObject24.bin"/><Relationship Id="rId19" Type="http://schemas.openxmlformats.org/officeDocument/2006/relationships/image" Target="../media/image33.emf"/><Relationship Id="rId4" Type="http://schemas.openxmlformats.org/officeDocument/2006/relationships/oleObject" Target="../embeddings/oleObject21.bin"/><Relationship Id="rId9" Type="http://schemas.openxmlformats.org/officeDocument/2006/relationships/image" Target="../media/image28.emf"/><Relationship Id="rId14" Type="http://schemas.openxmlformats.org/officeDocument/2006/relationships/oleObject" Target="../embeddings/oleObject26.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32.bin"/><Relationship Id="rId13" Type="http://schemas.openxmlformats.org/officeDocument/2006/relationships/image" Target="../media/image39.emf"/><Relationship Id="rId18" Type="http://schemas.openxmlformats.org/officeDocument/2006/relationships/oleObject" Target="../embeddings/oleObject37.bin"/><Relationship Id="rId3" Type="http://schemas.openxmlformats.org/officeDocument/2006/relationships/image" Target="../media/image34.emf"/><Relationship Id="rId21" Type="http://schemas.openxmlformats.org/officeDocument/2006/relationships/image" Target="../media/image43.emf"/><Relationship Id="rId7" Type="http://schemas.openxmlformats.org/officeDocument/2006/relationships/image" Target="../media/image36.emf"/><Relationship Id="rId12" Type="http://schemas.openxmlformats.org/officeDocument/2006/relationships/oleObject" Target="../embeddings/oleObject34.bin"/><Relationship Id="rId17" Type="http://schemas.openxmlformats.org/officeDocument/2006/relationships/image" Target="../media/image41.emf"/><Relationship Id="rId25" Type="http://schemas.openxmlformats.org/officeDocument/2006/relationships/image" Target="../media/image45.emf"/><Relationship Id="rId2" Type="http://schemas.openxmlformats.org/officeDocument/2006/relationships/oleObject" Target="../embeddings/oleObject29.bin"/><Relationship Id="rId16" Type="http://schemas.openxmlformats.org/officeDocument/2006/relationships/oleObject" Target="../embeddings/oleObject36.bin"/><Relationship Id="rId20" Type="http://schemas.openxmlformats.org/officeDocument/2006/relationships/oleObject" Target="../embeddings/oleObject38.bin"/><Relationship Id="rId1" Type="http://schemas.openxmlformats.org/officeDocument/2006/relationships/slideLayout" Target="../slideLayouts/slideLayout7.xml"/><Relationship Id="rId6" Type="http://schemas.openxmlformats.org/officeDocument/2006/relationships/oleObject" Target="../embeddings/oleObject31.bin"/><Relationship Id="rId11" Type="http://schemas.openxmlformats.org/officeDocument/2006/relationships/image" Target="../media/image38.emf"/><Relationship Id="rId24" Type="http://schemas.openxmlformats.org/officeDocument/2006/relationships/oleObject" Target="../embeddings/oleObject40.bin"/><Relationship Id="rId5" Type="http://schemas.openxmlformats.org/officeDocument/2006/relationships/image" Target="../media/image35.emf"/><Relationship Id="rId15" Type="http://schemas.openxmlformats.org/officeDocument/2006/relationships/image" Target="../media/image40.emf"/><Relationship Id="rId23" Type="http://schemas.openxmlformats.org/officeDocument/2006/relationships/image" Target="../media/image44.emf"/><Relationship Id="rId10" Type="http://schemas.openxmlformats.org/officeDocument/2006/relationships/oleObject" Target="../embeddings/oleObject33.bin"/><Relationship Id="rId19" Type="http://schemas.openxmlformats.org/officeDocument/2006/relationships/image" Target="../media/image42.emf"/><Relationship Id="rId4" Type="http://schemas.openxmlformats.org/officeDocument/2006/relationships/oleObject" Target="../embeddings/oleObject30.bin"/><Relationship Id="rId9" Type="http://schemas.openxmlformats.org/officeDocument/2006/relationships/image" Target="../media/image37.emf"/><Relationship Id="rId14" Type="http://schemas.openxmlformats.org/officeDocument/2006/relationships/oleObject" Target="../embeddings/oleObject35.bin"/><Relationship Id="rId22" Type="http://schemas.openxmlformats.org/officeDocument/2006/relationships/oleObject" Target="../embeddings/oleObject39.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43.bin"/><Relationship Id="rId13" Type="http://schemas.openxmlformats.org/officeDocument/2006/relationships/image" Target="../media/image50.emf"/><Relationship Id="rId3" Type="http://schemas.openxmlformats.org/officeDocument/2006/relationships/image" Target="../media/image46.emf"/><Relationship Id="rId7" Type="http://schemas.openxmlformats.org/officeDocument/2006/relationships/image" Target="../media/image47.emf"/><Relationship Id="rId12" Type="http://schemas.openxmlformats.org/officeDocument/2006/relationships/oleObject" Target="../embeddings/oleObject45.bin"/><Relationship Id="rId17" Type="http://schemas.openxmlformats.org/officeDocument/2006/relationships/image" Target="../media/image52.emf"/><Relationship Id="rId2" Type="http://schemas.openxmlformats.org/officeDocument/2006/relationships/oleObject" Target="../embeddings/oleObject41.bin"/><Relationship Id="rId16" Type="http://schemas.openxmlformats.org/officeDocument/2006/relationships/oleObject" Target="../embeddings/oleObject47.bin"/><Relationship Id="rId1" Type="http://schemas.openxmlformats.org/officeDocument/2006/relationships/slideLayout" Target="../slideLayouts/slideLayout7.xml"/><Relationship Id="rId6" Type="http://schemas.openxmlformats.org/officeDocument/2006/relationships/oleObject" Target="../embeddings/oleObject42.bin"/><Relationship Id="rId11" Type="http://schemas.openxmlformats.org/officeDocument/2006/relationships/image" Target="../media/image49.emf"/><Relationship Id="rId5" Type="http://schemas.openxmlformats.org/officeDocument/2006/relationships/image" Target="../media/image4.png"/><Relationship Id="rId15" Type="http://schemas.openxmlformats.org/officeDocument/2006/relationships/image" Target="../media/image51.emf"/><Relationship Id="rId10" Type="http://schemas.openxmlformats.org/officeDocument/2006/relationships/oleObject" Target="../embeddings/oleObject44.bin"/><Relationship Id="rId4" Type="http://schemas.openxmlformats.org/officeDocument/2006/relationships/image" Target="../media/image3.png"/><Relationship Id="rId9" Type="http://schemas.openxmlformats.org/officeDocument/2006/relationships/image" Target="../media/image48.emf"/><Relationship Id="rId14" Type="http://schemas.openxmlformats.org/officeDocument/2006/relationships/oleObject" Target="../embeddings/oleObject46.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50.bin"/><Relationship Id="rId13" Type="http://schemas.openxmlformats.org/officeDocument/2006/relationships/image" Target="../media/image57.emf"/><Relationship Id="rId18" Type="http://schemas.openxmlformats.org/officeDocument/2006/relationships/oleObject" Target="../embeddings/oleObject55.bin"/><Relationship Id="rId3" Type="http://schemas.openxmlformats.org/officeDocument/2006/relationships/image" Target="../media/image53.emf"/><Relationship Id="rId21" Type="http://schemas.openxmlformats.org/officeDocument/2006/relationships/image" Target="../media/image61.emf"/><Relationship Id="rId7" Type="http://schemas.openxmlformats.org/officeDocument/2006/relationships/image" Target="../media/image54.emf"/><Relationship Id="rId12" Type="http://schemas.openxmlformats.org/officeDocument/2006/relationships/oleObject" Target="../embeddings/oleObject52.bin"/><Relationship Id="rId17" Type="http://schemas.openxmlformats.org/officeDocument/2006/relationships/image" Target="../media/image59.emf"/><Relationship Id="rId2" Type="http://schemas.openxmlformats.org/officeDocument/2006/relationships/oleObject" Target="../embeddings/oleObject48.bin"/><Relationship Id="rId16" Type="http://schemas.openxmlformats.org/officeDocument/2006/relationships/oleObject" Target="../embeddings/oleObject54.bin"/><Relationship Id="rId20" Type="http://schemas.openxmlformats.org/officeDocument/2006/relationships/oleObject" Target="../embeddings/oleObject56.bin"/><Relationship Id="rId1" Type="http://schemas.openxmlformats.org/officeDocument/2006/relationships/slideLayout" Target="../slideLayouts/slideLayout7.xml"/><Relationship Id="rId6" Type="http://schemas.openxmlformats.org/officeDocument/2006/relationships/oleObject" Target="../embeddings/oleObject49.bin"/><Relationship Id="rId11" Type="http://schemas.openxmlformats.org/officeDocument/2006/relationships/image" Target="../media/image56.emf"/><Relationship Id="rId5" Type="http://schemas.openxmlformats.org/officeDocument/2006/relationships/image" Target="../media/image4.png"/><Relationship Id="rId15" Type="http://schemas.openxmlformats.org/officeDocument/2006/relationships/image" Target="../media/image58.emf"/><Relationship Id="rId10" Type="http://schemas.openxmlformats.org/officeDocument/2006/relationships/oleObject" Target="../embeddings/oleObject51.bin"/><Relationship Id="rId19" Type="http://schemas.openxmlformats.org/officeDocument/2006/relationships/image" Target="../media/image60.emf"/><Relationship Id="rId4" Type="http://schemas.openxmlformats.org/officeDocument/2006/relationships/image" Target="../media/image3.png"/><Relationship Id="rId9" Type="http://schemas.openxmlformats.org/officeDocument/2006/relationships/image" Target="../media/image55.emf"/><Relationship Id="rId14" Type="http://schemas.openxmlformats.org/officeDocument/2006/relationships/oleObject" Target="../embeddings/oleObject53.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59.bin"/><Relationship Id="rId13" Type="http://schemas.openxmlformats.org/officeDocument/2006/relationships/image" Target="../media/image66.emf"/><Relationship Id="rId3" Type="http://schemas.openxmlformats.org/officeDocument/2006/relationships/image" Target="../media/image62.emf"/><Relationship Id="rId7" Type="http://schemas.openxmlformats.org/officeDocument/2006/relationships/image" Target="../media/image63.emf"/><Relationship Id="rId12" Type="http://schemas.openxmlformats.org/officeDocument/2006/relationships/oleObject" Target="../embeddings/oleObject61.bin"/><Relationship Id="rId17" Type="http://schemas.openxmlformats.org/officeDocument/2006/relationships/image" Target="../media/image68.emf"/><Relationship Id="rId2" Type="http://schemas.openxmlformats.org/officeDocument/2006/relationships/oleObject" Target="../embeddings/oleObject57.bin"/><Relationship Id="rId16" Type="http://schemas.openxmlformats.org/officeDocument/2006/relationships/oleObject" Target="../embeddings/oleObject63.bin"/><Relationship Id="rId1" Type="http://schemas.openxmlformats.org/officeDocument/2006/relationships/slideLayout" Target="../slideLayouts/slideLayout7.xml"/><Relationship Id="rId6" Type="http://schemas.openxmlformats.org/officeDocument/2006/relationships/oleObject" Target="../embeddings/oleObject58.bin"/><Relationship Id="rId11" Type="http://schemas.openxmlformats.org/officeDocument/2006/relationships/image" Target="../media/image65.emf"/><Relationship Id="rId5" Type="http://schemas.openxmlformats.org/officeDocument/2006/relationships/image" Target="../media/image4.png"/><Relationship Id="rId15" Type="http://schemas.openxmlformats.org/officeDocument/2006/relationships/image" Target="../media/image67.emf"/><Relationship Id="rId10" Type="http://schemas.openxmlformats.org/officeDocument/2006/relationships/oleObject" Target="../embeddings/oleObject60.bin"/><Relationship Id="rId4" Type="http://schemas.openxmlformats.org/officeDocument/2006/relationships/image" Target="../media/image3.png"/><Relationship Id="rId9" Type="http://schemas.openxmlformats.org/officeDocument/2006/relationships/image" Target="../media/image64.emf"/><Relationship Id="rId14" Type="http://schemas.openxmlformats.org/officeDocument/2006/relationships/oleObject" Target="../embeddings/oleObject62.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66.bin"/><Relationship Id="rId3" Type="http://schemas.openxmlformats.org/officeDocument/2006/relationships/image" Target="../media/image69.emf"/><Relationship Id="rId7" Type="http://schemas.openxmlformats.org/officeDocument/2006/relationships/image" Target="../media/image70.emf"/><Relationship Id="rId2" Type="http://schemas.openxmlformats.org/officeDocument/2006/relationships/oleObject" Target="../embeddings/oleObject64.bin"/><Relationship Id="rId1" Type="http://schemas.openxmlformats.org/officeDocument/2006/relationships/slideLayout" Target="../slideLayouts/slideLayout2.xml"/><Relationship Id="rId6" Type="http://schemas.openxmlformats.org/officeDocument/2006/relationships/oleObject" Target="../embeddings/oleObject65.bin"/><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71.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73.emf"/><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oleObject" Target="../embeddings/oleObject68.bin"/><Relationship Id="rId5" Type="http://schemas.openxmlformats.org/officeDocument/2006/relationships/image" Target="../media/image72.emf"/><Relationship Id="rId4" Type="http://schemas.openxmlformats.org/officeDocument/2006/relationships/oleObject" Target="../embeddings/oleObject67.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5A38FE5F-607F-4784-ACEA-31C768C9D46E}"/>
              </a:ext>
            </a:extLst>
          </p:cNvPr>
          <p:cNvSpPr>
            <a:spLocks noGrp="1" noChangeArrowheads="1"/>
          </p:cNvSpPr>
          <p:nvPr>
            <p:ph type="ctrTitle"/>
          </p:nvPr>
        </p:nvSpPr>
        <p:spPr>
          <a:xfrm>
            <a:off x="1195388" y="1844675"/>
            <a:ext cx="6400800" cy="822325"/>
          </a:xfrm>
        </p:spPr>
        <p:txBody>
          <a:bodyPr/>
          <a:lstStyle/>
          <a:p>
            <a:pPr eaLnBrk="1" hangingPunct="1"/>
            <a:r>
              <a:rPr lang="zh-CN" altLang="en-US" sz="4000" b="1">
                <a:effectLst>
                  <a:outerShdw blurRad="38100" dist="38100" dir="2700000" algn="tl">
                    <a:srgbClr val="C0C0C0"/>
                  </a:outerShdw>
                </a:effectLst>
                <a:cs typeface="Times New Roman" panose="02020603050405020304" pitchFamily="18" charset="0"/>
              </a:rPr>
              <a:t>§3</a:t>
            </a:r>
            <a:r>
              <a:rPr lang="zh-CN" altLang="en-US" sz="4000" b="1">
                <a:effectLst>
                  <a:outerShdw blurRad="38100" dist="38100" dir="2700000" algn="tl">
                    <a:srgbClr val="C0C0C0"/>
                  </a:outerShdw>
                </a:effectLst>
                <a:sym typeface="Symbol" pitchFamily="2" charset="2"/>
              </a:rPr>
              <a:t></a:t>
            </a:r>
            <a:r>
              <a:rPr lang="zh-CN" altLang="en-US" sz="4000" b="1">
                <a:effectLst>
                  <a:outerShdw blurRad="38100" dist="38100" dir="2700000" algn="tl">
                    <a:srgbClr val="C0C0C0"/>
                  </a:outerShdw>
                </a:effectLst>
              </a:rPr>
              <a:t>3  矩阵的奇异值分解</a:t>
            </a:r>
          </a:p>
        </p:txBody>
      </p:sp>
      <p:sp>
        <p:nvSpPr>
          <p:cNvPr id="3075" name="Rectangle 3">
            <a:extLst>
              <a:ext uri="{FF2B5EF4-FFF2-40B4-BE49-F238E27FC236}">
                <a16:creationId xmlns:a16="http://schemas.microsoft.com/office/drawing/2014/main" id="{59550957-EF26-3B25-E371-B38BF5497A45}"/>
              </a:ext>
            </a:extLst>
          </p:cNvPr>
          <p:cNvSpPr>
            <a:spLocks noGrp="1" noChangeArrowheads="1"/>
          </p:cNvSpPr>
          <p:nvPr>
            <p:ph type="subTitle" idx="1"/>
          </p:nvPr>
        </p:nvSpPr>
        <p:spPr>
          <a:xfrm>
            <a:off x="1476375" y="3276600"/>
            <a:ext cx="6400800" cy="1752600"/>
          </a:xfrm>
          <a:ln w="9525"/>
          <a:extLst>
            <a:ext uri="{91240B29-F687-4F45-9708-019B960494DF}">
              <a14:hiddenLine xmlns:a14="http://schemas.microsoft.com/office/drawing/2010/main" w="6350">
                <a:solidFill>
                  <a:srgbClr val="000000"/>
                </a:solidFill>
                <a:miter lim="800000"/>
                <a:headEnd/>
                <a:tailEnd/>
              </a14:hiddenLine>
            </a:ext>
          </a:extLst>
        </p:spPr>
        <p:txBody>
          <a:bodyPr/>
          <a:lstStyle/>
          <a:p>
            <a:pPr eaLnBrk="1" hangingPunct="1"/>
            <a:r>
              <a:rPr lang="en-US" altLang="zh-CN" sz="3600" b="1">
                <a:solidFill>
                  <a:srgbClr val="70217D"/>
                </a:solidFill>
              </a:rPr>
              <a:t>Singular value decomposition</a:t>
            </a:r>
          </a:p>
          <a:p>
            <a:pPr eaLnBrk="1" hangingPunct="1"/>
            <a:r>
              <a:rPr lang="en-US" altLang="zh-CN" sz="3600" b="1">
                <a:solidFill>
                  <a:srgbClr val="70217D"/>
                </a:solidFill>
              </a:rPr>
              <a:t>(SVD)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13CFE328-C960-4971-BFF8-7D1740B1BCBC}"/>
              </a:ext>
            </a:extLst>
          </p:cNvPr>
          <p:cNvSpPr>
            <a:spLocks noGrp="1" noChangeArrowheads="1"/>
          </p:cNvSpPr>
          <p:nvPr>
            <p:ph type="title"/>
          </p:nvPr>
        </p:nvSpPr>
        <p:spPr>
          <a:xfrm>
            <a:off x="990600" y="0"/>
            <a:ext cx="7772400" cy="914400"/>
          </a:xfrm>
        </p:spPr>
        <p:txBody>
          <a:bodyPr/>
          <a:lstStyle/>
          <a:p>
            <a:pPr eaLnBrk="1" hangingPunct="1"/>
            <a:r>
              <a:rPr lang="zh-CN" altLang="en-US" sz="4000" b="1">
                <a:effectLst>
                  <a:outerShdw blurRad="38100" dist="38100" dir="2700000" algn="tl">
                    <a:srgbClr val="C0C0C0"/>
                  </a:outerShdw>
                </a:effectLst>
                <a:cs typeface="Times New Roman" panose="02020603050405020304" pitchFamily="18" charset="0"/>
              </a:rPr>
              <a:t>§3</a:t>
            </a:r>
            <a:r>
              <a:rPr lang="zh-CN" altLang="en-US" sz="4000" b="1">
                <a:effectLst>
                  <a:outerShdw blurRad="38100" dist="38100" dir="2700000" algn="tl">
                    <a:srgbClr val="C0C0C0"/>
                  </a:outerShdw>
                </a:effectLst>
                <a:sym typeface="Symbol" pitchFamily="2" charset="2"/>
              </a:rPr>
              <a:t></a:t>
            </a:r>
            <a:r>
              <a:rPr lang="zh-CN" altLang="en-US" sz="4000" b="1">
                <a:effectLst>
                  <a:outerShdw blurRad="38100" dist="38100" dir="2700000" algn="tl">
                    <a:srgbClr val="C0C0C0"/>
                  </a:outerShdw>
                </a:effectLst>
              </a:rPr>
              <a:t>3   矩阵的奇异值分解</a:t>
            </a:r>
          </a:p>
        </p:txBody>
      </p:sp>
      <p:sp>
        <p:nvSpPr>
          <p:cNvPr id="21507" name="Rectangle 3">
            <a:extLst>
              <a:ext uri="{FF2B5EF4-FFF2-40B4-BE49-F238E27FC236}">
                <a16:creationId xmlns:a16="http://schemas.microsoft.com/office/drawing/2014/main" id="{29C8B2D9-DFF4-4419-803C-19743F69165F}"/>
              </a:ext>
            </a:extLst>
          </p:cNvPr>
          <p:cNvSpPr>
            <a:spLocks noGrp="1" noChangeArrowheads="1"/>
          </p:cNvSpPr>
          <p:nvPr>
            <p:ph type="body" idx="1"/>
          </p:nvPr>
        </p:nvSpPr>
        <p:spPr>
          <a:xfrm>
            <a:off x="304800" y="1052513"/>
            <a:ext cx="8839200" cy="4113212"/>
          </a:xfrm>
        </p:spPr>
        <p:txBody>
          <a:bodyPr/>
          <a:lstStyle/>
          <a:p>
            <a:pPr eaLnBrk="1" hangingPunct="1"/>
            <a:r>
              <a:rPr lang="zh-CN" altLang="en-US" b="1">
                <a:solidFill>
                  <a:srgbClr val="CC6600"/>
                </a:solidFill>
              </a:rPr>
              <a:t>概述</a:t>
            </a:r>
            <a:r>
              <a:rPr lang="zh-CN" altLang="en-US"/>
              <a:t>：</a:t>
            </a:r>
          </a:p>
          <a:p>
            <a:pPr lvl="1" eaLnBrk="1" hangingPunct="1"/>
            <a:r>
              <a:rPr lang="zh-CN" altLang="en-US" b="1">
                <a:solidFill>
                  <a:srgbClr val="003300"/>
                </a:solidFill>
              </a:rPr>
              <a:t> 矩阵的奇异值分解是</a:t>
            </a:r>
            <a:r>
              <a:rPr lang="zh-CN" altLang="en-US" b="1">
                <a:solidFill>
                  <a:srgbClr val="0000FF"/>
                </a:solidFill>
              </a:rPr>
              <a:t>酉等价型</a:t>
            </a:r>
            <a:r>
              <a:rPr lang="zh-CN" altLang="en-US" b="1">
                <a:solidFill>
                  <a:srgbClr val="003300"/>
                </a:solidFill>
              </a:rPr>
              <a:t>的分解: </a:t>
            </a:r>
            <a:r>
              <a:rPr lang="en-US" altLang="zh-CN" b="1">
                <a:solidFill>
                  <a:srgbClr val="003300"/>
                </a:solidFill>
              </a:rPr>
              <a:t>A</a:t>
            </a:r>
            <a:r>
              <a:rPr lang="en-US" altLang="zh-CN" b="1">
                <a:solidFill>
                  <a:srgbClr val="003300"/>
                </a:solidFill>
                <a:sym typeface="Symbol" pitchFamily="2" charset="2"/>
              </a:rPr>
              <a:t>C</a:t>
            </a:r>
            <a:r>
              <a:rPr lang="en-US" altLang="zh-CN" b="1" baseline="30000">
                <a:solidFill>
                  <a:srgbClr val="003300"/>
                </a:solidFill>
                <a:sym typeface="Symbol" pitchFamily="2" charset="2"/>
              </a:rPr>
              <a:t>m</a:t>
            </a:r>
            <a:r>
              <a:rPr lang="en-US" altLang="zh-CN" b="1" baseline="30000">
                <a:solidFill>
                  <a:srgbClr val="003300"/>
                </a:solidFill>
                <a:cs typeface="Times New Roman" panose="02020603050405020304" pitchFamily="18" charset="0"/>
                <a:sym typeface="Symbol" pitchFamily="2" charset="2"/>
              </a:rPr>
              <a:t>×</a:t>
            </a:r>
            <a:r>
              <a:rPr lang="en-US" altLang="zh-CN" b="1" baseline="30000">
                <a:solidFill>
                  <a:srgbClr val="003300"/>
                </a:solidFill>
                <a:sym typeface="Symbol" pitchFamily="2" charset="2"/>
              </a:rPr>
              <a:t>n</a:t>
            </a:r>
            <a:r>
              <a:rPr lang="en-US" altLang="zh-CN" b="1">
                <a:solidFill>
                  <a:srgbClr val="003300"/>
                </a:solidFill>
                <a:sym typeface="Symbol" pitchFamily="2" charset="2"/>
              </a:rPr>
              <a:t>，       </a:t>
            </a:r>
            <a:r>
              <a:rPr lang="zh-CN" altLang="en-US" b="1">
                <a:solidFill>
                  <a:srgbClr val="003300"/>
                </a:solidFill>
                <a:sym typeface="Symbol" pitchFamily="2" charset="2"/>
              </a:rPr>
              <a:t>存在酉矩阵</a:t>
            </a:r>
            <a:r>
              <a:rPr lang="en-US" altLang="zh-CN" b="1">
                <a:solidFill>
                  <a:srgbClr val="003300"/>
                </a:solidFill>
              </a:rPr>
              <a:t>U</a:t>
            </a:r>
            <a:r>
              <a:rPr lang="en-US" altLang="zh-CN" b="1">
                <a:solidFill>
                  <a:srgbClr val="003300"/>
                </a:solidFill>
                <a:sym typeface="Symbol" pitchFamily="2" charset="2"/>
              </a:rPr>
              <a:t>C</a:t>
            </a:r>
            <a:r>
              <a:rPr lang="en-US" altLang="zh-CN" b="1" baseline="30000">
                <a:solidFill>
                  <a:srgbClr val="003300"/>
                </a:solidFill>
                <a:sym typeface="Symbol" pitchFamily="2" charset="2"/>
              </a:rPr>
              <a:t>m</a:t>
            </a:r>
            <a:r>
              <a:rPr lang="en-US" altLang="zh-CN" b="1" baseline="30000">
                <a:solidFill>
                  <a:srgbClr val="003300"/>
                </a:solidFill>
                <a:cs typeface="Times New Roman" panose="02020603050405020304" pitchFamily="18" charset="0"/>
                <a:sym typeface="Symbol" pitchFamily="2" charset="2"/>
              </a:rPr>
              <a:t>×</a:t>
            </a:r>
            <a:r>
              <a:rPr lang="en-US" altLang="zh-CN" b="1" baseline="30000">
                <a:solidFill>
                  <a:srgbClr val="003300"/>
                </a:solidFill>
                <a:sym typeface="Symbol" pitchFamily="2" charset="2"/>
              </a:rPr>
              <a:t>m</a:t>
            </a:r>
            <a:r>
              <a:rPr lang="en-US" altLang="zh-CN" b="1">
                <a:solidFill>
                  <a:srgbClr val="003300"/>
                </a:solidFill>
              </a:rPr>
              <a:t>, V</a:t>
            </a:r>
            <a:r>
              <a:rPr lang="en-US" altLang="zh-CN" b="1">
                <a:solidFill>
                  <a:srgbClr val="003300"/>
                </a:solidFill>
                <a:sym typeface="Symbol" pitchFamily="2" charset="2"/>
              </a:rPr>
              <a:t>C</a:t>
            </a:r>
            <a:r>
              <a:rPr lang="en-US" altLang="zh-CN" b="1" baseline="30000">
                <a:solidFill>
                  <a:srgbClr val="003300"/>
                </a:solidFill>
                <a:sym typeface="Symbol" pitchFamily="2" charset="2"/>
              </a:rPr>
              <a:t>n</a:t>
            </a:r>
            <a:r>
              <a:rPr lang="en-US" altLang="zh-CN" b="1" baseline="30000">
                <a:solidFill>
                  <a:srgbClr val="003300"/>
                </a:solidFill>
                <a:cs typeface="Times New Roman" panose="02020603050405020304" pitchFamily="18" charset="0"/>
                <a:sym typeface="Symbol" pitchFamily="2" charset="2"/>
              </a:rPr>
              <a:t>×</a:t>
            </a:r>
            <a:r>
              <a:rPr lang="en-US" altLang="zh-CN" b="1" baseline="30000">
                <a:solidFill>
                  <a:srgbClr val="003300"/>
                </a:solidFill>
                <a:sym typeface="Symbol" pitchFamily="2" charset="2"/>
              </a:rPr>
              <a:t>n   ,</a:t>
            </a:r>
            <a:r>
              <a:rPr lang="zh-CN" altLang="en-US" b="1">
                <a:solidFill>
                  <a:srgbClr val="003300"/>
                </a:solidFill>
                <a:sym typeface="Symbol" pitchFamily="2" charset="2"/>
              </a:rPr>
              <a:t>使得 </a:t>
            </a:r>
            <a:r>
              <a:rPr lang="en-US" altLang="zh-CN" b="1">
                <a:solidFill>
                  <a:srgbClr val="003300"/>
                </a:solidFill>
              </a:rPr>
              <a:t>A = U</a:t>
            </a:r>
            <a:r>
              <a:rPr lang="en-US" altLang="zh-CN" b="1">
                <a:solidFill>
                  <a:srgbClr val="003300"/>
                </a:solidFill>
                <a:sym typeface="Symbol" pitchFamily="2" charset="2"/>
              </a:rPr>
              <a:t></a:t>
            </a:r>
            <a:r>
              <a:rPr lang="en-US" altLang="zh-CN" b="1">
                <a:solidFill>
                  <a:srgbClr val="003300"/>
                </a:solidFill>
              </a:rPr>
              <a:t>V</a:t>
            </a:r>
            <a:r>
              <a:rPr lang="en-US" altLang="zh-CN" b="1" baseline="30000">
                <a:solidFill>
                  <a:srgbClr val="003300"/>
                </a:solidFill>
              </a:rPr>
              <a:t>H</a:t>
            </a:r>
            <a:r>
              <a:rPr lang="en-US" altLang="zh-CN" b="1">
                <a:solidFill>
                  <a:srgbClr val="003300"/>
                </a:solidFill>
              </a:rPr>
              <a:t>。</a:t>
            </a:r>
          </a:p>
          <a:p>
            <a:pPr lvl="1" eaLnBrk="1" hangingPunct="1"/>
            <a:endParaRPr lang="zh-CN" altLang="en-US" b="1">
              <a:solidFill>
                <a:srgbClr val="003300"/>
              </a:solidFill>
              <a:effectLst>
                <a:outerShdw blurRad="38100" dist="38100" dir="2700000" algn="tl">
                  <a:srgbClr val="C0C0C0"/>
                </a:outerShdw>
              </a:effectLst>
            </a:endParaRPr>
          </a:p>
          <a:p>
            <a:pPr lvl="1" eaLnBrk="1" hangingPunct="1"/>
            <a:r>
              <a:rPr lang="zh-CN" altLang="en-US" b="1">
                <a:solidFill>
                  <a:srgbClr val="003300"/>
                </a:solidFill>
                <a:effectLst>
                  <a:outerShdw blurRad="38100" dist="38100" dir="2700000" algn="tl">
                    <a:srgbClr val="C0C0C0"/>
                  </a:outerShdw>
                </a:effectLst>
              </a:rPr>
              <a:t> </a:t>
            </a:r>
            <a:r>
              <a:rPr lang="zh-CN" altLang="en-US" b="1">
                <a:solidFill>
                  <a:srgbClr val="003300"/>
                </a:solidFill>
              </a:rPr>
              <a:t>矩阵</a:t>
            </a:r>
            <a:r>
              <a:rPr lang="en-US" altLang="zh-CN" b="1">
                <a:solidFill>
                  <a:srgbClr val="003300"/>
                </a:solidFill>
              </a:rPr>
              <a:t>A</a:t>
            </a:r>
            <a:r>
              <a:rPr lang="zh-CN" altLang="en-US" b="1">
                <a:solidFill>
                  <a:srgbClr val="003300"/>
                </a:solidFill>
              </a:rPr>
              <a:t>等价于</a:t>
            </a:r>
            <a:r>
              <a:rPr lang="en-US" altLang="zh-CN" b="1">
                <a:solidFill>
                  <a:srgbClr val="003300"/>
                </a:solidFill>
                <a:sym typeface="Symbol" pitchFamily="2" charset="2"/>
              </a:rPr>
              <a:t> =</a:t>
            </a:r>
            <a:r>
              <a:rPr lang="en-US" altLang="zh-CN" b="1">
                <a:solidFill>
                  <a:srgbClr val="003300"/>
                </a:solidFill>
                <a:effectLst>
                  <a:outerShdw blurRad="38100" dist="38100" dir="2700000" algn="tl">
                    <a:srgbClr val="C0C0C0"/>
                  </a:outerShdw>
                </a:effectLst>
                <a:sym typeface="Symbol" pitchFamily="2" charset="2"/>
              </a:rPr>
              <a:t>  </a:t>
            </a:r>
          </a:p>
        </p:txBody>
      </p:sp>
      <p:graphicFrame>
        <p:nvGraphicFramePr>
          <p:cNvPr id="21508" name="Object 4">
            <a:extLst>
              <a:ext uri="{FF2B5EF4-FFF2-40B4-BE49-F238E27FC236}">
                <a16:creationId xmlns:a16="http://schemas.microsoft.com/office/drawing/2014/main" id="{5AC99609-B5F2-A9B2-43E9-B6A9F83D88F6}"/>
              </a:ext>
            </a:extLst>
          </p:cNvPr>
          <p:cNvGraphicFramePr>
            <a:graphicFrameLocks noChangeAspect="1"/>
          </p:cNvGraphicFramePr>
          <p:nvPr/>
        </p:nvGraphicFramePr>
        <p:xfrm>
          <a:off x="3743325" y="2743200"/>
          <a:ext cx="1930400" cy="1524000"/>
        </p:xfrm>
        <a:graphic>
          <a:graphicData uri="http://schemas.openxmlformats.org/presentationml/2006/ole">
            <mc:AlternateContent xmlns:mc="http://schemas.openxmlformats.org/markup-compatibility/2006">
              <mc:Choice xmlns:v="urn:schemas-microsoft-com:vml" Requires="v">
                <p:oleObj name="公式" r:id="rId2" imgW="774700" imgH="546100" progId="Equation.3">
                  <p:embed/>
                </p:oleObj>
              </mc:Choice>
              <mc:Fallback>
                <p:oleObj name="公式" r:id="rId2" imgW="774700" imgH="5461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3325" y="2743200"/>
                        <a:ext cx="1930400" cy="152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0" name="Rectangle 6">
            <a:extLst>
              <a:ext uri="{FF2B5EF4-FFF2-40B4-BE49-F238E27FC236}">
                <a16:creationId xmlns:a16="http://schemas.microsoft.com/office/drawing/2014/main" id="{CED535F2-C1AE-4568-9FAB-5A65DB92648C}"/>
              </a:ext>
            </a:extLst>
          </p:cNvPr>
          <p:cNvSpPr>
            <a:spLocks noChangeArrowheads="1"/>
          </p:cNvSpPr>
          <p:nvPr/>
        </p:nvSpPr>
        <p:spPr bwMode="auto">
          <a:xfrm>
            <a:off x="395288" y="4437063"/>
            <a:ext cx="8291512" cy="2057400"/>
          </a:xfrm>
          <a:prstGeom prst="rect">
            <a:avLst/>
          </a:prstGeom>
          <a:noFill/>
          <a:ln w="9525">
            <a:noFill/>
            <a:miter lim="800000"/>
            <a:headEnd/>
            <a:tailEnd/>
          </a:ln>
          <a:effectLst/>
        </p:spPr>
        <p:txBody>
          <a:bodyPr>
            <a:spAutoFit/>
          </a:bodyPr>
          <a:lstStyle>
            <a:lvl1pPr marL="342900" indent="-342900">
              <a:spcBef>
                <a:spcPct val="20000"/>
              </a:spcBef>
              <a:buBlip>
                <a:blip r:embed="rId4"/>
              </a:buBlip>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Font typeface="Wingdings" pitchFamily="2" charset="2"/>
              <a:buBlip>
                <a:blip r:embed="rId5"/>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9pPr>
          </a:lstStyle>
          <a:p>
            <a:pPr lvl="1" eaLnBrk="1" hangingPunct="1">
              <a:buFont typeface="Wingdings" pitchFamily="2" charset="2"/>
              <a:buChar char="w"/>
            </a:pPr>
            <a:r>
              <a:rPr lang="zh-CN" altLang="en-US" b="1">
                <a:solidFill>
                  <a:srgbClr val="003300"/>
                </a:solidFill>
                <a:effectLst>
                  <a:outerShdw blurRad="38100" dist="38100" dir="2700000" algn="tl">
                    <a:srgbClr val="C0C0C0"/>
                  </a:outerShdw>
                </a:effectLst>
                <a:sym typeface="Symbol" pitchFamily="2" charset="2"/>
              </a:rPr>
              <a:t> </a:t>
            </a:r>
            <a:r>
              <a:rPr lang="zh-CN" altLang="en-US" b="1">
                <a:solidFill>
                  <a:srgbClr val="003300"/>
                </a:solidFill>
                <a:sym typeface="Symbol" pitchFamily="2" charset="2"/>
              </a:rPr>
              <a:t>奇异值分解基本适用于</a:t>
            </a:r>
            <a:r>
              <a:rPr lang="zh-CN" altLang="en-US" b="1" u="sng">
                <a:solidFill>
                  <a:srgbClr val="003300"/>
                </a:solidFill>
                <a:sym typeface="Symbol" pitchFamily="2" charset="2"/>
              </a:rPr>
              <a:t>内积空间</a:t>
            </a:r>
            <a:r>
              <a:rPr lang="zh-CN" altLang="en-US" b="1">
                <a:solidFill>
                  <a:srgbClr val="003300"/>
                </a:solidFill>
                <a:sym typeface="Symbol" pitchFamily="2" charset="2"/>
              </a:rPr>
              <a:t>中与矩阵秩相 </a:t>
            </a:r>
          </a:p>
          <a:p>
            <a:pPr lvl="1" eaLnBrk="1" hangingPunct="1">
              <a:buFont typeface="Wingdings" pitchFamily="2" charset="2"/>
              <a:buNone/>
            </a:pPr>
            <a:r>
              <a:rPr lang="zh-CN" altLang="en-US" b="1">
                <a:solidFill>
                  <a:srgbClr val="003300"/>
                </a:solidFill>
                <a:sym typeface="Symbol" pitchFamily="2" charset="2"/>
              </a:rPr>
              <a:t>     关的问题 </a:t>
            </a:r>
          </a:p>
          <a:p>
            <a:pPr lvl="1" eaLnBrk="1" hangingPunct="1">
              <a:buFont typeface="Wingdings" pitchFamily="2" charset="2"/>
              <a:buChar char="w"/>
            </a:pPr>
            <a:r>
              <a:rPr lang="en-US" altLang="zh-CN" b="1">
                <a:solidFill>
                  <a:srgbClr val="003300"/>
                </a:solidFill>
              </a:rPr>
              <a:t> A</a:t>
            </a:r>
            <a:r>
              <a:rPr lang="zh-CN" altLang="en-US" b="1">
                <a:solidFill>
                  <a:srgbClr val="003300"/>
                </a:solidFill>
              </a:rPr>
              <a:t>的奇异值分解依赖于正规矩阵</a:t>
            </a:r>
            <a:r>
              <a:rPr lang="en-US" altLang="zh-CN" b="1">
                <a:solidFill>
                  <a:srgbClr val="003300"/>
                </a:solidFill>
              </a:rPr>
              <a:t>A</a:t>
            </a:r>
            <a:r>
              <a:rPr lang="en-US" altLang="zh-CN" b="1" baseline="30000">
                <a:solidFill>
                  <a:srgbClr val="003300"/>
                </a:solidFill>
              </a:rPr>
              <a:t>H</a:t>
            </a:r>
            <a:r>
              <a:rPr lang="en-US" altLang="zh-CN" b="1">
                <a:solidFill>
                  <a:srgbClr val="003300"/>
                </a:solidFill>
              </a:rPr>
              <a:t>A</a:t>
            </a:r>
            <a:r>
              <a:rPr lang="en-US" altLang="zh-CN" b="1" baseline="30000">
                <a:solidFill>
                  <a:srgbClr val="003300"/>
                </a:solidFill>
              </a:rPr>
              <a:t> </a:t>
            </a:r>
            <a:r>
              <a:rPr lang="zh-CN" altLang="en-US" b="1">
                <a:solidFill>
                  <a:srgbClr val="003300"/>
                </a:solidFill>
              </a:rPr>
              <a:t>的酉相似</a:t>
            </a:r>
          </a:p>
          <a:p>
            <a:pPr lvl="1" eaLnBrk="1" hangingPunct="1">
              <a:buFont typeface="Wingdings" pitchFamily="2" charset="2"/>
              <a:buNone/>
            </a:pPr>
            <a:r>
              <a:rPr lang="zh-CN" altLang="en-US" b="1">
                <a:solidFill>
                  <a:srgbClr val="003300"/>
                </a:solidFill>
              </a:rPr>
              <a:t>     分解。</a:t>
            </a:r>
          </a:p>
        </p:txBody>
      </p:sp>
      <p:graphicFrame>
        <p:nvGraphicFramePr>
          <p:cNvPr id="21511" name="Object 7">
            <a:extLst>
              <a:ext uri="{FF2B5EF4-FFF2-40B4-BE49-F238E27FC236}">
                <a16:creationId xmlns:a16="http://schemas.microsoft.com/office/drawing/2014/main" id="{351AF0F4-F5B1-34FA-82BE-BE876E385F52}"/>
              </a:ext>
            </a:extLst>
          </p:cNvPr>
          <p:cNvGraphicFramePr>
            <a:graphicFrameLocks noChangeAspect="1"/>
          </p:cNvGraphicFramePr>
          <p:nvPr/>
        </p:nvGraphicFramePr>
        <p:xfrm>
          <a:off x="5759450" y="2492375"/>
          <a:ext cx="2782888" cy="1905000"/>
        </p:xfrm>
        <a:graphic>
          <a:graphicData uri="http://schemas.openxmlformats.org/presentationml/2006/ole">
            <mc:AlternateContent xmlns:mc="http://schemas.openxmlformats.org/markup-compatibility/2006">
              <mc:Choice xmlns:v="urn:schemas-microsoft-com:vml" Requires="v">
                <p:oleObj name="公式" r:id="rId6" imgW="1574800" imgH="1104900" progId="Equation.3">
                  <p:embed/>
                </p:oleObj>
              </mc:Choice>
              <mc:Fallback>
                <p:oleObj name="公式" r:id="rId6" imgW="1574800" imgH="11049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59450" y="2492375"/>
                        <a:ext cx="2782888" cy="190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 calcmode="lin" valueType="num">
                                      <p:cBhvr additive="base">
                                        <p:cTn id="7" dur="500" fill="hold"/>
                                        <p:tgtEl>
                                          <p:spTgt spid="215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5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1507">
                                            <p:txEl>
                                              <p:pRg st="1" end="1"/>
                                            </p:txEl>
                                          </p:spTgt>
                                        </p:tgtEl>
                                        <p:attrNameLst>
                                          <p:attrName>style.visibility</p:attrName>
                                        </p:attrNameLst>
                                      </p:cBhvr>
                                      <p:to>
                                        <p:strVal val="visible"/>
                                      </p:to>
                                    </p:set>
                                    <p:anim calcmode="lin" valueType="num">
                                      <p:cBhvr additive="base">
                                        <p:cTn id="13" dur="500" fill="hold"/>
                                        <p:tgtEl>
                                          <p:spTgt spid="2150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50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1507">
                                            <p:txEl>
                                              <p:pRg st="3" end="3"/>
                                            </p:txEl>
                                          </p:spTgt>
                                        </p:tgtEl>
                                        <p:attrNameLst>
                                          <p:attrName>style.visibility</p:attrName>
                                        </p:attrNameLst>
                                      </p:cBhvr>
                                      <p:to>
                                        <p:strVal val="visible"/>
                                      </p:to>
                                    </p:set>
                                    <p:anim calcmode="lin" valueType="num">
                                      <p:cBhvr additive="base">
                                        <p:cTn id="19" dur="500" fill="hold"/>
                                        <p:tgtEl>
                                          <p:spTgt spid="21507">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50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1508"/>
                                        </p:tgtEl>
                                        <p:attrNameLst>
                                          <p:attrName>style.visibility</p:attrName>
                                        </p:attrNameLst>
                                      </p:cBhvr>
                                      <p:to>
                                        <p:strVal val="visible"/>
                                      </p:to>
                                    </p:set>
                                    <p:anim calcmode="lin" valueType="num">
                                      <p:cBhvr additive="base">
                                        <p:cTn id="25" dur="500" fill="hold"/>
                                        <p:tgtEl>
                                          <p:spTgt spid="21508"/>
                                        </p:tgtEl>
                                        <p:attrNameLst>
                                          <p:attrName>ppt_x</p:attrName>
                                        </p:attrNameLst>
                                      </p:cBhvr>
                                      <p:tavLst>
                                        <p:tav tm="0">
                                          <p:val>
                                            <p:strVal val="0-#ppt_w/2"/>
                                          </p:val>
                                        </p:tav>
                                        <p:tav tm="100000">
                                          <p:val>
                                            <p:strVal val="#ppt_x"/>
                                          </p:val>
                                        </p:tav>
                                      </p:tavLst>
                                    </p:anim>
                                    <p:anim calcmode="lin" valueType="num">
                                      <p:cBhvr additive="base">
                                        <p:cTn id="26" dur="500" fill="hold"/>
                                        <p:tgtEl>
                                          <p:spTgt spid="21508"/>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21511"/>
                                        </p:tgtEl>
                                        <p:attrNameLst>
                                          <p:attrName>style.visibility</p:attrName>
                                        </p:attrNameLst>
                                      </p:cBhvr>
                                      <p:to>
                                        <p:strVal val="visible"/>
                                      </p:to>
                                    </p:set>
                                    <p:anim calcmode="lin" valueType="num">
                                      <p:cBhvr additive="base">
                                        <p:cTn id="31" dur="500" fill="hold"/>
                                        <p:tgtEl>
                                          <p:spTgt spid="21511"/>
                                        </p:tgtEl>
                                        <p:attrNameLst>
                                          <p:attrName>ppt_x</p:attrName>
                                        </p:attrNameLst>
                                      </p:cBhvr>
                                      <p:tavLst>
                                        <p:tav tm="0">
                                          <p:val>
                                            <p:strVal val="0-#ppt_w/2"/>
                                          </p:val>
                                        </p:tav>
                                        <p:tav tm="100000">
                                          <p:val>
                                            <p:strVal val="#ppt_x"/>
                                          </p:val>
                                        </p:tav>
                                      </p:tavLst>
                                    </p:anim>
                                    <p:anim calcmode="lin" valueType="num">
                                      <p:cBhvr additive="base">
                                        <p:cTn id="32" dur="500" fill="hold"/>
                                        <p:tgtEl>
                                          <p:spTgt spid="21511"/>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21510">
                                            <p:txEl>
                                              <p:pRg st="0" end="0"/>
                                            </p:txEl>
                                          </p:spTgt>
                                        </p:tgtEl>
                                        <p:attrNameLst>
                                          <p:attrName>style.visibility</p:attrName>
                                        </p:attrNameLst>
                                      </p:cBhvr>
                                      <p:to>
                                        <p:strVal val="visible"/>
                                      </p:to>
                                    </p:set>
                                    <p:anim calcmode="lin" valueType="num">
                                      <p:cBhvr additive="base">
                                        <p:cTn id="37" dur="500" fill="hold"/>
                                        <p:tgtEl>
                                          <p:spTgt spid="21510">
                                            <p:txEl>
                                              <p:pRg st="0" end="0"/>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1510">
                                            <p:txEl>
                                              <p:pRg st="0" end="0"/>
                                            </p:txEl>
                                          </p:spTgt>
                                        </p:tgtEl>
                                        <p:attrNameLst>
                                          <p:attrName>ppt_y</p:attrName>
                                        </p:attrNameLst>
                                      </p:cBhvr>
                                      <p:tavLst>
                                        <p:tav tm="0">
                                          <p:val>
                                            <p:strVal val="#ppt_y"/>
                                          </p:val>
                                        </p:tav>
                                        <p:tav tm="100000">
                                          <p:val>
                                            <p:strVal val="#ppt_y"/>
                                          </p:val>
                                        </p:tav>
                                      </p:tavLst>
                                    </p:anim>
                                  </p:childTnLst>
                                </p:cTn>
                              </p:par>
                            </p:childTnLst>
                          </p:cTn>
                        </p:par>
                        <p:par>
                          <p:cTn id="39" fill="hold" nodeType="afterGroup">
                            <p:stCondLst>
                              <p:cond delay="500"/>
                            </p:stCondLst>
                            <p:childTnLst>
                              <p:par>
                                <p:cTn id="40" presetID="2" presetClass="entr" presetSubtype="8" fill="hold" nodeType="afterEffect">
                                  <p:stCondLst>
                                    <p:cond delay="0"/>
                                  </p:stCondLst>
                                  <p:childTnLst>
                                    <p:set>
                                      <p:cBhvr>
                                        <p:cTn id="41" dur="1" fill="hold">
                                          <p:stCondLst>
                                            <p:cond delay="0"/>
                                          </p:stCondLst>
                                        </p:cTn>
                                        <p:tgtEl>
                                          <p:spTgt spid="21510">
                                            <p:txEl>
                                              <p:pRg st="1" end="1"/>
                                            </p:txEl>
                                          </p:spTgt>
                                        </p:tgtEl>
                                        <p:attrNameLst>
                                          <p:attrName>style.visibility</p:attrName>
                                        </p:attrNameLst>
                                      </p:cBhvr>
                                      <p:to>
                                        <p:strVal val="visible"/>
                                      </p:to>
                                    </p:set>
                                    <p:anim calcmode="lin" valueType="num">
                                      <p:cBhvr additive="base">
                                        <p:cTn id="42" dur="500" fill="hold"/>
                                        <p:tgtEl>
                                          <p:spTgt spid="21510">
                                            <p:txEl>
                                              <p:pRg st="1" end="1"/>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2151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8" fill="hold" nodeType="clickEffect">
                                  <p:stCondLst>
                                    <p:cond delay="0"/>
                                  </p:stCondLst>
                                  <p:childTnLst>
                                    <p:set>
                                      <p:cBhvr>
                                        <p:cTn id="47" dur="1" fill="hold">
                                          <p:stCondLst>
                                            <p:cond delay="0"/>
                                          </p:stCondLst>
                                        </p:cTn>
                                        <p:tgtEl>
                                          <p:spTgt spid="21510">
                                            <p:txEl>
                                              <p:pRg st="2" end="2"/>
                                            </p:txEl>
                                          </p:spTgt>
                                        </p:tgtEl>
                                        <p:attrNameLst>
                                          <p:attrName>style.visibility</p:attrName>
                                        </p:attrNameLst>
                                      </p:cBhvr>
                                      <p:to>
                                        <p:strVal val="visible"/>
                                      </p:to>
                                    </p:set>
                                    <p:anim calcmode="lin" valueType="num">
                                      <p:cBhvr additive="base">
                                        <p:cTn id="48" dur="500" fill="hold"/>
                                        <p:tgtEl>
                                          <p:spTgt spid="21510">
                                            <p:txEl>
                                              <p:pRg st="2" end="2"/>
                                            </p:txEl>
                                          </p:spTgt>
                                        </p:tgtEl>
                                        <p:attrNameLst>
                                          <p:attrName>ppt_x</p:attrName>
                                        </p:attrNameLst>
                                      </p:cBhvr>
                                      <p:tavLst>
                                        <p:tav tm="0">
                                          <p:val>
                                            <p:strVal val="0-#ppt_w/2"/>
                                          </p:val>
                                        </p:tav>
                                        <p:tav tm="100000">
                                          <p:val>
                                            <p:strVal val="#ppt_x"/>
                                          </p:val>
                                        </p:tav>
                                      </p:tavLst>
                                    </p:anim>
                                    <p:anim calcmode="lin" valueType="num">
                                      <p:cBhvr additive="base">
                                        <p:cTn id="49" dur="500" fill="hold"/>
                                        <p:tgtEl>
                                          <p:spTgt spid="21510">
                                            <p:txEl>
                                              <p:pRg st="2" end="2"/>
                                            </p:txEl>
                                          </p:spTgt>
                                        </p:tgtEl>
                                        <p:attrNameLst>
                                          <p:attrName>ppt_y</p:attrName>
                                        </p:attrNameLst>
                                      </p:cBhvr>
                                      <p:tavLst>
                                        <p:tav tm="0">
                                          <p:val>
                                            <p:strVal val="#ppt_y"/>
                                          </p:val>
                                        </p:tav>
                                        <p:tav tm="100000">
                                          <p:val>
                                            <p:strVal val="#ppt_y"/>
                                          </p:val>
                                        </p:tav>
                                      </p:tavLst>
                                    </p:anim>
                                  </p:childTnLst>
                                </p:cTn>
                              </p:par>
                            </p:childTnLst>
                          </p:cTn>
                        </p:par>
                        <p:par>
                          <p:cTn id="50" fill="hold" nodeType="afterGroup">
                            <p:stCondLst>
                              <p:cond delay="500"/>
                            </p:stCondLst>
                            <p:childTnLst>
                              <p:par>
                                <p:cTn id="51" presetID="2" presetClass="entr" presetSubtype="8" fill="hold" nodeType="afterEffect">
                                  <p:stCondLst>
                                    <p:cond delay="0"/>
                                  </p:stCondLst>
                                  <p:childTnLst>
                                    <p:set>
                                      <p:cBhvr>
                                        <p:cTn id="52" dur="1" fill="hold">
                                          <p:stCondLst>
                                            <p:cond delay="0"/>
                                          </p:stCondLst>
                                        </p:cTn>
                                        <p:tgtEl>
                                          <p:spTgt spid="21510">
                                            <p:txEl>
                                              <p:pRg st="3" end="3"/>
                                            </p:txEl>
                                          </p:spTgt>
                                        </p:tgtEl>
                                        <p:attrNameLst>
                                          <p:attrName>style.visibility</p:attrName>
                                        </p:attrNameLst>
                                      </p:cBhvr>
                                      <p:to>
                                        <p:strVal val="visible"/>
                                      </p:to>
                                    </p:set>
                                    <p:anim calcmode="lin" valueType="num">
                                      <p:cBhvr additive="base">
                                        <p:cTn id="53" dur="500" fill="hold"/>
                                        <p:tgtEl>
                                          <p:spTgt spid="21510">
                                            <p:txEl>
                                              <p:pRg st="3" end="3"/>
                                            </p:tx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21510">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bldLvl="2" autoUpdateAnimBg="0"/>
      <p:bldP spid="21510" grpId="0" uiExpand="1" build="p" bldLvl="2"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70CA1DDB-0412-4EAC-8E16-9657A91A152A}"/>
              </a:ext>
            </a:extLst>
          </p:cNvPr>
          <p:cNvSpPr>
            <a:spLocks noGrp="1" noChangeArrowheads="1"/>
          </p:cNvSpPr>
          <p:nvPr>
            <p:ph type="title"/>
          </p:nvPr>
        </p:nvSpPr>
        <p:spPr>
          <a:xfrm>
            <a:off x="762000" y="0"/>
            <a:ext cx="7772400" cy="685800"/>
          </a:xfrm>
        </p:spPr>
        <p:txBody>
          <a:bodyPr/>
          <a:lstStyle/>
          <a:p>
            <a:pPr eaLnBrk="1" hangingPunct="1"/>
            <a:r>
              <a:rPr lang="zh-CN" altLang="en-US" sz="3200" b="1">
                <a:solidFill>
                  <a:srgbClr val="CC6600"/>
                </a:solidFill>
                <a:effectLst>
                  <a:outerShdw blurRad="38100" dist="38100" dir="2700000" algn="tl">
                    <a:srgbClr val="C0C0C0"/>
                  </a:outerShdw>
                </a:effectLst>
              </a:rPr>
              <a:t>一、矩阵</a:t>
            </a:r>
            <a:r>
              <a:rPr lang="en-US" altLang="zh-CN" sz="3200" b="1">
                <a:solidFill>
                  <a:srgbClr val="CC6600"/>
                </a:solidFill>
                <a:effectLst>
                  <a:outerShdw blurRad="38100" dist="38100" dir="2700000" algn="tl">
                    <a:srgbClr val="C0C0C0"/>
                  </a:outerShdw>
                </a:effectLst>
              </a:rPr>
              <a:t>A</a:t>
            </a:r>
            <a:r>
              <a:rPr lang="zh-CN" altLang="en-US" sz="3200" b="1">
                <a:solidFill>
                  <a:srgbClr val="CC6600"/>
                </a:solidFill>
                <a:effectLst>
                  <a:outerShdw blurRad="38100" dist="38100" dir="2700000" algn="tl">
                    <a:srgbClr val="C0C0C0"/>
                  </a:outerShdw>
                </a:effectLst>
              </a:rPr>
              <a:t>的奇异值及其性质</a:t>
            </a:r>
          </a:p>
        </p:txBody>
      </p:sp>
      <p:sp>
        <p:nvSpPr>
          <p:cNvPr id="22531" name="Rectangle 3">
            <a:extLst>
              <a:ext uri="{FF2B5EF4-FFF2-40B4-BE49-F238E27FC236}">
                <a16:creationId xmlns:a16="http://schemas.microsoft.com/office/drawing/2014/main" id="{250E466E-BE16-91A0-39DE-D8A284A1E13F}"/>
              </a:ext>
            </a:extLst>
          </p:cNvPr>
          <p:cNvSpPr>
            <a:spLocks noGrp="1" noChangeArrowheads="1"/>
          </p:cNvSpPr>
          <p:nvPr>
            <p:ph type="body" idx="1"/>
          </p:nvPr>
        </p:nvSpPr>
        <p:spPr>
          <a:xfrm>
            <a:off x="107950" y="652463"/>
            <a:ext cx="9036050" cy="3568700"/>
          </a:xfrm>
        </p:spPr>
        <p:txBody>
          <a:bodyPr/>
          <a:lstStyle/>
          <a:p>
            <a:pPr marL="609600" indent="-609600" eaLnBrk="1" hangingPunct="1">
              <a:lnSpc>
                <a:spcPct val="90000"/>
              </a:lnSpc>
              <a:buFontTx/>
              <a:buNone/>
            </a:pPr>
            <a:r>
              <a:rPr lang="en-US" altLang="zh-CN" sz="2800" b="1">
                <a:solidFill>
                  <a:srgbClr val="003300"/>
                </a:solidFill>
              </a:rPr>
              <a:t>1、</a:t>
            </a:r>
            <a:r>
              <a:rPr lang="zh-CN" altLang="en-US" sz="2800" b="1">
                <a:solidFill>
                  <a:srgbClr val="003300"/>
                </a:solidFill>
              </a:rPr>
              <a:t>矩阵</a:t>
            </a:r>
            <a:r>
              <a:rPr lang="en-US" altLang="zh-CN" sz="2800" b="1">
                <a:solidFill>
                  <a:srgbClr val="003300"/>
                </a:solidFill>
              </a:rPr>
              <a:t>A</a:t>
            </a:r>
            <a:r>
              <a:rPr lang="en-US" altLang="zh-CN" sz="2800" b="1" baseline="30000">
                <a:solidFill>
                  <a:srgbClr val="003300"/>
                </a:solidFill>
              </a:rPr>
              <a:t>H</a:t>
            </a:r>
            <a:r>
              <a:rPr lang="en-US" altLang="zh-CN" sz="2800" b="1">
                <a:solidFill>
                  <a:srgbClr val="003300"/>
                </a:solidFill>
              </a:rPr>
              <a:t>A</a:t>
            </a:r>
            <a:r>
              <a:rPr lang="zh-CN" altLang="en-US" sz="2800" b="1">
                <a:solidFill>
                  <a:srgbClr val="003300"/>
                </a:solidFill>
              </a:rPr>
              <a:t>和</a:t>
            </a:r>
            <a:r>
              <a:rPr lang="en-US" altLang="zh-CN" sz="2800" b="1">
                <a:solidFill>
                  <a:srgbClr val="003300"/>
                </a:solidFill>
              </a:rPr>
              <a:t>AA</a:t>
            </a:r>
            <a:r>
              <a:rPr lang="en-US" altLang="zh-CN" sz="2800" b="1" baseline="30000">
                <a:solidFill>
                  <a:srgbClr val="003300"/>
                </a:solidFill>
              </a:rPr>
              <a:t>H</a:t>
            </a:r>
            <a:r>
              <a:rPr lang="zh-CN" altLang="en-US" sz="2800" b="1">
                <a:solidFill>
                  <a:srgbClr val="003300"/>
                </a:solidFill>
              </a:rPr>
              <a:t>的性质：</a:t>
            </a:r>
            <a:r>
              <a:rPr lang="en-US" altLang="zh-CN" b="1">
                <a:solidFill>
                  <a:srgbClr val="003300"/>
                </a:solidFill>
              </a:rPr>
              <a:t>A</a:t>
            </a:r>
            <a:r>
              <a:rPr lang="en-US" altLang="zh-CN" b="1">
                <a:solidFill>
                  <a:srgbClr val="003300"/>
                </a:solidFill>
                <a:sym typeface="Symbol" pitchFamily="2" charset="2"/>
              </a:rPr>
              <a:t></a:t>
            </a:r>
            <a:r>
              <a:rPr lang="en-US" altLang="zh-CN" b="1">
                <a:solidFill>
                  <a:srgbClr val="003300"/>
                </a:solidFill>
              </a:rPr>
              <a:t>C</a:t>
            </a:r>
            <a:r>
              <a:rPr lang="en-US" altLang="zh-CN" b="1" baseline="30000">
                <a:solidFill>
                  <a:srgbClr val="003300"/>
                </a:solidFill>
              </a:rPr>
              <a:t>m</a:t>
            </a:r>
            <a:r>
              <a:rPr lang="en-US" altLang="zh-CN" b="1" baseline="30000">
                <a:solidFill>
                  <a:srgbClr val="003300"/>
                </a:solidFill>
                <a:cs typeface="Times New Roman" panose="02020603050405020304" pitchFamily="18" charset="0"/>
              </a:rPr>
              <a:t>×</a:t>
            </a:r>
            <a:r>
              <a:rPr lang="en-US" altLang="zh-CN" b="1" baseline="30000">
                <a:solidFill>
                  <a:srgbClr val="003300"/>
                </a:solidFill>
              </a:rPr>
              <a:t>n  </a:t>
            </a:r>
          </a:p>
          <a:p>
            <a:pPr marL="609600" indent="-609600" eaLnBrk="1" hangingPunct="1">
              <a:lnSpc>
                <a:spcPct val="90000"/>
              </a:lnSpc>
              <a:buFontTx/>
              <a:buNone/>
            </a:pPr>
            <a:r>
              <a:rPr lang="zh-CN" altLang="en-US" sz="2800" b="1">
                <a:solidFill>
                  <a:srgbClr val="003300"/>
                </a:solidFill>
                <a:sym typeface="Symbol" pitchFamily="2" charset="2"/>
              </a:rPr>
              <a:t>              </a:t>
            </a:r>
            <a:r>
              <a:rPr lang="en-US" altLang="zh-CN" sz="2800" b="1">
                <a:solidFill>
                  <a:srgbClr val="003300"/>
                </a:solidFill>
              </a:rPr>
              <a:t>A</a:t>
            </a:r>
            <a:r>
              <a:rPr lang="en-US" altLang="zh-CN" sz="2800" b="1" baseline="30000">
                <a:solidFill>
                  <a:srgbClr val="003300"/>
                </a:solidFill>
              </a:rPr>
              <a:t>H</a:t>
            </a:r>
            <a:r>
              <a:rPr lang="en-US" altLang="zh-CN" sz="2800" b="1">
                <a:solidFill>
                  <a:srgbClr val="003300"/>
                </a:solidFill>
              </a:rPr>
              <a:t>A</a:t>
            </a:r>
            <a:r>
              <a:rPr lang="en-US" altLang="zh-CN" sz="2800" b="1">
                <a:solidFill>
                  <a:srgbClr val="003300"/>
                </a:solidFill>
                <a:sym typeface="Symbol" pitchFamily="2" charset="2"/>
              </a:rPr>
              <a:t></a:t>
            </a:r>
            <a:r>
              <a:rPr lang="en-US" altLang="zh-CN" sz="2800" b="1">
                <a:solidFill>
                  <a:srgbClr val="003300"/>
                </a:solidFill>
              </a:rPr>
              <a:t>C</a:t>
            </a:r>
            <a:r>
              <a:rPr lang="en-US" altLang="zh-CN" sz="2800" b="1" baseline="-25000">
                <a:solidFill>
                  <a:srgbClr val="003300"/>
                </a:solidFill>
              </a:rPr>
              <a:t>n</a:t>
            </a:r>
            <a:r>
              <a:rPr lang="en-US" altLang="zh-CN" sz="2800" b="1" baseline="-25000">
                <a:solidFill>
                  <a:srgbClr val="003300"/>
                </a:solidFill>
                <a:cs typeface="Times New Roman" panose="02020603050405020304" pitchFamily="18" charset="0"/>
              </a:rPr>
              <a:t>×</a:t>
            </a:r>
            <a:r>
              <a:rPr lang="en-US" altLang="zh-CN" sz="2800" b="1" baseline="-25000">
                <a:solidFill>
                  <a:srgbClr val="003300"/>
                </a:solidFill>
              </a:rPr>
              <a:t>n</a:t>
            </a:r>
            <a:r>
              <a:rPr lang="en-US" altLang="zh-CN" sz="2800" b="1">
                <a:solidFill>
                  <a:srgbClr val="003300"/>
                </a:solidFill>
              </a:rPr>
              <a:t>, AA</a:t>
            </a:r>
            <a:r>
              <a:rPr lang="en-US" altLang="zh-CN" sz="2800" b="1" baseline="30000">
                <a:solidFill>
                  <a:srgbClr val="003300"/>
                </a:solidFill>
              </a:rPr>
              <a:t>H</a:t>
            </a:r>
            <a:r>
              <a:rPr lang="en-US" altLang="zh-CN" sz="2800" b="1">
                <a:solidFill>
                  <a:srgbClr val="003300"/>
                </a:solidFill>
                <a:sym typeface="Symbol" pitchFamily="2" charset="2"/>
              </a:rPr>
              <a:t></a:t>
            </a:r>
            <a:r>
              <a:rPr lang="en-US" altLang="zh-CN" sz="2800" b="1">
                <a:solidFill>
                  <a:srgbClr val="003300"/>
                </a:solidFill>
              </a:rPr>
              <a:t>C</a:t>
            </a:r>
            <a:r>
              <a:rPr lang="en-US" altLang="zh-CN" sz="2800" b="1" baseline="-25000">
                <a:solidFill>
                  <a:srgbClr val="003300"/>
                </a:solidFill>
              </a:rPr>
              <a:t>m</a:t>
            </a:r>
            <a:r>
              <a:rPr lang="en-US" altLang="zh-CN" sz="2800" b="1" baseline="-25000">
                <a:solidFill>
                  <a:srgbClr val="003300"/>
                </a:solidFill>
                <a:cs typeface="Times New Roman" panose="02020603050405020304" pitchFamily="18" charset="0"/>
              </a:rPr>
              <a:t>×</a:t>
            </a:r>
            <a:r>
              <a:rPr lang="en-US" altLang="zh-CN" sz="2800" b="1" baseline="-25000">
                <a:solidFill>
                  <a:srgbClr val="003300"/>
                </a:solidFill>
              </a:rPr>
              <a:t>m </a:t>
            </a:r>
            <a:r>
              <a:rPr lang="zh-CN" altLang="en-US" sz="2800" b="1">
                <a:solidFill>
                  <a:srgbClr val="003300"/>
                </a:solidFill>
              </a:rPr>
              <a:t>为</a:t>
            </a:r>
            <a:r>
              <a:rPr lang="en-US" altLang="zh-CN" sz="2800" b="1">
                <a:solidFill>
                  <a:srgbClr val="003300"/>
                </a:solidFill>
              </a:rPr>
              <a:t>Hermite</a:t>
            </a:r>
            <a:r>
              <a:rPr lang="zh-CN" altLang="en-US" sz="2800" b="1">
                <a:solidFill>
                  <a:srgbClr val="003300"/>
                </a:solidFill>
              </a:rPr>
              <a:t>矩阵。</a:t>
            </a:r>
            <a:endParaRPr lang="en-US" altLang="zh-CN" b="1">
              <a:solidFill>
                <a:srgbClr val="003300"/>
              </a:solidFill>
            </a:endParaRPr>
          </a:p>
          <a:p>
            <a:pPr marL="990600" lvl="1" indent="-533400" eaLnBrk="1" hangingPunct="1">
              <a:lnSpc>
                <a:spcPct val="90000"/>
              </a:lnSpc>
              <a:buFont typeface="Wingdings" pitchFamily="2" charset="2"/>
              <a:buNone/>
            </a:pPr>
            <a:r>
              <a:rPr lang="zh-CN" altLang="en-US" b="1">
                <a:solidFill>
                  <a:srgbClr val="CC6600"/>
                </a:solidFill>
              </a:rPr>
              <a:t>定理3</a:t>
            </a:r>
            <a:r>
              <a:rPr lang="zh-CN" altLang="en-US" b="1">
                <a:solidFill>
                  <a:srgbClr val="CC6600"/>
                </a:solidFill>
                <a:sym typeface="Symbol" pitchFamily="2" charset="2"/>
              </a:rPr>
              <a:t>12</a:t>
            </a:r>
            <a:r>
              <a:rPr lang="zh-CN" altLang="en-US">
                <a:sym typeface="Symbol" pitchFamily="2" charset="2"/>
              </a:rPr>
              <a:t>（</a:t>
            </a:r>
            <a:r>
              <a:rPr lang="en-US" altLang="zh-CN">
                <a:solidFill>
                  <a:srgbClr val="003300"/>
                </a:solidFill>
                <a:sym typeface="Symbol" pitchFamily="2" charset="2"/>
              </a:rPr>
              <a:t>P82）</a:t>
            </a:r>
          </a:p>
          <a:p>
            <a:pPr marL="1371600" lvl="2" indent="-457200" eaLnBrk="1" hangingPunct="1">
              <a:lnSpc>
                <a:spcPct val="90000"/>
              </a:lnSpc>
              <a:buFontTx/>
              <a:buAutoNum type="arabicPeriod"/>
            </a:pPr>
            <a:r>
              <a:rPr lang="zh-CN" altLang="en-US" sz="2800" b="1">
                <a:solidFill>
                  <a:srgbClr val="003300"/>
                </a:solidFill>
              </a:rPr>
              <a:t>秩</a:t>
            </a:r>
            <a:r>
              <a:rPr lang="en-US" altLang="zh-CN" sz="2800" b="1">
                <a:solidFill>
                  <a:srgbClr val="003300"/>
                </a:solidFill>
              </a:rPr>
              <a:t>(A) = </a:t>
            </a:r>
            <a:r>
              <a:rPr lang="zh-CN" altLang="en-US" sz="2800" b="1">
                <a:solidFill>
                  <a:srgbClr val="003300"/>
                </a:solidFill>
              </a:rPr>
              <a:t>秩</a:t>
            </a:r>
            <a:r>
              <a:rPr lang="en-US" altLang="zh-CN" sz="2800" b="1">
                <a:solidFill>
                  <a:srgbClr val="003300"/>
                </a:solidFill>
              </a:rPr>
              <a:t>(A</a:t>
            </a:r>
            <a:r>
              <a:rPr lang="en-US" altLang="zh-CN" sz="2800" b="1" baseline="30000">
                <a:solidFill>
                  <a:srgbClr val="003300"/>
                </a:solidFill>
              </a:rPr>
              <a:t>H</a:t>
            </a:r>
            <a:r>
              <a:rPr lang="en-US" altLang="zh-CN" sz="2800" b="1">
                <a:solidFill>
                  <a:srgbClr val="003300"/>
                </a:solidFill>
              </a:rPr>
              <a:t>A) </a:t>
            </a:r>
            <a:r>
              <a:rPr lang="zh-CN" altLang="en-US" sz="2800" b="1">
                <a:solidFill>
                  <a:srgbClr val="003300"/>
                </a:solidFill>
              </a:rPr>
              <a:t>= 秩</a:t>
            </a:r>
            <a:r>
              <a:rPr lang="en-US" altLang="zh-CN" sz="2800" b="1">
                <a:solidFill>
                  <a:srgbClr val="003300"/>
                </a:solidFill>
              </a:rPr>
              <a:t>(AA</a:t>
            </a:r>
            <a:r>
              <a:rPr lang="en-US" altLang="zh-CN" sz="2800" b="1" baseline="30000">
                <a:solidFill>
                  <a:srgbClr val="003300"/>
                </a:solidFill>
              </a:rPr>
              <a:t>H</a:t>
            </a:r>
            <a:r>
              <a:rPr lang="en-US" altLang="zh-CN" sz="2800" b="1">
                <a:solidFill>
                  <a:srgbClr val="003300"/>
                </a:solidFill>
              </a:rPr>
              <a:t>)</a:t>
            </a:r>
            <a:r>
              <a:rPr lang="zh-CN" altLang="en-US" sz="2800" b="1">
                <a:solidFill>
                  <a:srgbClr val="003300"/>
                </a:solidFill>
              </a:rPr>
              <a:t>。</a:t>
            </a:r>
          </a:p>
          <a:p>
            <a:pPr marL="1371600" lvl="2" indent="-457200" eaLnBrk="1" hangingPunct="1">
              <a:lnSpc>
                <a:spcPct val="90000"/>
              </a:lnSpc>
              <a:buFontTx/>
              <a:buAutoNum type="arabicPeriod"/>
            </a:pPr>
            <a:r>
              <a:rPr lang="en-US" altLang="zh-CN" sz="2800" b="1">
                <a:solidFill>
                  <a:srgbClr val="003300"/>
                </a:solidFill>
              </a:rPr>
              <a:t>A</a:t>
            </a:r>
            <a:r>
              <a:rPr lang="en-US" altLang="zh-CN" sz="2800" b="1" baseline="30000">
                <a:solidFill>
                  <a:srgbClr val="003300"/>
                </a:solidFill>
              </a:rPr>
              <a:t>H</a:t>
            </a:r>
            <a:r>
              <a:rPr lang="en-US" altLang="zh-CN" sz="2800" b="1">
                <a:solidFill>
                  <a:srgbClr val="003300"/>
                </a:solidFill>
              </a:rPr>
              <a:t>A </a:t>
            </a:r>
            <a:r>
              <a:rPr lang="zh-CN" altLang="en-US" sz="2800" b="1">
                <a:solidFill>
                  <a:srgbClr val="003300"/>
                </a:solidFill>
              </a:rPr>
              <a:t>和 </a:t>
            </a:r>
            <a:r>
              <a:rPr lang="en-US" altLang="zh-CN" sz="2800" b="1">
                <a:solidFill>
                  <a:srgbClr val="003300"/>
                </a:solidFill>
              </a:rPr>
              <a:t>AA</a:t>
            </a:r>
            <a:r>
              <a:rPr lang="en-US" altLang="zh-CN" sz="2800" b="1" baseline="30000">
                <a:solidFill>
                  <a:srgbClr val="003300"/>
                </a:solidFill>
              </a:rPr>
              <a:t>H </a:t>
            </a:r>
            <a:r>
              <a:rPr lang="zh-CN" altLang="en-US" sz="2800" b="1">
                <a:solidFill>
                  <a:srgbClr val="003300"/>
                </a:solidFill>
              </a:rPr>
              <a:t>的</a:t>
            </a:r>
            <a:r>
              <a:rPr lang="zh-CN" altLang="en-US" sz="2800" b="1">
                <a:solidFill>
                  <a:srgbClr val="0000FF"/>
                </a:solidFill>
              </a:rPr>
              <a:t>非零特征值相等</a:t>
            </a:r>
            <a:r>
              <a:rPr lang="zh-CN" altLang="en-US" sz="2800" b="1">
                <a:solidFill>
                  <a:srgbClr val="003300"/>
                </a:solidFill>
              </a:rPr>
              <a:t>。</a:t>
            </a:r>
          </a:p>
          <a:p>
            <a:pPr marL="1371600" lvl="2" indent="-457200" eaLnBrk="1" hangingPunct="1">
              <a:lnSpc>
                <a:spcPct val="90000"/>
              </a:lnSpc>
              <a:buFontTx/>
              <a:buAutoNum type="arabicPeriod"/>
            </a:pPr>
            <a:r>
              <a:rPr lang="en-US" altLang="zh-CN" sz="2800" b="1">
                <a:solidFill>
                  <a:srgbClr val="003300"/>
                </a:solidFill>
              </a:rPr>
              <a:t>A</a:t>
            </a:r>
            <a:r>
              <a:rPr lang="en-US" altLang="zh-CN" sz="2800" b="1" baseline="30000">
                <a:solidFill>
                  <a:srgbClr val="003300"/>
                </a:solidFill>
              </a:rPr>
              <a:t>H</a:t>
            </a:r>
            <a:r>
              <a:rPr lang="en-US" altLang="zh-CN" sz="2800" b="1">
                <a:solidFill>
                  <a:srgbClr val="003300"/>
                </a:solidFill>
              </a:rPr>
              <a:t>A </a:t>
            </a:r>
            <a:r>
              <a:rPr lang="zh-CN" altLang="en-US" sz="2800" b="1">
                <a:solidFill>
                  <a:srgbClr val="003300"/>
                </a:solidFill>
              </a:rPr>
              <a:t>和 </a:t>
            </a:r>
            <a:r>
              <a:rPr lang="en-US" altLang="zh-CN" sz="2800" b="1">
                <a:solidFill>
                  <a:srgbClr val="003300"/>
                </a:solidFill>
              </a:rPr>
              <a:t>AA</a:t>
            </a:r>
            <a:r>
              <a:rPr lang="en-US" altLang="zh-CN" sz="2800" b="1" baseline="30000">
                <a:solidFill>
                  <a:srgbClr val="003300"/>
                </a:solidFill>
              </a:rPr>
              <a:t>H </a:t>
            </a:r>
            <a:r>
              <a:rPr lang="zh-CN" altLang="en-US" sz="2800" b="1">
                <a:solidFill>
                  <a:srgbClr val="0000FF"/>
                </a:solidFill>
              </a:rPr>
              <a:t>半正定</a:t>
            </a:r>
            <a:r>
              <a:rPr lang="zh-CN" altLang="en-US" sz="2800" b="1">
                <a:solidFill>
                  <a:srgbClr val="003300"/>
                </a:solidFill>
              </a:rPr>
              <a:t>。                                         </a:t>
            </a:r>
            <a:r>
              <a:rPr lang="en-US" altLang="zh-CN" sz="2800" b="1">
                <a:solidFill>
                  <a:srgbClr val="003300"/>
                </a:solidFill>
              </a:rPr>
              <a:t>r(A) = n</a:t>
            </a:r>
            <a:r>
              <a:rPr lang="zh-CN" altLang="en-US" sz="2800" b="1">
                <a:solidFill>
                  <a:srgbClr val="003300"/>
                </a:solidFill>
              </a:rPr>
              <a:t>时</a:t>
            </a:r>
            <a:r>
              <a:rPr lang="en-US" altLang="zh-CN" sz="2800" b="1">
                <a:solidFill>
                  <a:srgbClr val="003300"/>
                </a:solidFill>
              </a:rPr>
              <a:t>, A</a:t>
            </a:r>
            <a:r>
              <a:rPr lang="en-US" altLang="zh-CN" sz="2800" b="1" baseline="30000">
                <a:solidFill>
                  <a:srgbClr val="003300"/>
                </a:solidFill>
              </a:rPr>
              <a:t>H</a:t>
            </a:r>
            <a:r>
              <a:rPr lang="en-US" altLang="zh-CN" sz="2800" b="1">
                <a:solidFill>
                  <a:srgbClr val="003300"/>
                </a:solidFill>
              </a:rPr>
              <a:t>A </a:t>
            </a:r>
            <a:r>
              <a:rPr lang="zh-CN" altLang="en-US" sz="2800" b="1">
                <a:solidFill>
                  <a:srgbClr val="0000FF"/>
                </a:solidFill>
              </a:rPr>
              <a:t>正定</a:t>
            </a:r>
            <a:r>
              <a:rPr lang="en-US" altLang="zh-CN" sz="2800" b="1">
                <a:solidFill>
                  <a:srgbClr val="70217D"/>
                </a:solidFill>
              </a:rPr>
              <a:t>; </a:t>
            </a:r>
            <a:r>
              <a:rPr lang="en-US" altLang="zh-CN" sz="2800" b="1">
                <a:solidFill>
                  <a:srgbClr val="003300"/>
                </a:solidFill>
              </a:rPr>
              <a:t>r(A) = m</a:t>
            </a:r>
            <a:r>
              <a:rPr lang="zh-CN" altLang="en-US" sz="2800" b="1">
                <a:solidFill>
                  <a:srgbClr val="003300"/>
                </a:solidFill>
              </a:rPr>
              <a:t>时</a:t>
            </a:r>
            <a:r>
              <a:rPr lang="en-US" altLang="zh-CN" sz="2800" b="1">
                <a:solidFill>
                  <a:srgbClr val="003300"/>
                </a:solidFill>
              </a:rPr>
              <a:t>, AA</a:t>
            </a:r>
            <a:r>
              <a:rPr lang="en-US" altLang="zh-CN" sz="2800" b="1" baseline="30000">
                <a:solidFill>
                  <a:srgbClr val="003300"/>
                </a:solidFill>
              </a:rPr>
              <a:t>H</a:t>
            </a:r>
            <a:r>
              <a:rPr lang="en-US" altLang="zh-CN" sz="2800" b="1">
                <a:solidFill>
                  <a:srgbClr val="003300"/>
                </a:solidFill>
              </a:rPr>
              <a:t> </a:t>
            </a:r>
            <a:r>
              <a:rPr lang="zh-CN" altLang="en-US" sz="2800" b="1">
                <a:solidFill>
                  <a:srgbClr val="70217D"/>
                </a:solidFill>
              </a:rPr>
              <a:t>正定。</a:t>
            </a:r>
          </a:p>
        </p:txBody>
      </p:sp>
      <p:sp>
        <p:nvSpPr>
          <p:cNvPr id="22532" name="Text Box 4">
            <a:extLst>
              <a:ext uri="{FF2B5EF4-FFF2-40B4-BE49-F238E27FC236}">
                <a16:creationId xmlns:a16="http://schemas.microsoft.com/office/drawing/2014/main" id="{A81D09EF-2D9D-4C08-B9B5-2EBD70A08E38}"/>
              </a:ext>
            </a:extLst>
          </p:cNvPr>
          <p:cNvSpPr txBox="1">
            <a:spLocks noChangeArrowheads="1"/>
          </p:cNvSpPr>
          <p:nvPr/>
        </p:nvSpPr>
        <p:spPr bwMode="auto">
          <a:xfrm>
            <a:off x="468313" y="3970338"/>
            <a:ext cx="8280400" cy="466725"/>
          </a:xfrm>
          <a:prstGeom prst="rect">
            <a:avLst/>
          </a:prstGeom>
          <a:solidFill>
            <a:schemeClr val="accent1"/>
          </a:solidFill>
          <a:ln w="9525">
            <a:solidFill>
              <a:schemeClr val="accent2"/>
            </a:solidFill>
            <a:miter lim="800000"/>
            <a:headEnd/>
            <a:tailEnd/>
          </a:ln>
          <a:effectLst/>
        </p:spPr>
        <p:txBody>
          <a:bodyPr>
            <a:spAutoFit/>
          </a:bodyPr>
          <a:lstStyle>
            <a:lvl1pPr>
              <a:spcBef>
                <a:spcPct val="20000"/>
              </a:spcBef>
              <a:buBlip>
                <a:blip r:embed="rId2"/>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solidFill>
                  <a:schemeClr val="bg1"/>
                </a:solidFill>
                <a:effectLst>
                  <a:outerShdw blurRad="38100" dist="38100" dir="2700000" algn="tl">
                    <a:srgbClr val="000000"/>
                  </a:outerShdw>
                </a:effectLst>
              </a:rPr>
              <a:t>          </a:t>
            </a:r>
            <a:r>
              <a:rPr lang="en-US" altLang="zh-CN" sz="2400" b="1"/>
              <a:t>A</a:t>
            </a:r>
            <a:r>
              <a:rPr lang="en-US" altLang="zh-CN" sz="2400" b="1" baseline="30000"/>
              <a:t>H</a:t>
            </a:r>
            <a:r>
              <a:rPr lang="en-US" altLang="zh-CN" sz="2400" b="1"/>
              <a:t>A</a:t>
            </a:r>
            <a:r>
              <a:rPr lang="zh-CN" altLang="en-US" sz="2400" b="1"/>
              <a:t>和</a:t>
            </a:r>
            <a:r>
              <a:rPr lang="en-US" altLang="zh-CN" sz="2400" b="1"/>
              <a:t>AA</a:t>
            </a:r>
            <a:r>
              <a:rPr lang="en-US" altLang="zh-CN" sz="2400" b="1" baseline="30000"/>
              <a:t>H </a:t>
            </a:r>
            <a:r>
              <a:rPr lang="zh-CN" altLang="en-US" sz="2400" b="1"/>
              <a:t>的特征值是非负实数：</a:t>
            </a:r>
            <a:r>
              <a:rPr lang="zh-CN" altLang="en-US" sz="2400" b="1">
                <a:sym typeface="Symbol" pitchFamily="2" charset="2"/>
              </a:rPr>
              <a:t></a:t>
            </a:r>
            <a:r>
              <a:rPr lang="zh-CN" altLang="en-US" sz="2400" b="1" baseline="-25000">
                <a:sym typeface="Symbol" pitchFamily="2" charset="2"/>
              </a:rPr>
              <a:t>1 </a:t>
            </a:r>
            <a:r>
              <a:rPr lang="zh-CN" altLang="en-US" sz="2400" b="1">
                <a:sym typeface="Symbol" pitchFamily="2" charset="2"/>
              </a:rPr>
              <a:t>  </a:t>
            </a:r>
            <a:r>
              <a:rPr lang="zh-CN" altLang="en-US" sz="2400" b="1" baseline="-25000">
                <a:sym typeface="Symbol" pitchFamily="2" charset="2"/>
              </a:rPr>
              <a:t>2</a:t>
            </a:r>
            <a:r>
              <a:rPr lang="zh-CN" altLang="en-US" sz="2400" b="1">
                <a:sym typeface="Symbol" pitchFamily="2" charset="2"/>
              </a:rPr>
              <a:t>      </a:t>
            </a:r>
            <a:r>
              <a:rPr lang="en-US" altLang="zh-CN" sz="2400" b="1" i="1" baseline="-25000">
                <a:sym typeface="Symbol" pitchFamily="2" charset="2"/>
              </a:rPr>
              <a:t>n </a:t>
            </a:r>
            <a:r>
              <a:rPr lang="zh-CN" altLang="en-US" sz="2400" b="1">
                <a:sym typeface="Symbol" pitchFamily="2" charset="2"/>
              </a:rPr>
              <a:t></a:t>
            </a:r>
            <a:r>
              <a:rPr lang="en-US" altLang="zh-CN" sz="2400" b="1">
                <a:sym typeface="Symbol" pitchFamily="2" charset="2"/>
              </a:rPr>
              <a:t>0</a:t>
            </a:r>
          </a:p>
        </p:txBody>
      </p:sp>
      <p:sp>
        <p:nvSpPr>
          <p:cNvPr id="22533" name="Text Box 5">
            <a:extLst>
              <a:ext uri="{FF2B5EF4-FFF2-40B4-BE49-F238E27FC236}">
                <a16:creationId xmlns:a16="http://schemas.microsoft.com/office/drawing/2014/main" id="{E7B91134-359B-47D0-A6FB-10D9F136AEDC}"/>
              </a:ext>
            </a:extLst>
          </p:cNvPr>
          <p:cNvSpPr txBox="1">
            <a:spLocks noChangeArrowheads="1"/>
          </p:cNvSpPr>
          <p:nvPr/>
        </p:nvSpPr>
        <p:spPr bwMode="auto">
          <a:xfrm>
            <a:off x="611188" y="4508500"/>
            <a:ext cx="8305800" cy="1436688"/>
          </a:xfrm>
          <a:prstGeom prst="rect">
            <a:avLst/>
          </a:prstGeom>
          <a:noFill/>
          <a:ln w="9525">
            <a:noFill/>
            <a:miter lim="800000"/>
            <a:headEnd/>
            <a:tailEnd/>
          </a:ln>
          <a:effectLst/>
        </p:spPr>
        <p:txBody>
          <a:bodyPr>
            <a:spAutoFit/>
          </a:bodyPr>
          <a:lstStyle>
            <a:lvl1pPr>
              <a:spcBef>
                <a:spcPct val="20000"/>
              </a:spcBef>
              <a:buBlip>
                <a:blip r:embed="rId2"/>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b="1">
                <a:solidFill>
                  <a:srgbClr val="003300"/>
                </a:solidFill>
                <a:effectLst>
                  <a:outerShdw blurRad="38100" dist="38100" dir="2700000" algn="tl">
                    <a:srgbClr val="C0C0C0"/>
                  </a:outerShdw>
                </a:effectLst>
              </a:rPr>
              <a:t>2、</a:t>
            </a:r>
            <a:r>
              <a:rPr lang="zh-CN" altLang="en-US" sz="2800" b="1">
                <a:solidFill>
                  <a:srgbClr val="003300"/>
                </a:solidFill>
              </a:rPr>
              <a:t>奇异值的定义</a:t>
            </a:r>
            <a:r>
              <a:rPr lang="zh-CN" altLang="en-US" sz="2800" b="1">
                <a:solidFill>
                  <a:srgbClr val="003300"/>
                </a:solidFill>
                <a:sym typeface="Symbol" pitchFamily="2" charset="2"/>
              </a:rPr>
              <a:t>（</a:t>
            </a:r>
            <a:r>
              <a:rPr lang="en-US" altLang="zh-CN" sz="2800" b="1">
                <a:solidFill>
                  <a:srgbClr val="003300"/>
                </a:solidFill>
                <a:sym typeface="Symbol" pitchFamily="2" charset="2"/>
              </a:rPr>
              <a:t>P72）</a:t>
            </a:r>
          </a:p>
          <a:p>
            <a:pPr eaLnBrk="1" hangingPunct="1">
              <a:spcBef>
                <a:spcPct val="15000"/>
              </a:spcBef>
              <a:buFontTx/>
              <a:buNone/>
            </a:pPr>
            <a:r>
              <a:rPr lang="en-US" altLang="zh-CN" sz="2800" b="1">
                <a:solidFill>
                  <a:srgbClr val="003300"/>
                </a:solidFill>
              </a:rPr>
              <a:t>A</a:t>
            </a:r>
            <a:r>
              <a:rPr lang="en-US" altLang="zh-CN" sz="2800" b="1">
                <a:solidFill>
                  <a:srgbClr val="003300"/>
                </a:solidFill>
                <a:sym typeface="Symbol" pitchFamily="2" charset="2"/>
              </a:rPr>
              <a:t></a:t>
            </a:r>
            <a:r>
              <a:rPr lang="en-US" altLang="zh-CN" sz="2800" b="1">
                <a:solidFill>
                  <a:srgbClr val="003300"/>
                </a:solidFill>
              </a:rPr>
              <a:t>C</a:t>
            </a:r>
            <a:r>
              <a:rPr lang="en-US" altLang="zh-CN" sz="2800" b="1" baseline="30000">
                <a:solidFill>
                  <a:srgbClr val="003300"/>
                </a:solidFill>
              </a:rPr>
              <a:t>m</a:t>
            </a:r>
            <a:r>
              <a:rPr lang="en-US" altLang="zh-CN" sz="2800" b="1" baseline="30000">
                <a:solidFill>
                  <a:srgbClr val="003300"/>
                </a:solidFill>
                <a:cs typeface="Times New Roman" panose="02020603050405020304" pitchFamily="18" charset="0"/>
              </a:rPr>
              <a:t>×</a:t>
            </a:r>
            <a:r>
              <a:rPr lang="en-US" altLang="zh-CN" sz="2800" b="1" baseline="30000">
                <a:solidFill>
                  <a:srgbClr val="003300"/>
                </a:solidFill>
              </a:rPr>
              <a:t>n</a:t>
            </a:r>
            <a:r>
              <a:rPr lang="en-US" altLang="zh-CN" sz="2800" b="1">
                <a:solidFill>
                  <a:srgbClr val="003300"/>
                </a:solidFill>
                <a:sym typeface="Symbol" pitchFamily="2" charset="2"/>
              </a:rPr>
              <a:t>，</a:t>
            </a:r>
            <a:r>
              <a:rPr lang="zh-CN" altLang="en-US" sz="2800" b="1">
                <a:solidFill>
                  <a:srgbClr val="003300"/>
                </a:solidFill>
                <a:sym typeface="Symbol" pitchFamily="2" charset="2"/>
              </a:rPr>
              <a:t>秩</a:t>
            </a:r>
            <a:r>
              <a:rPr lang="en-US" altLang="zh-CN" sz="2800" b="1">
                <a:solidFill>
                  <a:srgbClr val="003300"/>
                </a:solidFill>
                <a:sym typeface="Symbol" pitchFamily="2" charset="2"/>
              </a:rPr>
              <a:t>(</a:t>
            </a:r>
            <a:r>
              <a:rPr lang="en-US" altLang="zh-CN" sz="2800" b="1">
                <a:solidFill>
                  <a:srgbClr val="003300"/>
                </a:solidFill>
              </a:rPr>
              <a:t>A) </a:t>
            </a:r>
            <a:r>
              <a:rPr lang="zh-CN" altLang="en-US" sz="2800" b="1">
                <a:solidFill>
                  <a:srgbClr val="003300"/>
                </a:solidFill>
                <a:sym typeface="Symbol" pitchFamily="2" charset="2"/>
              </a:rPr>
              <a:t>= </a:t>
            </a:r>
            <a:r>
              <a:rPr lang="en-US" altLang="zh-CN" sz="2800" b="1" i="1">
                <a:solidFill>
                  <a:srgbClr val="003300"/>
                </a:solidFill>
                <a:sym typeface="Symbol" pitchFamily="2" charset="2"/>
              </a:rPr>
              <a:t>r</a:t>
            </a:r>
            <a:r>
              <a:rPr lang="en-US" altLang="zh-CN" sz="2800" b="1">
                <a:solidFill>
                  <a:srgbClr val="003300"/>
                </a:solidFill>
                <a:sym typeface="Symbol" pitchFamily="2" charset="2"/>
              </a:rPr>
              <a:t>，</a:t>
            </a:r>
            <a:r>
              <a:rPr lang="zh-CN" altLang="en-US" sz="2800" b="1">
                <a:solidFill>
                  <a:srgbClr val="003300"/>
                </a:solidFill>
                <a:sym typeface="Symbol" pitchFamily="2" charset="2"/>
              </a:rPr>
              <a:t>设</a:t>
            </a:r>
            <a:r>
              <a:rPr lang="en-US" altLang="zh-CN" sz="2800" b="1">
                <a:solidFill>
                  <a:srgbClr val="003300"/>
                </a:solidFill>
              </a:rPr>
              <a:t>A</a:t>
            </a:r>
            <a:r>
              <a:rPr lang="en-US" altLang="zh-CN" sz="2800" b="1" baseline="30000">
                <a:solidFill>
                  <a:srgbClr val="003300"/>
                </a:solidFill>
              </a:rPr>
              <a:t>H</a:t>
            </a:r>
            <a:r>
              <a:rPr lang="en-US" altLang="zh-CN" sz="2800" b="1">
                <a:solidFill>
                  <a:srgbClr val="003300"/>
                </a:solidFill>
              </a:rPr>
              <a:t>A</a:t>
            </a:r>
            <a:r>
              <a:rPr lang="zh-CN" altLang="en-US" sz="2800" b="1">
                <a:solidFill>
                  <a:srgbClr val="003300"/>
                </a:solidFill>
                <a:sym typeface="Symbol" pitchFamily="2" charset="2"/>
              </a:rPr>
              <a:t>的特征值 </a:t>
            </a:r>
            <a:r>
              <a:rPr lang="zh-CN" altLang="en-US" sz="2800" b="1" baseline="-25000">
                <a:solidFill>
                  <a:srgbClr val="003300"/>
                </a:solidFill>
                <a:sym typeface="Symbol" pitchFamily="2" charset="2"/>
              </a:rPr>
              <a:t>1 </a:t>
            </a:r>
            <a:r>
              <a:rPr lang="zh-CN" altLang="en-US" sz="2800" b="1">
                <a:solidFill>
                  <a:srgbClr val="003300"/>
                </a:solidFill>
                <a:sym typeface="Symbol" pitchFamily="2" charset="2"/>
              </a:rPr>
              <a:t>  </a:t>
            </a:r>
            <a:r>
              <a:rPr lang="zh-CN" altLang="en-US" sz="2800" b="1" baseline="-25000">
                <a:solidFill>
                  <a:srgbClr val="003300"/>
                </a:solidFill>
                <a:sym typeface="Symbol" pitchFamily="2" charset="2"/>
              </a:rPr>
              <a:t>2</a:t>
            </a:r>
            <a:r>
              <a:rPr lang="zh-CN" altLang="en-US" sz="2800" b="1">
                <a:solidFill>
                  <a:srgbClr val="003300"/>
                </a:solidFill>
                <a:sym typeface="Symbol" pitchFamily="2" charset="2"/>
              </a:rPr>
              <a:t>      </a:t>
            </a:r>
            <a:r>
              <a:rPr lang="en-US" altLang="zh-CN" sz="2800" b="1" i="1" baseline="-25000">
                <a:solidFill>
                  <a:srgbClr val="003300"/>
                </a:solidFill>
                <a:sym typeface="Symbol" pitchFamily="2" charset="2"/>
              </a:rPr>
              <a:t>r</a:t>
            </a:r>
            <a:r>
              <a:rPr lang="en-US" altLang="zh-CN" sz="2800" b="1">
                <a:solidFill>
                  <a:srgbClr val="003300"/>
                </a:solidFill>
                <a:sym typeface="Symbol" pitchFamily="2" charset="2"/>
              </a:rPr>
              <a:t>  0，</a:t>
            </a:r>
            <a:r>
              <a:rPr lang="zh-CN" altLang="en-US" sz="2800" b="1">
                <a:solidFill>
                  <a:srgbClr val="003300"/>
                </a:solidFill>
                <a:sym typeface="Symbol" pitchFamily="2" charset="2"/>
              </a:rPr>
              <a:t></a:t>
            </a:r>
            <a:r>
              <a:rPr lang="en-US" altLang="zh-CN" sz="2800" b="1" i="1" baseline="-25000">
                <a:solidFill>
                  <a:srgbClr val="003300"/>
                </a:solidFill>
                <a:sym typeface="Symbol" pitchFamily="2" charset="2"/>
              </a:rPr>
              <a:t>r</a:t>
            </a:r>
            <a:r>
              <a:rPr lang="en-US" altLang="zh-CN" sz="2800" b="1" baseline="-25000">
                <a:solidFill>
                  <a:srgbClr val="003300"/>
                </a:solidFill>
                <a:sym typeface="Symbol" pitchFamily="2" charset="2"/>
              </a:rPr>
              <a:t>+1</a:t>
            </a:r>
            <a:r>
              <a:rPr lang="en-US" altLang="zh-CN" sz="2800" b="1">
                <a:solidFill>
                  <a:srgbClr val="003300"/>
                </a:solidFill>
                <a:sym typeface="Symbol" pitchFamily="2" charset="2"/>
              </a:rPr>
              <a:t>=  </a:t>
            </a:r>
            <a:r>
              <a:rPr lang="en-US" altLang="zh-CN" sz="2800" b="1" i="1" baseline="-25000">
                <a:solidFill>
                  <a:srgbClr val="003300"/>
                </a:solidFill>
                <a:sym typeface="Symbol" pitchFamily="2" charset="2"/>
              </a:rPr>
              <a:t>r</a:t>
            </a:r>
            <a:r>
              <a:rPr lang="en-US" altLang="zh-CN" sz="2800" b="1" baseline="-25000">
                <a:solidFill>
                  <a:srgbClr val="003300"/>
                </a:solidFill>
                <a:sym typeface="Symbol" pitchFamily="2" charset="2"/>
              </a:rPr>
              <a:t>+2</a:t>
            </a:r>
            <a:r>
              <a:rPr lang="en-US" altLang="zh-CN" sz="2800" b="1">
                <a:solidFill>
                  <a:srgbClr val="003300"/>
                </a:solidFill>
                <a:sym typeface="Symbol" pitchFamily="2" charset="2"/>
              </a:rPr>
              <a:t>  == </a:t>
            </a:r>
            <a:r>
              <a:rPr lang="en-US" altLang="zh-CN" sz="2400" b="1" i="1" baseline="-25000">
                <a:solidFill>
                  <a:srgbClr val="003300"/>
                </a:solidFill>
                <a:sym typeface="Symbol" pitchFamily="2" charset="2"/>
              </a:rPr>
              <a:t>n</a:t>
            </a:r>
            <a:r>
              <a:rPr lang="en-US" altLang="zh-CN" sz="2800" b="1">
                <a:solidFill>
                  <a:srgbClr val="003300"/>
                </a:solidFill>
                <a:sym typeface="Symbol" pitchFamily="2" charset="2"/>
              </a:rPr>
              <a:t> =0</a:t>
            </a:r>
            <a:r>
              <a:rPr lang="zh-CN" altLang="en-US" sz="2800" b="1">
                <a:solidFill>
                  <a:srgbClr val="003300"/>
                </a:solidFill>
                <a:sym typeface="Symbol" pitchFamily="2" charset="2"/>
              </a:rPr>
              <a:t>，则</a:t>
            </a:r>
            <a:r>
              <a:rPr lang="zh-CN" altLang="en-US" sz="2800" b="1">
                <a:solidFill>
                  <a:srgbClr val="70217D"/>
                </a:solidFill>
                <a:sym typeface="Symbol" pitchFamily="2" charset="2"/>
              </a:rPr>
              <a:t>矩阵</a:t>
            </a:r>
            <a:r>
              <a:rPr lang="en-US" altLang="zh-CN" sz="2800" b="1">
                <a:solidFill>
                  <a:srgbClr val="0000FF"/>
                </a:solidFill>
                <a:sym typeface="Symbol" pitchFamily="2" charset="2"/>
              </a:rPr>
              <a:t>A</a:t>
            </a:r>
            <a:r>
              <a:rPr lang="zh-CN" altLang="en-US" sz="2800" b="1">
                <a:solidFill>
                  <a:srgbClr val="0000FF"/>
                </a:solidFill>
                <a:sym typeface="Symbol" pitchFamily="2" charset="2"/>
              </a:rPr>
              <a:t>的奇异值</a:t>
            </a:r>
          </a:p>
        </p:txBody>
      </p:sp>
      <p:graphicFrame>
        <p:nvGraphicFramePr>
          <p:cNvPr id="22534" name="Object 6">
            <a:extLst>
              <a:ext uri="{FF2B5EF4-FFF2-40B4-BE49-F238E27FC236}">
                <a16:creationId xmlns:a16="http://schemas.microsoft.com/office/drawing/2014/main" id="{E202F693-57B6-E560-33EC-206FF981BC7E}"/>
              </a:ext>
            </a:extLst>
          </p:cNvPr>
          <p:cNvGraphicFramePr>
            <a:graphicFrameLocks noChangeAspect="1"/>
          </p:cNvGraphicFramePr>
          <p:nvPr/>
        </p:nvGraphicFramePr>
        <p:xfrm>
          <a:off x="2168525" y="5949950"/>
          <a:ext cx="4564063" cy="671513"/>
        </p:xfrm>
        <a:graphic>
          <a:graphicData uri="http://schemas.openxmlformats.org/presentationml/2006/ole">
            <mc:AlternateContent xmlns:mc="http://schemas.openxmlformats.org/markup-compatibility/2006">
              <mc:Choice xmlns:v="urn:schemas-microsoft-com:vml" Requires="v">
                <p:oleObj name="Equation" r:id="rId4" imgW="1676400" imgH="317500" progId="Equation.3">
                  <p:embed/>
                </p:oleObj>
              </mc:Choice>
              <mc:Fallback>
                <p:oleObj name="Equation" r:id="rId4" imgW="1676400" imgH="3175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68525" y="5949950"/>
                        <a:ext cx="4564063" cy="671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35" name="AutoShape 7">
            <a:extLst>
              <a:ext uri="{FF2B5EF4-FFF2-40B4-BE49-F238E27FC236}">
                <a16:creationId xmlns:a16="http://schemas.microsoft.com/office/drawing/2014/main" id="{D4237F0B-1B51-2894-6907-0594AC9FCAC8}"/>
              </a:ext>
            </a:extLst>
          </p:cNvPr>
          <p:cNvSpPr>
            <a:spLocks noChangeArrowheads="1"/>
          </p:cNvSpPr>
          <p:nvPr/>
        </p:nvSpPr>
        <p:spPr bwMode="auto">
          <a:xfrm>
            <a:off x="539750" y="4064000"/>
            <a:ext cx="609600" cy="228600"/>
          </a:xfrm>
          <a:prstGeom prst="rightArrow">
            <a:avLst>
              <a:gd name="adj1" fmla="val 50000"/>
              <a:gd name="adj2" fmla="val 66667"/>
            </a:avLst>
          </a:prstGeom>
          <a:solidFill>
            <a:srgbClr val="CC6600"/>
          </a:solidFill>
          <a:ln w="9525">
            <a:solidFill>
              <a:schemeClr val="tx1"/>
            </a:solidFill>
            <a:miter lim="800000"/>
            <a:headEnd/>
            <a:tailEnd/>
          </a:ln>
        </p:spPr>
        <p:txBody>
          <a:bodyPr wrap="none" anchor="ctr"/>
          <a:lstStyle>
            <a:lvl1pPr>
              <a:spcBef>
                <a:spcPct val="20000"/>
              </a:spcBef>
              <a:buBlip>
                <a:blip r:embed="rId2"/>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400"/>
          </a:p>
        </p:txBody>
      </p:sp>
      <p:sp>
        <p:nvSpPr>
          <p:cNvPr id="2058" name="Rectangle 10">
            <a:extLst>
              <a:ext uri="{FF2B5EF4-FFF2-40B4-BE49-F238E27FC236}">
                <a16:creationId xmlns:a16="http://schemas.microsoft.com/office/drawing/2014/main" id="{EEEE46DB-5B72-F9AD-0226-2420FBF45136}"/>
              </a:ext>
            </a:extLst>
          </p:cNvPr>
          <p:cNvSpPr>
            <a:spLocks noChangeArrowheads="1"/>
          </p:cNvSpPr>
          <p:nvPr/>
        </p:nvSpPr>
        <p:spPr bwMode="auto">
          <a:xfrm>
            <a:off x="6084888" y="2060575"/>
            <a:ext cx="26733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solidFill>
                  <a:srgbClr val="0033CC"/>
                </a:solidFill>
              </a:rPr>
              <a:t>（利用</a:t>
            </a:r>
            <a:r>
              <a:rPr lang="zh-CN" altLang="en-US" sz="2800" b="1"/>
              <a:t>酉</a:t>
            </a:r>
            <a:r>
              <a:rPr lang="zh-CN" altLang="en-US" sz="2800" b="1">
                <a:solidFill>
                  <a:srgbClr val="0033CC"/>
                </a:solidFill>
              </a:rPr>
              <a:t>等价）</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 calcmode="lin" valueType="num">
                                      <p:cBhvr additive="base">
                                        <p:cTn id="7" dur="500" fill="hold"/>
                                        <p:tgtEl>
                                          <p:spTgt spid="225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5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2531">
                                            <p:txEl>
                                              <p:pRg st="1" end="1"/>
                                            </p:txEl>
                                          </p:spTgt>
                                        </p:tgtEl>
                                        <p:attrNameLst>
                                          <p:attrName>style.visibility</p:attrName>
                                        </p:attrNameLst>
                                      </p:cBhvr>
                                      <p:to>
                                        <p:strVal val="visible"/>
                                      </p:to>
                                    </p:set>
                                    <p:anim calcmode="lin" valueType="num">
                                      <p:cBhvr additive="base">
                                        <p:cTn id="13" dur="500" fill="hold"/>
                                        <p:tgtEl>
                                          <p:spTgt spid="2253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5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2531">
                                            <p:txEl>
                                              <p:pRg st="2" end="2"/>
                                            </p:txEl>
                                          </p:spTgt>
                                        </p:tgtEl>
                                        <p:attrNameLst>
                                          <p:attrName>style.visibility</p:attrName>
                                        </p:attrNameLst>
                                      </p:cBhvr>
                                      <p:to>
                                        <p:strVal val="visible"/>
                                      </p:to>
                                    </p:set>
                                    <p:anim calcmode="lin" valueType="num">
                                      <p:cBhvr additive="base">
                                        <p:cTn id="19" dur="500" fill="hold"/>
                                        <p:tgtEl>
                                          <p:spTgt spid="2253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5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2531">
                                            <p:txEl>
                                              <p:pRg st="3" end="3"/>
                                            </p:txEl>
                                          </p:spTgt>
                                        </p:tgtEl>
                                        <p:attrNameLst>
                                          <p:attrName>style.visibility</p:attrName>
                                        </p:attrNameLst>
                                      </p:cBhvr>
                                      <p:to>
                                        <p:strVal val="visible"/>
                                      </p:to>
                                    </p:set>
                                    <p:anim calcmode="lin" valueType="num">
                                      <p:cBhvr additive="base">
                                        <p:cTn id="25" dur="500" fill="hold"/>
                                        <p:tgtEl>
                                          <p:spTgt spid="2253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5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2058">
                                            <p:txEl>
                                              <p:pRg st="0" end="0"/>
                                            </p:txEl>
                                          </p:spTgt>
                                        </p:tgtEl>
                                        <p:attrNameLst>
                                          <p:attrName>style.visibility</p:attrName>
                                        </p:attrNameLst>
                                      </p:cBhvr>
                                      <p:to>
                                        <p:strVal val="visible"/>
                                      </p:to>
                                    </p:set>
                                    <p:animEffect transition="in" filter="blinds(horizontal)">
                                      <p:cBhvr>
                                        <p:cTn id="31" dur="500"/>
                                        <p:tgtEl>
                                          <p:spTgt spid="2058">
                                            <p:txEl>
                                              <p:pRg st="0" end="0"/>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8" fill="hold" nodeType="clickEffect">
                                  <p:stCondLst>
                                    <p:cond delay="0"/>
                                  </p:stCondLst>
                                  <p:childTnLst>
                                    <p:set>
                                      <p:cBhvr>
                                        <p:cTn id="35" dur="1" fill="hold">
                                          <p:stCondLst>
                                            <p:cond delay="0"/>
                                          </p:stCondLst>
                                        </p:cTn>
                                        <p:tgtEl>
                                          <p:spTgt spid="22531">
                                            <p:txEl>
                                              <p:pRg st="4" end="4"/>
                                            </p:txEl>
                                          </p:spTgt>
                                        </p:tgtEl>
                                        <p:attrNameLst>
                                          <p:attrName>style.visibility</p:attrName>
                                        </p:attrNameLst>
                                      </p:cBhvr>
                                      <p:to>
                                        <p:strVal val="visible"/>
                                      </p:to>
                                    </p:set>
                                    <p:anim calcmode="lin" valueType="num">
                                      <p:cBhvr additive="base">
                                        <p:cTn id="36" dur="500" fill="hold"/>
                                        <p:tgtEl>
                                          <p:spTgt spid="22531">
                                            <p:txEl>
                                              <p:pRg st="4" end="4"/>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2253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8" fill="hold" nodeType="clickEffect">
                                  <p:stCondLst>
                                    <p:cond delay="0"/>
                                  </p:stCondLst>
                                  <p:childTnLst>
                                    <p:set>
                                      <p:cBhvr>
                                        <p:cTn id="41" dur="1" fill="hold">
                                          <p:stCondLst>
                                            <p:cond delay="0"/>
                                          </p:stCondLst>
                                        </p:cTn>
                                        <p:tgtEl>
                                          <p:spTgt spid="22531">
                                            <p:txEl>
                                              <p:pRg st="5" end="5"/>
                                            </p:txEl>
                                          </p:spTgt>
                                        </p:tgtEl>
                                        <p:attrNameLst>
                                          <p:attrName>style.visibility</p:attrName>
                                        </p:attrNameLst>
                                      </p:cBhvr>
                                      <p:to>
                                        <p:strVal val="visible"/>
                                      </p:to>
                                    </p:set>
                                    <p:anim calcmode="lin" valueType="num">
                                      <p:cBhvr additive="base">
                                        <p:cTn id="42" dur="500" fill="hold"/>
                                        <p:tgtEl>
                                          <p:spTgt spid="22531">
                                            <p:txEl>
                                              <p:pRg st="5" end="5"/>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2253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8" fill="hold" nodeType="clickEffect">
                                  <p:stCondLst>
                                    <p:cond delay="0"/>
                                  </p:stCondLst>
                                  <p:childTnLst>
                                    <p:set>
                                      <p:cBhvr>
                                        <p:cTn id="47" dur="1" fill="hold">
                                          <p:stCondLst>
                                            <p:cond delay="0"/>
                                          </p:stCondLst>
                                        </p:cTn>
                                        <p:tgtEl>
                                          <p:spTgt spid="22535"/>
                                        </p:tgtEl>
                                        <p:attrNameLst>
                                          <p:attrName>style.visibility</p:attrName>
                                        </p:attrNameLst>
                                      </p:cBhvr>
                                      <p:to>
                                        <p:strVal val="visible"/>
                                      </p:to>
                                    </p:set>
                                    <p:anim calcmode="lin" valueType="num">
                                      <p:cBhvr additive="base">
                                        <p:cTn id="48" dur="500" fill="hold"/>
                                        <p:tgtEl>
                                          <p:spTgt spid="22535"/>
                                        </p:tgtEl>
                                        <p:attrNameLst>
                                          <p:attrName>ppt_x</p:attrName>
                                        </p:attrNameLst>
                                      </p:cBhvr>
                                      <p:tavLst>
                                        <p:tav tm="0">
                                          <p:val>
                                            <p:strVal val="0-#ppt_w/2"/>
                                          </p:val>
                                        </p:tav>
                                        <p:tav tm="100000">
                                          <p:val>
                                            <p:strVal val="#ppt_x"/>
                                          </p:val>
                                        </p:tav>
                                      </p:tavLst>
                                    </p:anim>
                                    <p:anim calcmode="lin" valueType="num">
                                      <p:cBhvr additive="base">
                                        <p:cTn id="49" dur="500" fill="hold"/>
                                        <p:tgtEl>
                                          <p:spTgt spid="22535"/>
                                        </p:tgtEl>
                                        <p:attrNameLst>
                                          <p:attrName>ppt_y</p:attrName>
                                        </p:attrNameLst>
                                      </p:cBhvr>
                                      <p:tavLst>
                                        <p:tav tm="0">
                                          <p:val>
                                            <p:strVal val="#ppt_y"/>
                                          </p:val>
                                        </p:tav>
                                        <p:tav tm="100000">
                                          <p:val>
                                            <p:strVal val="#ppt_y"/>
                                          </p:val>
                                        </p:tav>
                                      </p:tavLst>
                                    </p:anim>
                                  </p:childTnLst>
                                </p:cTn>
                              </p:par>
                            </p:childTnLst>
                          </p:cTn>
                        </p:par>
                        <p:par>
                          <p:cTn id="50" fill="hold" nodeType="afterGroup">
                            <p:stCondLst>
                              <p:cond delay="500"/>
                            </p:stCondLst>
                            <p:childTnLst>
                              <p:par>
                                <p:cTn id="51" presetID="2" presetClass="entr" presetSubtype="8" fill="hold" nodeType="afterEffect">
                                  <p:stCondLst>
                                    <p:cond delay="0"/>
                                  </p:stCondLst>
                                  <p:childTnLst>
                                    <p:set>
                                      <p:cBhvr>
                                        <p:cTn id="52" dur="1" fill="hold">
                                          <p:stCondLst>
                                            <p:cond delay="0"/>
                                          </p:stCondLst>
                                        </p:cTn>
                                        <p:tgtEl>
                                          <p:spTgt spid="22532"/>
                                        </p:tgtEl>
                                        <p:attrNameLst>
                                          <p:attrName>style.visibility</p:attrName>
                                        </p:attrNameLst>
                                      </p:cBhvr>
                                      <p:to>
                                        <p:strVal val="visible"/>
                                      </p:to>
                                    </p:set>
                                    <p:anim calcmode="lin" valueType="num">
                                      <p:cBhvr additive="base">
                                        <p:cTn id="53" dur="500" fill="hold"/>
                                        <p:tgtEl>
                                          <p:spTgt spid="22532"/>
                                        </p:tgtEl>
                                        <p:attrNameLst>
                                          <p:attrName>ppt_x</p:attrName>
                                        </p:attrNameLst>
                                      </p:cBhvr>
                                      <p:tavLst>
                                        <p:tav tm="0">
                                          <p:val>
                                            <p:strVal val="0-#ppt_w/2"/>
                                          </p:val>
                                        </p:tav>
                                        <p:tav tm="100000">
                                          <p:val>
                                            <p:strVal val="#ppt_x"/>
                                          </p:val>
                                        </p:tav>
                                      </p:tavLst>
                                    </p:anim>
                                    <p:anim calcmode="lin" valueType="num">
                                      <p:cBhvr additive="base">
                                        <p:cTn id="54" dur="500" fill="hold"/>
                                        <p:tgtEl>
                                          <p:spTgt spid="22532"/>
                                        </p:tgtEl>
                                        <p:attrNameLst>
                                          <p:attrName>ppt_y</p:attrName>
                                        </p:attrNameLst>
                                      </p:cBhvr>
                                      <p:tavLst>
                                        <p:tav tm="0">
                                          <p:val>
                                            <p:strVal val="#ppt_y"/>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8" fill="hold" nodeType="clickEffect">
                                  <p:stCondLst>
                                    <p:cond delay="0"/>
                                  </p:stCondLst>
                                  <p:childTnLst>
                                    <p:set>
                                      <p:cBhvr>
                                        <p:cTn id="58" dur="1" fill="hold">
                                          <p:stCondLst>
                                            <p:cond delay="0"/>
                                          </p:stCondLst>
                                        </p:cTn>
                                        <p:tgtEl>
                                          <p:spTgt spid="22533">
                                            <p:txEl>
                                              <p:pRg st="0" end="0"/>
                                            </p:txEl>
                                          </p:spTgt>
                                        </p:tgtEl>
                                        <p:attrNameLst>
                                          <p:attrName>style.visibility</p:attrName>
                                        </p:attrNameLst>
                                      </p:cBhvr>
                                      <p:to>
                                        <p:strVal val="visible"/>
                                      </p:to>
                                    </p:set>
                                    <p:anim calcmode="lin" valueType="num">
                                      <p:cBhvr additive="base">
                                        <p:cTn id="59" dur="500" fill="hold"/>
                                        <p:tgtEl>
                                          <p:spTgt spid="22533">
                                            <p:txEl>
                                              <p:pRg st="0" end="0"/>
                                            </p:txEl>
                                          </p:spTgt>
                                        </p:tgtEl>
                                        <p:attrNameLst>
                                          <p:attrName>ppt_x</p:attrName>
                                        </p:attrNameLst>
                                      </p:cBhvr>
                                      <p:tavLst>
                                        <p:tav tm="0">
                                          <p:val>
                                            <p:strVal val="0-#ppt_w/2"/>
                                          </p:val>
                                        </p:tav>
                                        <p:tav tm="100000">
                                          <p:val>
                                            <p:strVal val="#ppt_x"/>
                                          </p:val>
                                        </p:tav>
                                      </p:tavLst>
                                    </p:anim>
                                    <p:anim calcmode="lin" valueType="num">
                                      <p:cBhvr additive="base">
                                        <p:cTn id="60" dur="500" fill="hold"/>
                                        <p:tgtEl>
                                          <p:spTgt spid="2253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8" fill="hold" nodeType="clickEffect">
                                  <p:stCondLst>
                                    <p:cond delay="0"/>
                                  </p:stCondLst>
                                  <p:childTnLst>
                                    <p:set>
                                      <p:cBhvr>
                                        <p:cTn id="64" dur="1" fill="hold">
                                          <p:stCondLst>
                                            <p:cond delay="0"/>
                                          </p:stCondLst>
                                        </p:cTn>
                                        <p:tgtEl>
                                          <p:spTgt spid="22533">
                                            <p:txEl>
                                              <p:pRg st="1" end="1"/>
                                            </p:txEl>
                                          </p:spTgt>
                                        </p:tgtEl>
                                        <p:attrNameLst>
                                          <p:attrName>style.visibility</p:attrName>
                                        </p:attrNameLst>
                                      </p:cBhvr>
                                      <p:to>
                                        <p:strVal val="visible"/>
                                      </p:to>
                                    </p:set>
                                    <p:anim calcmode="lin" valueType="num">
                                      <p:cBhvr additive="base">
                                        <p:cTn id="65" dur="500" fill="hold"/>
                                        <p:tgtEl>
                                          <p:spTgt spid="22533">
                                            <p:txEl>
                                              <p:pRg st="1" end="1"/>
                                            </p:txEl>
                                          </p:spTgt>
                                        </p:tgtEl>
                                        <p:attrNameLst>
                                          <p:attrName>ppt_x</p:attrName>
                                        </p:attrNameLst>
                                      </p:cBhvr>
                                      <p:tavLst>
                                        <p:tav tm="0">
                                          <p:val>
                                            <p:strVal val="0-#ppt_w/2"/>
                                          </p:val>
                                        </p:tav>
                                        <p:tav tm="100000">
                                          <p:val>
                                            <p:strVal val="#ppt_x"/>
                                          </p:val>
                                        </p:tav>
                                      </p:tavLst>
                                    </p:anim>
                                    <p:anim calcmode="lin" valueType="num">
                                      <p:cBhvr additive="base">
                                        <p:cTn id="66" dur="500" fill="hold"/>
                                        <p:tgtEl>
                                          <p:spTgt spid="2253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2" presetClass="entr" presetSubtype="8" fill="hold" nodeType="clickEffect">
                                  <p:stCondLst>
                                    <p:cond delay="0"/>
                                  </p:stCondLst>
                                  <p:childTnLst>
                                    <p:set>
                                      <p:cBhvr>
                                        <p:cTn id="70" dur="1" fill="hold">
                                          <p:stCondLst>
                                            <p:cond delay="0"/>
                                          </p:stCondLst>
                                        </p:cTn>
                                        <p:tgtEl>
                                          <p:spTgt spid="22534"/>
                                        </p:tgtEl>
                                        <p:attrNameLst>
                                          <p:attrName>style.visibility</p:attrName>
                                        </p:attrNameLst>
                                      </p:cBhvr>
                                      <p:to>
                                        <p:strVal val="visible"/>
                                      </p:to>
                                    </p:set>
                                    <p:anim calcmode="lin" valueType="num">
                                      <p:cBhvr additive="base">
                                        <p:cTn id="71" dur="500" fill="hold"/>
                                        <p:tgtEl>
                                          <p:spTgt spid="22534"/>
                                        </p:tgtEl>
                                        <p:attrNameLst>
                                          <p:attrName>ppt_x</p:attrName>
                                        </p:attrNameLst>
                                      </p:cBhvr>
                                      <p:tavLst>
                                        <p:tav tm="0">
                                          <p:val>
                                            <p:strVal val="0-#ppt_w/2"/>
                                          </p:val>
                                        </p:tav>
                                        <p:tav tm="100000">
                                          <p:val>
                                            <p:strVal val="#ppt_x"/>
                                          </p:val>
                                        </p:tav>
                                      </p:tavLst>
                                    </p:anim>
                                    <p:anim calcmode="lin" valueType="num">
                                      <p:cBhvr additive="base">
                                        <p:cTn id="72" dur="500" fill="hold"/>
                                        <p:tgtEl>
                                          <p:spTgt spid="225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uiExpand="1" build="p" bldLvl="3" autoUpdateAnimBg="0"/>
      <p:bldP spid="22532" grpId="0" animBg="1" autoUpdateAnimBg="0"/>
      <p:bldP spid="22533" grpId="0" build="p" autoUpdateAnimBg="0"/>
      <p:bldP spid="22535"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3555" name="Rectangle 3">
            <a:extLst>
              <a:ext uri="{FF2B5EF4-FFF2-40B4-BE49-F238E27FC236}">
                <a16:creationId xmlns:a16="http://schemas.microsoft.com/office/drawing/2014/main" id="{F1B008CF-52AE-4B9D-A030-CCB6997BEEDD}"/>
              </a:ext>
            </a:extLst>
          </p:cNvPr>
          <p:cNvSpPr>
            <a:spLocks noGrp="1" noChangeArrowheads="1"/>
          </p:cNvSpPr>
          <p:nvPr>
            <p:ph type="body" idx="4294967295"/>
          </p:nvPr>
        </p:nvSpPr>
        <p:spPr>
          <a:xfrm>
            <a:off x="381000" y="333375"/>
            <a:ext cx="8512175" cy="2819400"/>
          </a:xfrm>
        </p:spPr>
        <p:txBody>
          <a:bodyPr/>
          <a:lstStyle/>
          <a:p>
            <a:pPr eaLnBrk="1" hangingPunct="1">
              <a:buFontTx/>
              <a:buNone/>
            </a:pPr>
            <a:r>
              <a:rPr lang="zh-CN" altLang="en-US" sz="2800" b="1">
                <a:solidFill>
                  <a:srgbClr val="CC6600"/>
                </a:solidFill>
                <a:effectLst>
                  <a:outerShdw blurRad="38100" dist="38100" dir="2700000" algn="tl">
                    <a:srgbClr val="C0C0C0"/>
                  </a:outerShdw>
                </a:effectLst>
              </a:rPr>
              <a:t>3、特殊矩阵的奇异值</a:t>
            </a:r>
          </a:p>
          <a:p>
            <a:pPr eaLnBrk="1" hangingPunct="1">
              <a:spcBef>
                <a:spcPct val="30000"/>
              </a:spcBef>
            </a:pPr>
            <a:r>
              <a:rPr lang="zh-CN" altLang="en-US" sz="2800" b="1">
                <a:solidFill>
                  <a:srgbClr val="CC6600"/>
                </a:solidFill>
              </a:rPr>
              <a:t>定理3</a:t>
            </a:r>
            <a:r>
              <a:rPr lang="zh-CN" altLang="en-US" sz="2800" b="1">
                <a:solidFill>
                  <a:srgbClr val="CC6600"/>
                </a:solidFill>
                <a:sym typeface="Symbol" pitchFamily="2" charset="2"/>
              </a:rPr>
              <a:t>13</a:t>
            </a:r>
            <a:r>
              <a:rPr lang="zh-CN" altLang="en-US" sz="2800" b="1">
                <a:solidFill>
                  <a:srgbClr val="003300"/>
                </a:solidFill>
              </a:rPr>
              <a:t>（</a:t>
            </a:r>
            <a:r>
              <a:rPr lang="en-US" altLang="zh-CN" sz="2800" b="1">
                <a:solidFill>
                  <a:srgbClr val="003300"/>
                </a:solidFill>
              </a:rPr>
              <a:t>P</a:t>
            </a:r>
            <a:r>
              <a:rPr lang="en-US" altLang="zh-CN" sz="2800" b="1">
                <a:solidFill>
                  <a:srgbClr val="003300"/>
                </a:solidFill>
                <a:sym typeface="Symbol" pitchFamily="2" charset="2"/>
              </a:rPr>
              <a:t></a:t>
            </a:r>
            <a:r>
              <a:rPr lang="en-US" altLang="zh-CN" sz="2800" b="1">
                <a:solidFill>
                  <a:srgbClr val="003300"/>
                </a:solidFill>
              </a:rPr>
              <a:t>82）：</a:t>
            </a:r>
            <a:endParaRPr lang="zh-CN" altLang="en-US" sz="2800" b="1">
              <a:solidFill>
                <a:srgbClr val="003300"/>
              </a:solidFill>
            </a:endParaRPr>
          </a:p>
          <a:p>
            <a:pPr lvl="1" eaLnBrk="1" hangingPunct="1"/>
            <a:r>
              <a:rPr lang="zh-CN" altLang="en-US" sz="2400" b="1"/>
              <a:t> </a:t>
            </a:r>
            <a:r>
              <a:rPr lang="zh-CN" altLang="en-US" b="1"/>
              <a:t>正规矩阵</a:t>
            </a:r>
            <a:r>
              <a:rPr lang="en-US" altLang="zh-CN" b="1"/>
              <a:t>A</a:t>
            </a:r>
            <a:r>
              <a:rPr lang="zh-CN" altLang="en-US" b="1"/>
              <a:t>的奇异值等于</a:t>
            </a:r>
            <a:r>
              <a:rPr lang="en-US" altLang="zh-CN" b="1"/>
              <a:t>A</a:t>
            </a:r>
            <a:r>
              <a:rPr lang="zh-CN" altLang="en-US" b="1"/>
              <a:t>的</a:t>
            </a:r>
            <a:r>
              <a:rPr lang="en-US" altLang="zh-CN" b="1"/>
              <a:t>(</a:t>
            </a:r>
            <a:r>
              <a:rPr lang="zh-CN" altLang="en-US" b="1">
                <a:solidFill>
                  <a:srgbClr val="0000FF"/>
                </a:solidFill>
              </a:rPr>
              <a:t>非零</a:t>
            </a:r>
            <a:r>
              <a:rPr lang="en-US" altLang="zh-CN" b="1"/>
              <a:t>)</a:t>
            </a:r>
            <a:r>
              <a:rPr lang="zh-CN" altLang="en-US" b="1"/>
              <a:t>特征值的模。</a:t>
            </a:r>
          </a:p>
          <a:p>
            <a:pPr lvl="1" eaLnBrk="1" hangingPunct="1"/>
            <a:r>
              <a:rPr lang="zh-CN" altLang="en-US" b="1"/>
              <a:t> 正定的</a:t>
            </a:r>
            <a:r>
              <a:rPr lang="en-US" altLang="zh-CN" b="1"/>
              <a:t>Hermite</a:t>
            </a:r>
            <a:r>
              <a:rPr lang="zh-CN" altLang="en-US" b="1"/>
              <a:t>矩阵</a:t>
            </a:r>
            <a:r>
              <a:rPr lang="en-US" altLang="zh-CN" b="1"/>
              <a:t>A</a:t>
            </a:r>
            <a:r>
              <a:rPr lang="zh-CN" altLang="en-US" b="1"/>
              <a:t>的奇异值就是</a:t>
            </a:r>
            <a:r>
              <a:rPr lang="en-US" altLang="zh-CN" b="1"/>
              <a:t>A</a:t>
            </a:r>
            <a:r>
              <a:rPr lang="zh-CN" altLang="en-US" b="1"/>
              <a:t>的特征值。</a:t>
            </a:r>
          </a:p>
          <a:p>
            <a:pPr lvl="1" eaLnBrk="1" hangingPunct="1"/>
            <a:r>
              <a:rPr lang="zh-CN" altLang="en-US" b="1"/>
              <a:t> </a:t>
            </a:r>
            <a:r>
              <a:rPr lang="zh-CN" altLang="en-US" b="1">
                <a:solidFill>
                  <a:srgbClr val="0000FF"/>
                </a:solidFill>
              </a:rPr>
              <a:t>酉等价</a:t>
            </a:r>
            <a:r>
              <a:rPr lang="zh-CN" altLang="en-US" b="1"/>
              <a:t>矩阵的奇异值相等。</a:t>
            </a:r>
          </a:p>
        </p:txBody>
      </p:sp>
      <p:sp>
        <p:nvSpPr>
          <p:cNvPr id="23556" name="Text Box 4">
            <a:extLst>
              <a:ext uri="{FF2B5EF4-FFF2-40B4-BE49-F238E27FC236}">
                <a16:creationId xmlns:a16="http://schemas.microsoft.com/office/drawing/2014/main" id="{C61E0DC7-914D-412C-A24E-33922179E136}"/>
              </a:ext>
            </a:extLst>
          </p:cNvPr>
          <p:cNvSpPr txBox="1">
            <a:spLocks noChangeArrowheads="1"/>
          </p:cNvSpPr>
          <p:nvPr/>
        </p:nvSpPr>
        <p:spPr bwMode="auto">
          <a:xfrm>
            <a:off x="598488" y="3068638"/>
            <a:ext cx="8077200" cy="1041400"/>
          </a:xfrm>
          <a:prstGeom prst="rect">
            <a:avLst/>
          </a:prstGeom>
          <a:solidFill>
            <a:schemeClr val="accent1"/>
          </a:solidFill>
          <a:ln w="9525">
            <a:solidFill>
              <a:schemeClr val="accent2"/>
            </a:solidFill>
            <a:miter lim="800000"/>
            <a:headEnd/>
            <a:tailEnd/>
          </a:ln>
          <a:effectLst/>
        </p:spPr>
        <p:txBody>
          <a:bodyPr>
            <a:spAutoFit/>
          </a:bodyPr>
          <a:lstStyle>
            <a:lvl1pPr>
              <a:spcBef>
                <a:spcPct val="20000"/>
              </a:spcBef>
              <a:buBlip>
                <a:blip r:embed="rId2"/>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rgbClr val="CC6600"/>
              </a:buClr>
              <a:buFont typeface="Wingdings" pitchFamily="2" charset="2"/>
              <a:buChar char="Ø"/>
            </a:pPr>
            <a:r>
              <a:rPr lang="en-US" altLang="zh-CN" sz="2400" b="1">
                <a:effectLst>
                  <a:outerShdw blurRad="38100" dist="38100" dir="2700000" algn="tl">
                    <a:srgbClr val="FFFFFF"/>
                  </a:outerShdw>
                </a:effectLst>
              </a:rPr>
              <a:t> </a:t>
            </a:r>
            <a:r>
              <a:rPr lang="en-US" altLang="zh-CN" sz="2800" b="1"/>
              <a:t>A</a:t>
            </a:r>
            <a:r>
              <a:rPr lang="zh-CN" altLang="en-US" sz="2800" b="1"/>
              <a:t>和</a:t>
            </a:r>
            <a:r>
              <a:rPr lang="en-US" altLang="zh-CN" sz="2800" b="1"/>
              <a:t>B</a:t>
            </a:r>
            <a:r>
              <a:rPr lang="zh-CN" altLang="en-US" sz="2800" b="1"/>
              <a:t>酉等价，则</a:t>
            </a:r>
            <a:r>
              <a:rPr lang="en-US" altLang="zh-CN" sz="2800" b="1"/>
              <a:t>A</a:t>
            </a:r>
            <a:r>
              <a:rPr lang="en-US" altLang="zh-CN" sz="2800" b="1" baseline="30000"/>
              <a:t>H</a:t>
            </a:r>
            <a:r>
              <a:rPr lang="en-US" altLang="zh-CN" sz="2800" b="1"/>
              <a:t>A</a:t>
            </a:r>
            <a:r>
              <a:rPr lang="zh-CN" altLang="en-US" sz="2800" b="1"/>
              <a:t>和</a:t>
            </a:r>
            <a:r>
              <a:rPr lang="en-US" altLang="zh-CN" sz="2800" b="1"/>
              <a:t>B</a:t>
            </a:r>
            <a:r>
              <a:rPr lang="en-US" altLang="zh-CN" sz="2800" b="1" baseline="30000"/>
              <a:t>H</a:t>
            </a:r>
            <a:r>
              <a:rPr lang="en-US" altLang="zh-CN" sz="2800" b="1"/>
              <a:t>B</a:t>
            </a:r>
            <a:r>
              <a:rPr lang="zh-CN" altLang="en-US" sz="2800" b="1"/>
              <a:t>酉相似。</a:t>
            </a:r>
          </a:p>
          <a:p>
            <a:pPr eaLnBrk="1" hangingPunct="1">
              <a:buClr>
                <a:srgbClr val="CC6600"/>
              </a:buClr>
              <a:buFont typeface="Wingdings" pitchFamily="2" charset="2"/>
              <a:buChar char="Ø"/>
            </a:pPr>
            <a:r>
              <a:rPr lang="zh-CN" altLang="en-US" sz="2800" b="1"/>
              <a:t> 奇异值是酉等价的不变性质。</a:t>
            </a:r>
          </a:p>
        </p:txBody>
      </p:sp>
      <p:graphicFrame>
        <p:nvGraphicFramePr>
          <p:cNvPr id="21508" name="Object 4">
            <a:extLst>
              <a:ext uri="{FF2B5EF4-FFF2-40B4-BE49-F238E27FC236}">
                <a16:creationId xmlns:a16="http://schemas.microsoft.com/office/drawing/2014/main" id="{5127319E-F506-5795-5486-99A016F9FCC7}"/>
              </a:ext>
            </a:extLst>
          </p:cNvPr>
          <p:cNvGraphicFramePr>
            <a:graphicFrameLocks noChangeAspect="1"/>
          </p:cNvGraphicFramePr>
          <p:nvPr/>
        </p:nvGraphicFramePr>
        <p:xfrm>
          <a:off x="250825" y="4221163"/>
          <a:ext cx="2376488" cy="1598612"/>
        </p:xfrm>
        <a:graphic>
          <a:graphicData uri="http://schemas.openxmlformats.org/presentationml/2006/ole">
            <mc:AlternateContent xmlns:mc="http://schemas.openxmlformats.org/markup-compatibility/2006">
              <mc:Choice xmlns:v="urn:schemas-microsoft-com:vml" Requires="v">
                <p:oleObj name="公式" r:id="rId4" imgW="1828800" imgH="1104900" progId="Equation.3">
                  <p:embed/>
                </p:oleObj>
              </mc:Choice>
              <mc:Fallback>
                <p:oleObj name="公式" r:id="rId4" imgW="1828800" imgH="11049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825" y="4221163"/>
                        <a:ext cx="2376488" cy="1598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Object 4">
            <a:extLst>
              <a:ext uri="{FF2B5EF4-FFF2-40B4-BE49-F238E27FC236}">
                <a16:creationId xmlns:a16="http://schemas.microsoft.com/office/drawing/2014/main" id="{DCB545CF-6FFB-F249-2E35-887998248C54}"/>
              </a:ext>
            </a:extLst>
          </p:cNvPr>
          <p:cNvGraphicFramePr>
            <a:graphicFrameLocks noChangeAspect="1"/>
          </p:cNvGraphicFramePr>
          <p:nvPr/>
        </p:nvGraphicFramePr>
        <p:xfrm>
          <a:off x="2627313" y="4235450"/>
          <a:ext cx="2881312" cy="1641475"/>
        </p:xfrm>
        <a:graphic>
          <a:graphicData uri="http://schemas.openxmlformats.org/presentationml/2006/ole">
            <mc:AlternateContent xmlns:mc="http://schemas.openxmlformats.org/markup-compatibility/2006">
              <mc:Choice xmlns:v="urn:schemas-microsoft-com:vml" Requires="v">
                <p:oleObj name="公式" r:id="rId6" imgW="2159000" imgH="1104900" progId="Equation.3">
                  <p:embed/>
                </p:oleObj>
              </mc:Choice>
              <mc:Fallback>
                <p:oleObj name="公式" r:id="rId6" imgW="2159000" imgH="11049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27313" y="4235450"/>
                        <a:ext cx="2881312" cy="164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 name="Object 4">
            <a:extLst>
              <a:ext uri="{FF2B5EF4-FFF2-40B4-BE49-F238E27FC236}">
                <a16:creationId xmlns:a16="http://schemas.microsoft.com/office/drawing/2014/main" id="{5CB4CD01-CBB3-60E6-C595-D833E3A8B8F4}"/>
              </a:ext>
            </a:extLst>
          </p:cNvPr>
          <p:cNvGraphicFramePr>
            <a:graphicFrameLocks noChangeAspect="1"/>
          </p:cNvGraphicFramePr>
          <p:nvPr/>
        </p:nvGraphicFramePr>
        <p:xfrm>
          <a:off x="5449888" y="4235450"/>
          <a:ext cx="3514725" cy="1719263"/>
        </p:xfrm>
        <a:graphic>
          <a:graphicData uri="http://schemas.openxmlformats.org/presentationml/2006/ole">
            <mc:AlternateContent xmlns:mc="http://schemas.openxmlformats.org/markup-compatibility/2006">
              <mc:Choice xmlns:v="urn:schemas-microsoft-com:vml" Requires="v">
                <p:oleObj name="公式" r:id="rId8" imgW="2641600" imgH="1168400" progId="Equation.3">
                  <p:embed/>
                </p:oleObj>
              </mc:Choice>
              <mc:Fallback>
                <p:oleObj name="公式" r:id="rId8" imgW="2641600" imgH="1168400"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49888" y="4235450"/>
                        <a:ext cx="3514725" cy="1719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4">
            <a:extLst>
              <a:ext uri="{FF2B5EF4-FFF2-40B4-BE49-F238E27FC236}">
                <a16:creationId xmlns:a16="http://schemas.microsoft.com/office/drawing/2014/main" id="{06BB488C-EE12-F6F6-8B39-24F30316D9DE}"/>
              </a:ext>
            </a:extLst>
          </p:cNvPr>
          <p:cNvGraphicFramePr>
            <a:graphicFrameLocks noChangeAspect="1"/>
          </p:cNvGraphicFramePr>
          <p:nvPr/>
        </p:nvGraphicFramePr>
        <p:xfrm>
          <a:off x="2627313" y="5876925"/>
          <a:ext cx="3376612" cy="573088"/>
        </p:xfrm>
        <a:graphic>
          <a:graphicData uri="http://schemas.openxmlformats.org/presentationml/2006/ole">
            <mc:AlternateContent xmlns:mc="http://schemas.openxmlformats.org/markup-compatibility/2006">
              <mc:Choice xmlns:v="urn:schemas-microsoft-com:vml" Requires="v">
                <p:oleObj name="公式" r:id="rId10" imgW="2540000" imgH="393700" progId="Equation.3">
                  <p:embed/>
                </p:oleObj>
              </mc:Choice>
              <mc:Fallback>
                <p:oleObj name="公式" r:id="rId10" imgW="2540000" imgH="393700" progId="Equation.3">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27313" y="5876925"/>
                        <a:ext cx="3376612" cy="57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anim calcmode="lin" valueType="num">
                                      <p:cBhvr additive="base">
                                        <p:cTn id="7" dur="500" fill="hold"/>
                                        <p:tgtEl>
                                          <p:spTgt spid="23555">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5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3555">
                                            <p:txEl>
                                              <p:pRg st="2" end="2"/>
                                            </p:txEl>
                                          </p:spTgt>
                                        </p:tgtEl>
                                        <p:attrNameLst>
                                          <p:attrName>style.visibility</p:attrName>
                                        </p:attrNameLst>
                                      </p:cBhvr>
                                      <p:to>
                                        <p:strVal val="visible"/>
                                      </p:to>
                                    </p:set>
                                    <p:anim calcmode="lin" valueType="num">
                                      <p:cBhvr additive="base">
                                        <p:cTn id="13" dur="500" fill="hold"/>
                                        <p:tgtEl>
                                          <p:spTgt spid="23555">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5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3555">
                                            <p:txEl>
                                              <p:pRg st="3" end="3"/>
                                            </p:txEl>
                                          </p:spTgt>
                                        </p:tgtEl>
                                        <p:attrNameLst>
                                          <p:attrName>style.visibility</p:attrName>
                                        </p:attrNameLst>
                                      </p:cBhvr>
                                      <p:to>
                                        <p:strVal val="visible"/>
                                      </p:to>
                                    </p:set>
                                    <p:anim calcmode="lin" valueType="num">
                                      <p:cBhvr additive="base">
                                        <p:cTn id="19" dur="500" fill="hold"/>
                                        <p:tgtEl>
                                          <p:spTgt spid="2355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55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3555">
                                            <p:txEl>
                                              <p:pRg st="4" end="4"/>
                                            </p:txEl>
                                          </p:spTgt>
                                        </p:tgtEl>
                                        <p:attrNameLst>
                                          <p:attrName>style.visibility</p:attrName>
                                        </p:attrNameLst>
                                      </p:cBhvr>
                                      <p:to>
                                        <p:strVal val="visible"/>
                                      </p:to>
                                    </p:set>
                                    <p:anim calcmode="lin" valueType="num">
                                      <p:cBhvr additive="base">
                                        <p:cTn id="25" dur="500" fill="hold"/>
                                        <p:tgtEl>
                                          <p:spTgt spid="23555">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355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23556">
                                            <p:bg/>
                                          </p:spTgt>
                                        </p:tgtEl>
                                        <p:attrNameLst>
                                          <p:attrName>style.visibility</p:attrName>
                                        </p:attrNameLst>
                                      </p:cBhvr>
                                      <p:to>
                                        <p:strVal val="visible"/>
                                      </p:to>
                                    </p:set>
                                    <p:anim calcmode="lin" valueType="num">
                                      <p:cBhvr additive="base">
                                        <p:cTn id="31" dur="500" fill="hold"/>
                                        <p:tgtEl>
                                          <p:spTgt spid="23556">
                                            <p:bg/>
                                          </p:spTgt>
                                        </p:tgtEl>
                                        <p:attrNameLst>
                                          <p:attrName>ppt_x</p:attrName>
                                        </p:attrNameLst>
                                      </p:cBhvr>
                                      <p:tavLst>
                                        <p:tav tm="0">
                                          <p:val>
                                            <p:strVal val="0-#ppt_w/2"/>
                                          </p:val>
                                        </p:tav>
                                        <p:tav tm="100000">
                                          <p:val>
                                            <p:strVal val="#ppt_x"/>
                                          </p:val>
                                        </p:tav>
                                      </p:tavLst>
                                    </p:anim>
                                    <p:anim calcmode="lin" valueType="num">
                                      <p:cBhvr additive="base">
                                        <p:cTn id="32" dur="500" fill="hold"/>
                                        <p:tgtEl>
                                          <p:spTgt spid="23556">
                                            <p:bg/>
                                          </p:spTgt>
                                        </p:tgtEl>
                                        <p:attrNameLst>
                                          <p:attrName>ppt_y</p:attrName>
                                        </p:attrNameLst>
                                      </p:cBhvr>
                                      <p:tavLst>
                                        <p:tav tm="0">
                                          <p:val>
                                            <p:strVal val="#ppt_y"/>
                                          </p:val>
                                        </p:tav>
                                        <p:tav tm="100000">
                                          <p:val>
                                            <p:strVal val="#ppt_y"/>
                                          </p:val>
                                        </p:tav>
                                      </p:tavLst>
                                    </p:anim>
                                  </p:childTnLst>
                                </p:cTn>
                              </p:par>
                            </p:childTnLst>
                          </p:cTn>
                        </p:par>
                        <p:par>
                          <p:cTn id="33" fill="hold" nodeType="afterGroup">
                            <p:stCondLst>
                              <p:cond delay="500"/>
                            </p:stCondLst>
                            <p:childTnLst>
                              <p:par>
                                <p:cTn id="34" presetID="2" presetClass="entr" presetSubtype="8" fill="hold" nodeType="afterEffect">
                                  <p:stCondLst>
                                    <p:cond delay="0"/>
                                  </p:stCondLst>
                                  <p:childTnLst>
                                    <p:set>
                                      <p:cBhvr>
                                        <p:cTn id="35" dur="1" fill="hold">
                                          <p:stCondLst>
                                            <p:cond delay="0"/>
                                          </p:stCondLst>
                                        </p:cTn>
                                        <p:tgtEl>
                                          <p:spTgt spid="23556">
                                            <p:txEl>
                                              <p:pRg st="0" end="0"/>
                                            </p:txEl>
                                          </p:spTgt>
                                        </p:tgtEl>
                                        <p:attrNameLst>
                                          <p:attrName>style.visibility</p:attrName>
                                        </p:attrNameLst>
                                      </p:cBhvr>
                                      <p:to>
                                        <p:strVal val="visible"/>
                                      </p:to>
                                    </p:set>
                                    <p:anim calcmode="lin" valueType="num">
                                      <p:cBhvr additive="base">
                                        <p:cTn id="36" dur="500" fill="hold"/>
                                        <p:tgtEl>
                                          <p:spTgt spid="23556">
                                            <p:txEl>
                                              <p:pRg st="0" end="0"/>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2355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8" fill="hold" nodeType="clickEffect">
                                  <p:stCondLst>
                                    <p:cond delay="0"/>
                                  </p:stCondLst>
                                  <p:childTnLst>
                                    <p:set>
                                      <p:cBhvr>
                                        <p:cTn id="41" dur="1" fill="hold">
                                          <p:stCondLst>
                                            <p:cond delay="0"/>
                                          </p:stCondLst>
                                        </p:cTn>
                                        <p:tgtEl>
                                          <p:spTgt spid="23556">
                                            <p:txEl>
                                              <p:pRg st="1" end="1"/>
                                            </p:txEl>
                                          </p:spTgt>
                                        </p:tgtEl>
                                        <p:attrNameLst>
                                          <p:attrName>style.visibility</p:attrName>
                                        </p:attrNameLst>
                                      </p:cBhvr>
                                      <p:to>
                                        <p:strVal val="visible"/>
                                      </p:to>
                                    </p:set>
                                    <p:anim calcmode="lin" valueType="num">
                                      <p:cBhvr additive="base">
                                        <p:cTn id="42" dur="500" fill="hold"/>
                                        <p:tgtEl>
                                          <p:spTgt spid="23556">
                                            <p:txEl>
                                              <p:pRg st="1" end="1"/>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2355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8" fill="hold" nodeType="clickEffect">
                                  <p:stCondLst>
                                    <p:cond delay="0"/>
                                  </p:stCondLst>
                                  <p:childTnLst>
                                    <p:set>
                                      <p:cBhvr>
                                        <p:cTn id="47" dur="1" fill="hold">
                                          <p:stCondLst>
                                            <p:cond delay="0"/>
                                          </p:stCondLst>
                                        </p:cTn>
                                        <p:tgtEl>
                                          <p:spTgt spid="21508"/>
                                        </p:tgtEl>
                                        <p:attrNameLst>
                                          <p:attrName>style.visibility</p:attrName>
                                        </p:attrNameLst>
                                      </p:cBhvr>
                                      <p:to>
                                        <p:strVal val="visible"/>
                                      </p:to>
                                    </p:set>
                                    <p:anim calcmode="lin" valueType="num">
                                      <p:cBhvr additive="base">
                                        <p:cTn id="48" dur="500" fill="hold"/>
                                        <p:tgtEl>
                                          <p:spTgt spid="21508"/>
                                        </p:tgtEl>
                                        <p:attrNameLst>
                                          <p:attrName>ppt_x</p:attrName>
                                        </p:attrNameLst>
                                      </p:cBhvr>
                                      <p:tavLst>
                                        <p:tav tm="0">
                                          <p:val>
                                            <p:strVal val="0-#ppt_w/2"/>
                                          </p:val>
                                        </p:tav>
                                        <p:tav tm="100000">
                                          <p:val>
                                            <p:strVal val="#ppt_x"/>
                                          </p:val>
                                        </p:tav>
                                      </p:tavLst>
                                    </p:anim>
                                    <p:anim calcmode="lin" valueType="num">
                                      <p:cBhvr additive="base">
                                        <p:cTn id="49" dur="500" fill="hold"/>
                                        <p:tgtEl>
                                          <p:spTgt spid="21508"/>
                                        </p:tgtEl>
                                        <p:attrNameLst>
                                          <p:attrName>ppt_y</p:attrName>
                                        </p:attrNameLst>
                                      </p:cBhvr>
                                      <p:tavLst>
                                        <p:tav tm="0">
                                          <p:val>
                                            <p:strVal val="#ppt_y"/>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 presetClass="entr" presetSubtype="8" fill="hold" nodeType="clickEffect">
                                  <p:stCondLst>
                                    <p:cond delay="0"/>
                                  </p:stCondLst>
                                  <p:childTnLst>
                                    <p:set>
                                      <p:cBhvr>
                                        <p:cTn id="53" dur="1" fill="hold">
                                          <p:stCondLst>
                                            <p:cond delay="0"/>
                                          </p:stCondLst>
                                        </p:cTn>
                                        <p:tgtEl>
                                          <p:spTgt spid="2"/>
                                        </p:tgtEl>
                                        <p:attrNameLst>
                                          <p:attrName>style.visibility</p:attrName>
                                        </p:attrNameLst>
                                      </p:cBhvr>
                                      <p:to>
                                        <p:strVal val="visible"/>
                                      </p:to>
                                    </p:set>
                                    <p:anim calcmode="lin" valueType="num">
                                      <p:cBhvr additive="base">
                                        <p:cTn id="54" dur="500" fill="hold"/>
                                        <p:tgtEl>
                                          <p:spTgt spid="2"/>
                                        </p:tgtEl>
                                        <p:attrNameLst>
                                          <p:attrName>ppt_x</p:attrName>
                                        </p:attrNameLst>
                                      </p:cBhvr>
                                      <p:tavLst>
                                        <p:tav tm="0">
                                          <p:val>
                                            <p:strVal val="0-#ppt_w/2"/>
                                          </p:val>
                                        </p:tav>
                                        <p:tav tm="100000">
                                          <p:val>
                                            <p:strVal val="#ppt_x"/>
                                          </p:val>
                                        </p:tav>
                                      </p:tavLst>
                                    </p:anim>
                                    <p:anim calcmode="lin" valueType="num">
                                      <p:cBhvr additive="base">
                                        <p:cTn id="55"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2" presetClass="entr" presetSubtype="8" fill="hold" nodeType="clickEffect">
                                  <p:stCondLst>
                                    <p:cond delay="0"/>
                                  </p:stCondLst>
                                  <p:childTnLst>
                                    <p:set>
                                      <p:cBhvr>
                                        <p:cTn id="59" dur="1" fill="hold">
                                          <p:stCondLst>
                                            <p:cond delay="0"/>
                                          </p:stCondLst>
                                        </p:cTn>
                                        <p:tgtEl>
                                          <p:spTgt spid="3"/>
                                        </p:tgtEl>
                                        <p:attrNameLst>
                                          <p:attrName>style.visibility</p:attrName>
                                        </p:attrNameLst>
                                      </p:cBhvr>
                                      <p:to>
                                        <p:strVal val="visible"/>
                                      </p:to>
                                    </p:set>
                                    <p:anim calcmode="lin" valueType="num">
                                      <p:cBhvr additive="base">
                                        <p:cTn id="60" dur="500" fill="hold"/>
                                        <p:tgtEl>
                                          <p:spTgt spid="3"/>
                                        </p:tgtEl>
                                        <p:attrNameLst>
                                          <p:attrName>ppt_x</p:attrName>
                                        </p:attrNameLst>
                                      </p:cBhvr>
                                      <p:tavLst>
                                        <p:tav tm="0">
                                          <p:val>
                                            <p:strVal val="0-#ppt_w/2"/>
                                          </p:val>
                                        </p:tav>
                                        <p:tav tm="100000">
                                          <p:val>
                                            <p:strVal val="#ppt_x"/>
                                          </p:val>
                                        </p:tav>
                                      </p:tavLst>
                                    </p:anim>
                                    <p:anim calcmode="lin" valueType="num">
                                      <p:cBhvr additive="base">
                                        <p:cTn id="61"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2" presetClass="entr" presetSubtype="8" fill="hold" nodeType="clickEffect">
                                  <p:stCondLst>
                                    <p:cond delay="0"/>
                                  </p:stCondLst>
                                  <p:childTnLst>
                                    <p:set>
                                      <p:cBhvr>
                                        <p:cTn id="65" dur="1" fill="hold">
                                          <p:stCondLst>
                                            <p:cond delay="0"/>
                                          </p:stCondLst>
                                        </p:cTn>
                                        <p:tgtEl>
                                          <p:spTgt spid="4"/>
                                        </p:tgtEl>
                                        <p:attrNameLst>
                                          <p:attrName>style.visibility</p:attrName>
                                        </p:attrNameLst>
                                      </p:cBhvr>
                                      <p:to>
                                        <p:strVal val="visible"/>
                                      </p:to>
                                    </p:set>
                                    <p:anim calcmode="lin" valueType="num">
                                      <p:cBhvr additive="base">
                                        <p:cTn id="66" dur="500" fill="hold"/>
                                        <p:tgtEl>
                                          <p:spTgt spid="4"/>
                                        </p:tgtEl>
                                        <p:attrNameLst>
                                          <p:attrName>ppt_x</p:attrName>
                                        </p:attrNameLst>
                                      </p:cBhvr>
                                      <p:tavLst>
                                        <p:tav tm="0">
                                          <p:val>
                                            <p:strVal val="0-#ppt_w/2"/>
                                          </p:val>
                                        </p:tav>
                                        <p:tav tm="100000">
                                          <p:val>
                                            <p:strVal val="#ppt_x"/>
                                          </p:val>
                                        </p:tav>
                                      </p:tavLst>
                                    </p:anim>
                                    <p:anim calcmode="lin" valueType="num">
                                      <p:cBhvr additive="base">
                                        <p:cTn id="67"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bldLvl="2" autoUpdateAnimBg="0"/>
      <p:bldP spid="23556" grpId="0" build="p"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3555" name="Rectangle 3">
            <a:extLst>
              <a:ext uri="{FF2B5EF4-FFF2-40B4-BE49-F238E27FC236}">
                <a16:creationId xmlns:a16="http://schemas.microsoft.com/office/drawing/2014/main" id="{3DE49ADB-3FB4-430E-A119-4B6006CABDF5}"/>
              </a:ext>
            </a:extLst>
          </p:cNvPr>
          <p:cNvSpPr>
            <a:spLocks noGrp="1" noChangeArrowheads="1"/>
          </p:cNvSpPr>
          <p:nvPr>
            <p:ph type="body" idx="1"/>
          </p:nvPr>
        </p:nvSpPr>
        <p:spPr>
          <a:xfrm>
            <a:off x="381000" y="333375"/>
            <a:ext cx="8512175" cy="2819400"/>
          </a:xfrm>
        </p:spPr>
        <p:txBody>
          <a:bodyPr/>
          <a:lstStyle/>
          <a:p>
            <a:pPr eaLnBrk="1" hangingPunct="1">
              <a:buFontTx/>
              <a:buNone/>
            </a:pPr>
            <a:r>
              <a:rPr lang="zh-CN" altLang="en-US" sz="2800" b="1">
                <a:solidFill>
                  <a:srgbClr val="CC6600"/>
                </a:solidFill>
                <a:effectLst>
                  <a:outerShdw blurRad="38100" dist="38100" dir="2700000" algn="tl">
                    <a:srgbClr val="C0C0C0"/>
                  </a:outerShdw>
                </a:effectLst>
              </a:rPr>
              <a:t>3、特殊矩阵的奇异值</a:t>
            </a:r>
          </a:p>
          <a:p>
            <a:pPr eaLnBrk="1" hangingPunct="1">
              <a:spcBef>
                <a:spcPct val="30000"/>
              </a:spcBef>
            </a:pPr>
            <a:r>
              <a:rPr lang="zh-CN" altLang="en-US" sz="2800" b="1">
                <a:solidFill>
                  <a:srgbClr val="CC6600"/>
                </a:solidFill>
              </a:rPr>
              <a:t>定理3</a:t>
            </a:r>
            <a:r>
              <a:rPr lang="zh-CN" altLang="en-US" sz="2800" b="1">
                <a:solidFill>
                  <a:srgbClr val="CC6600"/>
                </a:solidFill>
                <a:sym typeface="Symbol" pitchFamily="2" charset="2"/>
              </a:rPr>
              <a:t>13</a:t>
            </a:r>
            <a:r>
              <a:rPr lang="zh-CN" altLang="en-US" sz="2800" b="1">
                <a:solidFill>
                  <a:srgbClr val="003300"/>
                </a:solidFill>
              </a:rPr>
              <a:t>（</a:t>
            </a:r>
            <a:r>
              <a:rPr lang="en-US" altLang="zh-CN" sz="2800" b="1">
                <a:solidFill>
                  <a:srgbClr val="003300"/>
                </a:solidFill>
              </a:rPr>
              <a:t>P</a:t>
            </a:r>
            <a:r>
              <a:rPr lang="en-US" altLang="zh-CN" sz="2800" b="1">
                <a:solidFill>
                  <a:srgbClr val="003300"/>
                </a:solidFill>
                <a:sym typeface="Symbol" pitchFamily="2" charset="2"/>
              </a:rPr>
              <a:t></a:t>
            </a:r>
            <a:r>
              <a:rPr lang="en-US" altLang="zh-CN" sz="2800" b="1">
                <a:solidFill>
                  <a:srgbClr val="003300"/>
                </a:solidFill>
              </a:rPr>
              <a:t>82）：</a:t>
            </a:r>
            <a:endParaRPr lang="zh-CN" altLang="en-US" sz="2800" b="1">
              <a:solidFill>
                <a:srgbClr val="003300"/>
              </a:solidFill>
            </a:endParaRPr>
          </a:p>
          <a:p>
            <a:pPr lvl="1" eaLnBrk="1" hangingPunct="1"/>
            <a:r>
              <a:rPr lang="zh-CN" altLang="en-US" sz="2400" b="1"/>
              <a:t> </a:t>
            </a:r>
            <a:r>
              <a:rPr lang="zh-CN" altLang="en-US" b="1"/>
              <a:t>正规矩阵</a:t>
            </a:r>
            <a:r>
              <a:rPr lang="en-US" altLang="zh-CN" b="1"/>
              <a:t>A</a:t>
            </a:r>
            <a:r>
              <a:rPr lang="zh-CN" altLang="en-US" b="1"/>
              <a:t>的奇异值等于</a:t>
            </a:r>
            <a:r>
              <a:rPr lang="en-US" altLang="zh-CN" b="1"/>
              <a:t>A</a:t>
            </a:r>
            <a:r>
              <a:rPr lang="zh-CN" altLang="en-US" b="1"/>
              <a:t>的</a:t>
            </a:r>
            <a:r>
              <a:rPr lang="en-US" altLang="zh-CN" b="1"/>
              <a:t>(</a:t>
            </a:r>
            <a:r>
              <a:rPr lang="zh-CN" altLang="en-US" b="1">
                <a:solidFill>
                  <a:srgbClr val="0000FF"/>
                </a:solidFill>
              </a:rPr>
              <a:t>非零</a:t>
            </a:r>
            <a:r>
              <a:rPr lang="en-US" altLang="zh-CN" b="1"/>
              <a:t>)</a:t>
            </a:r>
            <a:r>
              <a:rPr lang="zh-CN" altLang="en-US" b="1"/>
              <a:t>特征值的模。</a:t>
            </a:r>
          </a:p>
          <a:p>
            <a:pPr lvl="1" eaLnBrk="1" hangingPunct="1"/>
            <a:r>
              <a:rPr lang="zh-CN" altLang="en-US" b="1"/>
              <a:t> 正定的</a:t>
            </a:r>
            <a:r>
              <a:rPr lang="en-US" altLang="zh-CN" b="1"/>
              <a:t>Hermite</a:t>
            </a:r>
            <a:r>
              <a:rPr lang="zh-CN" altLang="en-US" b="1"/>
              <a:t>矩阵</a:t>
            </a:r>
            <a:r>
              <a:rPr lang="en-US" altLang="zh-CN" b="1"/>
              <a:t>A</a:t>
            </a:r>
            <a:r>
              <a:rPr lang="zh-CN" altLang="en-US" b="1"/>
              <a:t>的奇异值就是</a:t>
            </a:r>
            <a:r>
              <a:rPr lang="en-US" altLang="zh-CN" b="1"/>
              <a:t>A</a:t>
            </a:r>
            <a:r>
              <a:rPr lang="zh-CN" altLang="en-US" b="1"/>
              <a:t>的特征值。</a:t>
            </a:r>
          </a:p>
          <a:p>
            <a:pPr lvl="1" eaLnBrk="1" hangingPunct="1"/>
            <a:r>
              <a:rPr lang="zh-CN" altLang="en-US" b="1"/>
              <a:t> </a:t>
            </a:r>
            <a:r>
              <a:rPr lang="zh-CN" altLang="en-US" b="1">
                <a:solidFill>
                  <a:srgbClr val="0000FF"/>
                </a:solidFill>
              </a:rPr>
              <a:t>酉等价</a:t>
            </a:r>
            <a:r>
              <a:rPr lang="zh-CN" altLang="en-US" b="1"/>
              <a:t>矩阵的奇异值相等。</a:t>
            </a:r>
          </a:p>
        </p:txBody>
      </p:sp>
      <p:sp>
        <p:nvSpPr>
          <p:cNvPr id="23556" name="Text Box 4">
            <a:extLst>
              <a:ext uri="{FF2B5EF4-FFF2-40B4-BE49-F238E27FC236}">
                <a16:creationId xmlns:a16="http://schemas.microsoft.com/office/drawing/2014/main" id="{66C670C1-792C-4E42-97C3-849A1E4F0616}"/>
              </a:ext>
            </a:extLst>
          </p:cNvPr>
          <p:cNvSpPr txBox="1">
            <a:spLocks noChangeArrowheads="1"/>
          </p:cNvSpPr>
          <p:nvPr/>
        </p:nvSpPr>
        <p:spPr bwMode="auto">
          <a:xfrm>
            <a:off x="598488" y="3068638"/>
            <a:ext cx="8077200" cy="1041400"/>
          </a:xfrm>
          <a:prstGeom prst="rect">
            <a:avLst/>
          </a:prstGeom>
          <a:solidFill>
            <a:schemeClr val="accent1"/>
          </a:solidFill>
          <a:ln w="9525">
            <a:solidFill>
              <a:schemeClr val="accent2"/>
            </a:solidFill>
            <a:miter lim="800000"/>
            <a:headEnd/>
            <a:tailEnd/>
          </a:ln>
          <a:effectLst/>
        </p:spPr>
        <p:txBody>
          <a:bodyPr>
            <a:spAutoFit/>
          </a:bodyPr>
          <a:lstStyle>
            <a:lvl1pPr>
              <a:spcBef>
                <a:spcPct val="20000"/>
              </a:spcBef>
              <a:buBlip>
                <a:blip r:embed="rId2"/>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rgbClr val="CC6600"/>
              </a:buClr>
              <a:buFont typeface="Wingdings" pitchFamily="2" charset="2"/>
              <a:buChar char="Ø"/>
            </a:pPr>
            <a:r>
              <a:rPr lang="en-US" altLang="zh-CN" sz="2400" b="1">
                <a:effectLst>
                  <a:outerShdw blurRad="38100" dist="38100" dir="2700000" algn="tl">
                    <a:srgbClr val="FFFFFF"/>
                  </a:outerShdw>
                </a:effectLst>
              </a:rPr>
              <a:t> </a:t>
            </a:r>
            <a:r>
              <a:rPr lang="en-US" altLang="zh-CN" sz="2800" b="1"/>
              <a:t>A</a:t>
            </a:r>
            <a:r>
              <a:rPr lang="zh-CN" altLang="en-US" sz="2800" b="1"/>
              <a:t>和</a:t>
            </a:r>
            <a:r>
              <a:rPr lang="en-US" altLang="zh-CN" sz="2800" b="1"/>
              <a:t>B</a:t>
            </a:r>
            <a:r>
              <a:rPr lang="zh-CN" altLang="en-US" sz="2800" b="1"/>
              <a:t>酉等价，则</a:t>
            </a:r>
            <a:r>
              <a:rPr lang="en-US" altLang="zh-CN" sz="2800" b="1"/>
              <a:t>A</a:t>
            </a:r>
            <a:r>
              <a:rPr lang="en-US" altLang="zh-CN" sz="2800" b="1" baseline="30000"/>
              <a:t>H</a:t>
            </a:r>
            <a:r>
              <a:rPr lang="en-US" altLang="zh-CN" sz="2800" b="1"/>
              <a:t>A</a:t>
            </a:r>
            <a:r>
              <a:rPr lang="zh-CN" altLang="en-US" sz="2800" b="1"/>
              <a:t>和</a:t>
            </a:r>
            <a:r>
              <a:rPr lang="en-US" altLang="zh-CN" sz="2800" b="1"/>
              <a:t>B</a:t>
            </a:r>
            <a:r>
              <a:rPr lang="en-US" altLang="zh-CN" sz="2800" b="1" baseline="30000"/>
              <a:t>H</a:t>
            </a:r>
            <a:r>
              <a:rPr lang="en-US" altLang="zh-CN" sz="2800" b="1"/>
              <a:t>B</a:t>
            </a:r>
            <a:r>
              <a:rPr lang="zh-CN" altLang="en-US" sz="2800" b="1"/>
              <a:t>酉相似。</a:t>
            </a:r>
          </a:p>
          <a:p>
            <a:pPr eaLnBrk="1" hangingPunct="1">
              <a:buClr>
                <a:srgbClr val="CC6600"/>
              </a:buClr>
              <a:buFont typeface="Wingdings" pitchFamily="2" charset="2"/>
              <a:buChar char="Ø"/>
            </a:pPr>
            <a:r>
              <a:rPr lang="zh-CN" altLang="en-US" sz="2800" b="1"/>
              <a:t> 奇异值是酉等价的不变性质。</a:t>
            </a:r>
          </a:p>
        </p:txBody>
      </p:sp>
      <p:graphicFrame>
        <p:nvGraphicFramePr>
          <p:cNvPr id="7172" name="Object 4">
            <a:extLst>
              <a:ext uri="{FF2B5EF4-FFF2-40B4-BE49-F238E27FC236}">
                <a16:creationId xmlns:a16="http://schemas.microsoft.com/office/drawing/2014/main" id="{C4A8F106-76AA-2281-B70B-F60B682DF290}"/>
              </a:ext>
            </a:extLst>
          </p:cNvPr>
          <p:cNvGraphicFramePr>
            <a:graphicFrameLocks noChangeAspect="1"/>
          </p:cNvGraphicFramePr>
          <p:nvPr/>
        </p:nvGraphicFramePr>
        <p:xfrm>
          <a:off x="250825" y="4221163"/>
          <a:ext cx="2376488" cy="1598612"/>
        </p:xfrm>
        <a:graphic>
          <a:graphicData uri="http://schemas.openxmlformats.org/presentationml/2006/ole">
            <mc:AlternateContent xmlns:mc="http://schemas.openxmlformats.org/markup-compatibility/2006">
              <mc:Choice xmlns:v="urn:schemas-microsoft-com:vml" Requires="v">
                <p:oleObj name="公式" r:id="rId4" imgW="1828800" imgH="1104900" progId="Equation.3">
                  <p:embed/>
                </p:oleObj>
              </mc:Choice>
              <mc:Fallback>
                <p:oleObj name="公式" r:id="rId4" imgW="1828800" imgH="11049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825" y="4221163"/>
                        <a:ext cx="2376488" cy="1598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3" name="Object 4">
            <a:extLst>
              <a:ext uri="{FF2B5EF4-FFF2-40B4-BE49-F238E27FC236}">
                <a16:creationId xmlns:a16="http://schemas.microsoft.com/office/drawing/2014/main" id="{54480A3E-ACB1-2EB7-4CFE-A89ACAF68864}"/>
              </a:ext>
            </a:extLst>
          </p:cNvPr>
          <p:cNvGraphicFramePr>
            <a:graphicFrameLocks noChangeAspect="1"/>
          </p:cNvGraphicFramePr>
          <p:nvPr/>
        </p:nvGraphicFramePr>
        <p:xfrm>
          <a:off x="2627313" y="4235450"/>
          <a:ext cx="2881312" cy="1641475"/>
        </p:xfrm>
        <a:graphic>
          <a:graphicData uri="http://schemas.openxmlformats.org/presentationml/2006/ole">
            <mc:AlternateContent xmlns:mc="http://schemas.openxmlformats.org/markup-compatibility/2006">
              <mc:Choice xmlns:v="urn:schemas-microsoft-com:vml" Requires="v">
                <p:oleObj name="公式" r:id="rId6" imgW="2159000" imgH="1104900" progId="Equation.3">
                  <p:embed/>
                </p:oleObj>
              </mc:Choice>
              <mc:Fallback>
                <p:oleObj name="公式" r:id="rId6" imgW="2159000" imgH="11049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27313" y="4235450"/>
                        <a:ext cx="2881312" cy="164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4" name="Object 4">
            <a:extLst>
              <a:ext uri="{FF2B5EF4-FFF2-40B4-BE49-F238E27FC236}">
                <a16:creationId xmlns:a16="http://schemas.microsoft.com/office/drawing/2014/main" id="{FA39B99B-BE52-B456-4A2C-54EFAB03C020}"/>
              </a:ext>
            </a:extLst>
          </p:cNvPr>
          <p:cNvGraphicFramePr>
            <a:graphicFrameLocks noChangeAspect="1"/>
          </p:cNvGraphicFramePr>
          <p:nvPr/>
        </p:nvGraphicFramePr>
        <p:xfrm>
          <a:off x="5449888" y="4235450"/>
          <a:ext cx="3514725" cy="1719263"/>
        </p:xfrm>
        <a:graphic>
          <a:graphicData uri="http://schemas.openxmlformats.org/presentationml/2006/ole">
            <mc:AlternateContent xmlns:mc="http://schemas.openxmlformats.org/markup-compatibility/2006">
              <mc:Choice xmlns:v="urn:schemas-microsoft-com:vml" Requires="v">
                <p:oleObj name="公式" r:id="rId8" imgW="2641600" imgH="1168400" progId="Equation.3">
                  <p:embed/>
                </p:oleObj>
              </mc:Choice>
              <mc:Fallback>
                <p:oleObj name="公式" r:id="rId8" imgW="2641600" imgH="1168400"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49888" y="4235450"/>
                        <a:ext cx="3514725" cy="1719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4">
            <a:extLst>
              <a:ext uri="{FF2B5EF4-FFF2-40B4-BE49-F238E27FC236}">
                <a16:creationId xmlns:a16="http://schemas.microsoft.com/office/drawing/2014/main" id="{89ED3ECC-E393-00ED-D8BA-C0692C2A065C}"/>
              </a:ext>
            </a:extLst>
          </p:cNvPr>
          <p:cNvGraphicFramePr>
            <a:graphicFrameLocks noChangeAspect="1"/>
          </p:cNvGraphicFramePr>
          <p:nvPr/>
        </p:nvGraphicFramePr>
        <p:xfrm>
          <a:off x="2667000" y="5876925"/>
          <a:ext cx="3992563" cy="573088"/>
        </p:xfrm>
        <a:graphic>
          <a:graphicData uri="http://schemas.openxmlformats.org/presentationml/2006/ole">
            <mc:AlternateContent xmlns:mc="http://schemas.openxmlformats.org/markup-compatibility/2006">
              <mc:Choice xmlns:v="urn:schemas-microsoft-com:vml" Requires="v">
                <p:oleObj name="公式" r:id="rId10" imgW="3009900" imgH="393700" progId="Equation.3">
                  <p:embed/>
                </p:oleObj>
              </mc:Choice>
              <mc:Fallback>
                <p:oleObj name="公式" r:id="rId10" imgW="3009900" imgH="393700" progId="Equation.3">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67000" y="5876925"/>
                        <a:ext cx="3992563" cy="57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3555" name="Rectangle 3">
            <a:extLst>
              <a:ext uri="{FF2B5EF4-FFF2-40B4-BE49-F238E27FC236}">
                <a16:creationId xmlns:a16="http://schemas.microsoft.com/office/drawing/2014/main" id="{63E5358B-5932-4A08-B8D4-5979D75C1B7D}"/>
              </a:ext>
            </a:extLst>
          </p:cNvPr>
          <p:cNvSpPr>
            <a:spLocks noGrp="1" noChangeArrowheads="1"/>
          </p:cNvSpPr>
          <p:nvPr>
            <p:ph type="body" idx="4294967295"/>
          </p:nvPr>
        </p:nvSpPr>
        <p:spPr>
          <a:xfrm>
            <a:off x="381000" y="333375"/>
            <a:ext cx="8512175" cy="2819400"/>
          </a:xfrm>
        </p:spPr>
        <p:txBody>
          <a:bodyPr/>
          <a:lstStyle/>
          <a:p>
            <a:pPr eaLnBrk="1" hangingPunct="1">
              <a:buFontTx/>
              <a:buNone/>
            </a:pPr>
            <a:r>
              <a:rPr lang="zh-CN" altLang="en-US" sz="2800" b="1">
                <a:solidFill>
                  <a:srgbClr val="CC6600"/>
                </a:solidFill>
                <a:effectLst>
                  <a:outerShdw blurRad="38100" dist="38100" dir="2700000" algn="tl">
                    <a:srgbClr val="C0C0C0"/>
                  </a:outerShdw>
                </a:effectLst>
              </a:rPr>
              <a:t>3、特殊矩阵的奇异值</a:t>
            </a:r>
          </a:p>
          <a:p>
            <a:pPr eaLnBrk="1" hangingPunct="1">
              <a:spcBef>
                <a:spcPct val="30000"/>
              </a:spcBef>
            </a:pPr>
            <a:r>
              <a:rPr lang="zh-CN" altLang="en-US" sz="2800" b="1">
                <a:solidFill>
                  <a:srgbClr val="CC6600"/>
                </a:solidFill>
              </a:rPr>
              <a:t>定理3</a:t>
            </a:r>
            <a:r>
              <a:rPr lang="zh-CN" altLang="en-US" sz="2800" b="1">
                <a:solidFill>
                  <a:srgbClr val="CC6600"/>
                </a:solidFill>
                <a:sym typeface="Symbol" pitchFamily="2" charset="2"/>
              </a:rPr>
              <a:t>13</a:t>
            </a:r>
            <a:r>
              <a:rPr lang="zh-CN" altLang="en-US" sz="2800" b="1">
                <a:solidFill>
                  <a:srgbClr val="003300"/>
                </a:solidFill>
              </a:rPr>
              <a:t>（</a:t>
            </a:r>
            <a:r>
              <a:rPr lang="en-US" altLang="zh-CN" sz="2800" b="1">
                <a:solidFill>
                  <a:srgbClr val="003300"/>
                </a:solidFill>
              </a:rPr>
              <a:t>P</a:t>
            </a:r>
            <a:r>
              <a:rPr lang="en-US" altLang="zh-CN" sz="2800" b="1">
                <a:solidFill>
                  <a:srgbClr val="003300"/>
                </a:solidFill>
                <a:sym typeface="Symbol" pitchFamily="2" charset="2"/>
              </a:rPr>
              <a:t></a:t>
            </a:r>
            <a:r>
              <a:rPr lang="en-US" altLang="zh-CN" sz="2800" b="1">
                <a:solidFill>
                  <a:srgbClr val="003300"/>
                </a:solidFill>
              </a:rPr>
              <a:t>82）：</a:t>
            </a:r>
            <a:endParaRPr lang="zh-CN" altLang="en-US" sz="2800" b="1">
              <a:solidFill>
                <a:srgbClr val="003300"/>
              </a:solidFill>
            </a:endParaRPr>
          </a:p>
          <a:p>
            <a:pPr lvl="1" eaLnBrk="1" hangingPunct="1"/>
            <a:r>
              <a:rPr lang="zh-CN" altLang="en-US" sz="2400" b="1"/>
              <a:t> </a:t>
            </a:r>
            <a:r>
              <a:rPr lang="zh-CN" altLang="en-US" b="1"/>
              <a:t>正规矩阵</a:t>
            </a:r>
            <a:r>
              <a:rPr lang="en-US" altLang="zh-CN" b="1"/>
              <a:t>A</a:t>
            </a:r>
            <a:r>
              <a:rPr lang="zh-CN" altLang="en-US" b="1"/>
              <a:t>的奇异值等于</a:t>
            </a:r>
            <a:r>
              <a:rPr lang="en-US" altLang="zh-CN" b="1"/>
              <a:t>A</a:t>
            </a:r>
            <a:r>
              <a:rPr lang="zh-CN" altLang="en-US" b="1"/>
              <a:t>的</a:t>
            </a:r>
            <a:r>
              <a:rPr lang="en-US" altLang="zh-CN" b="1"/>
              <a:t>(</a:t>
            </a:r>
            <a:r>
              <a:rPr lang="zh-CN" altLang="en-US" b="1">
                <a:solidFill>
                  <a:srgbClr val="0000FF"/>
                </a:solidFill>
              </a:rPr>
              <a:t>非零</a:t>
            </a:r>
            <a:r>
              <a:rPr lang="en-US" altLang="zh-CN" b="1"/>
              <a:t>)</a:t>
            </a:r>
            <a:r>
              <a:rPr lang="zh-CN" altLang="en-US" b="1"/>
              <a:t>特征值的模。</a:t>
            </a:r>
          </a:p>
          <a:p>
            <a:pPr lvl="1" eaLnBrk="1" hangingPunct="1"/>
            <a:r>
              <a:rPr lang="zh-CN" altLang="en-US" b="1"/>
              <a:t> 正定的</a:t>
            </a:r>
            <a:r>
              <a:rPr lang="en-US" altLang="zh-CN" b="1"/>
              <a:t>Hermite</a:t>
            </a:r>
            <a:r>
              <a:rPr lang="zh-CN" altLang="en-US" b="1"/>
              <a:t>矩阵</a:t>
            </a:r>
            <a:r>
              <a:rPr lang="en-US" altLang="zh-CN" b="1"/>
              <a:t>A</a:t>
            </a:r>
            <a:r>
              <a:rPr lang="zh-CN" altLang="en-US" b="1"/>
              <a:t>的奇异值就是</a:t>
            </a:r>
            <a:r>
              <a:rPr lang="en-US" altLang="zh-CN" b="1"/>
              <a:t>A</a:t>
            </a:r>
            <a:r>
              <a:rPr lang="zh-CN" altLang="en-US" b="1"/>
              <a:t>的特征值。</a:t>
            </a:r>
          </a:p>
          <a:p>
            <a:pPr lvl="1" eaLnBrk="1" hangingPunct="1"/>
            <a:r>
              <a:rPr lang="zh-CN" altLang="en-US" b="1"/>
              <a:t> </a:t>
            </a:r>
            <a:r>
              <a:rPr lang="zh-CN" altLang="en-US" b="1">
                <a:solidFill>
                  <a:srgbClr val="0000FF"/>
                </a:solidFill>
              </a:rPr>
              <a:t>酉等价</a:t>
            </a:r>
            <a:r>
              <a:rPr lang="zh-CN" altLang="en-US" b="1"/>
              <a:t>矩阵的奇异值相等。</a:t>
            </a:r>
          </a:p>
        </p:txBody>
      </p:sp>
      <p:sp>
        <p:nvSpPr>
          <p:cNvPr id="23556" name="Text Box 4">
            <a:extLst>
              <a:ext uri="{FF2B5EF4-FFF2-40B4-BE49-F238E27FC236}">
                <a16:creationId xmlns:a16="http://schemas.microsoft.com/office/drawing/2014/main" id="{731948A8-2842-45E2-A0CF-11911FCC8AC8}"/>
              </a:ext>
            </a:extLst>
          </p:cNvPr>
          <p:cNvSpPr txBox="1">
            <a:spLocks noChangeArrowheads="1"/>
          </p:cNvSpPr>
          <p:nvPr/>
        </p:nvSpPr>
        <p:spPr bwMode="auto">
          <a:xfrm>
            <a:off x="598488" y="3068638"/>
            <a:ext cx="8077200" cy="1041400"/>
          </a:xfrm>
          <a:prstGeom prst="rect">
            <a:avLst/>
          </a:prstGeom>
          <a:solidFill>
            <a:schemeClr val="accent1"/>
          </a:solidFill>
          <a:ln w="9525">
            <a:solidFill>
              <a:schemeClr val="accent2"/>
            </a:solidFill>
            <a:miter lim="800000"/>
            <a:headEnd/>
            <a:tailEnd/>
          </a:ln>
          <a:effectLst/>
        </p:spPr>
        <p:txBody>
          <a:bodyPr>
            <a:spAutoFit/>
          </a:bodyPr>
          <a:lstStyle>
            <a:lvl1pPr>
              <a:spcBef>
                <a:spcPct val="20000"/>
              </a:spcBef>
              <a:buBlip>
                <a:blip r:embed="rId2"/>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rgbClr val="CC6600"/>
              </a:buClr>
              <a:buFont typeface="Wingdings" pitchFamily="2" charset="2"/>
              <a:buChar char="Ø"/>
            </a:pPr>
            <a:r>
              <a:rPr lang="en-US" altLang="zh-CN" sz="2400" b="1">
                <a:effectLst>
                  <a:outerShdw blurRad="38100" dist="38100" dir="2700000" algn="tl">
                    <a:srgbClr val="FFFFFF"/>
                  </a:outerShdw>
                </a:effectLst>
              </a:rPr>
              <a:t> </a:t>
            </a:r>
            <a:r>
              <a:rPr lang="en-US" altLang="zh-CN" sz="2800" b="1"/>
              <a:t>A</a:t>
            </a:r>
            <a:r>
              <a:rPr lang="zh-CN" altLang="en-US" sz="2800" b="1"/>
              <a:t>和</a:t>
            </a:r>
            <a:r>
              <a:rPr lang="en-US" altLang="zh-CN" sz="2800" b="1"/>
              <a:t>B</a:t>
            </a:r>
            <a:r>
              <a:rPr lang="zh-CN" altLang="en-US" sz="2800" b="1"/>
              <a:t>酉等价，则</a:t>
            </a:r>
            <a:r>
              <a:rPr lang="en-US" altLang="zh-CN" sz="2800" b="1"/>
              <a:t>A</a:t>
            </a:r>
            <a:r>
              <a:rPr lang="en-US" altLang="zh-CN" sz="2800" b="1" baseline="30000"/>
              <a:t>H</a:t>
            </a:r>
            <a:r>
              <a:rPr lang="en-US" altLang="zh-CN" sz="2800" b="1"/>
              <a:t>A</a:t>
            </a:r>
            <a:r>
              <a:rPr lang="zh-CN" altLang="en-US" sz="2800" b="1"/>
              <a:t>和</a:t>
            </a:r>
            <a:r>
              <a:rPr lang="en-US" altLang="zh-CN" sz="2800" b="1"/>
              <a:t>B</a:t>
            </a:r>
            <a:r>
              <a:rPr lang="en-US" altLang="zh-CN" sz="2800" b="1" baseline="30000"/>
              <a:t>H</a:t>
            </a:r>
            <a:r>
              <a:rPr lang="en-US" altLang="zh-CN" sz="2800" b="1"/>
              <a:t>B</a:t>
            </a:r>
            <a:r>
              <a:rPr lang="zh-CN" altLang="en-US" sz="2800" b="1"/>
              <a:t>酉相似。</a:t>
            </a:r>
          </a:p>
          <a:p>
            <a:pPr eaLnBrk="1" hangingPunct="1">
              <a:buClr>
                <a:srgbClr val="CC6600"/>
              </a:buClr>
              <a:buFont typeface="Wingdings" pitchFamily="2" charset="2"/>
              <a:buChar char="Ø"/>
            </a:pPr>
            <a:r>
              <a:rPr lang="zh-CN" altLang="en-US" sz="2800" b="1"/>
              <a:t> 奇异值是酉等价的不变性质。</a:t>
            </a:r>
          </a:p>
        </p:txBody>
      </p:sp>
      <p:graphicFrame>
        <p:nvGraphicFramePr>
          <p:cNvPr id="21508" name="Object 4">
            <a:extLst>
              <a:ext uri="{FF2B5EF4-FFF2-40B4-BE49-F238E27FC236}">
                <a16:creationId xmlns:a16="http://schemas.microsoft.com/office/drawing/2014/main" id="{5FC4C036-B1DF-2C67-6023-0EA2AD211437}"/>
              </a:ext>
            </a:extLst>
          </p:cNvPr>
          <p:cNvGraphicFramePr>
            <a:graphicFrameLocks noChangeAspect="1"/>
          </p:cNvGraphicFramePr>
          <p:nvPr/>
        </p:nvGraphicFramePr>
        <p:xfrm>
          <a:off x="973138" y="4652963"/>
          <a:ext cx="1511300" cy="487362"/>
        </p:xfrm>
        <a:graphic>
          <a:graphicData uri="http://schemas.openxmlformats.org/presentationml/2006/ole">
            <mc:AlternateContent xmlns:mc="http://schemas.openxmlformats.org/markup-compatibility/2006">
              <mc:Choice xmlns:v="urn:schemas-microsoft-com:vml" Requires="v">
                <p:oleObj name="公式" r:id="rId4" imgW="812800" imgH="241300" progId="Equation.3">
                  <p:embed/>
                </p:oleObj>
              </mc:Choice>
              <mc:Fallback>
                <p:oleObj name="公式" r:id="rId4" imgW="812800" imgH="2413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3138" y="4652963"/>
                        <a:ext cx="1511300" cy="487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Object 4">
            <a:extLst>
              <a:ext uri="{FF2B5EF4-FFF2-40B4-BE49-F238E27FC236}">
                <a16:creationId xmlns:a16="http://schemas.microsoft.com/office/drawing/2014/main" id="{880B5E17-A91C-43EE-421E-6F430139DFBF}"/>
              </a:ext>
            </a:extLst>
          </p:cNvPr>
          <p:cNvGraphicFramePr>
            <a:graphicFrameLocks noChangeAspect="1"/>
          </p:cNvGraphicFramePr>
          <p:nvPr/>
        </p:nvGraphicFramePr>
        <p:xfrm>
          <a:off x="2827338" y="4652963"/>
          <a:ext cx="2362200" cy="487362"/>
        </p:xfrm>
        <a:graphic>
          <a:graphicData uri="http://schemas.openxmlformats.org/presentationml/2006/ole">
            <mc:AlternateContent xmlns:mc="http://schemas.openxmlformats.org/markup-compatibility/2006">
              <mc:Choice xmlns:v="urn:schemas-microsoft-com:vml" Requires="v">
                <p:oleObj name="公式" r:id="rId6" imgW="1295400" imgH="241300" progId="Equation.3">
                  <p:embed/>
                </p:oleObj>
              </mc:Choice>
              <mc:Fallback>
                <p:oleObj name="公式" r:id="rId6" imgW="1295400" imgH="2413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27338" y="4652963"/>
                        <a:ext cx="2362200" cy="487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 name="Object 4">
            <a:extLst>
              <a:ext uri="{FF2B5EF4-FFF2-40B4-BE49-F238E27FC236}">
                <a16:creationId xmlns:a16="http://schemas.microsoft.com/office/drawing/2014/main" id="{733A89F3-C1B7-E6C6-D255-40B116A0CACF}"/>
              </a:ext>
            </a:extLst>
          </p:cNvPr>
          <p:cNvGraphicFramePr>
            <a:graphicFrameLocks noChangeAspect="1"/>
          </p:cNvGraphicFramePr>
          <p:nvPr/>
        </p:nvGraphicFramePr>
        <p:xfrm>
          <a:off x="5438775" y="4652963"/>
          <a:ext cx="2774950" cy="487362"/>
        </p:xfrm>
        <a:graphic>
          <a:graphicData uri="http://schemas.openxmlformats.org/presentationml/2006/ole">
            <mc:AlternateContent xmlns:mc="http://schemas.openxmlformats.org/markup-compatibility/2006">
              <mc:Choice xmlns:v="urn:schemas-microsoft-com:vml" Requires="v">
                <p:oleObj name="公式" r:id="rId8" imgW="1511300" imgH="241300" progId="Equation.3">
                  <p:embed/>
                </p:oleObj>
              </mc:Choice>
              <mc:Fallback>
                <p:oleObj name="公式" r:id="rId8" imgW="1511300" imgH="241300"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38775" y="4652963"/>
                        <a:ext cx="2774950" cy="487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4">
            <a:extLst>
              <a:ext uri="{FF2B5EF4-FFF2-40B4-BE49-F238E27FC236}">
                <a16:creationId xmlns:a16="http://schemas.microsoft.com/office/drawing/2014/main" id="{366FD1C9-0385-A5B6-B234-9BC314747DF3}"/>
              </a:ext>
            </a:extLst>
          </p:cNvPr>
          <p:cNvGraphicFramePr>
            <a:graphicFrameLocks noChangeAspect="1"/>
          </p:cNvGraphicFramePr>
          <p:nvPr/>
        </p:nvGraphicFramePr>
        <p:xfrm>
          <a:off x="2843213" y="5300663"/>
          <a:ext cx="2801937" cy="487362"/>
        </p:xfrm>
        <a:graphic>
          <a:graphicData uri="http://schemas.openxmlformats.org/presentationml/2006/ole">
            <mc:AlternateContent xmlns:mc="http://schemas.openxmlformats.org/markup-compatibility/2006">
              <mc:Choice xmlns:v="urn:schemas-microsoft-com:vml" Requires="v">
                <p:oleObj name="公式" r:id="rId10" imgW="1524000" imgH="241300" progId="Equation.3">
                  <p:embed/>
                </p:oleObj>
              </mc:Choice>
              <mc:Fallback>
                <p:oleObj name="公式" r:id="rId10" imgW="1524000" imgH="241300" progId="Equation.3">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43213" y="5300663"/>
                        <a:ext cx="2801937" cy="487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1508"/>
                                        </p:tgtEl>
                                        <p:attrNameLst>
                                          <p:attrName>style.visibility</p:attrName>
                                        </p:attrNameLst>
                                      </p:cBhvr>
                                      <p:to>
                                        <p:strVal val="visible"/>
                                      </p:to>
                                    </p:set>
                                    <p:anim calcmode="lin" valueType="num">
                                      <p:cBhvr additive="base">
                                        <p:cTn id="7" dur="500" fill="hold"/>
                                        <p:tgtEl>
                                          <p:spTgt spid="21508"/>
                                        </p:tgtEl>
                                        <p:attrNameLst>
                                          <p:attrName>ppt_x</p:attrName>
                                        </p:attrNameLst>
                                      </p:cBhvr>
                                      <p:tavLst>
                                        <p:tav tm="0">
                                          <p:val>
                                            <p:strVal val="0-#ppt_w/2"/>
                                          </p:val>
                                        </p:tav>
                                        <p:tav tm="100000">
                                          <p:val>
                                            <p:strVal val="#ppt_x"/>
                                          </p:val>
                                        </p:tav>
                                      </p:tavLst>
                                    </p:anim>
                                    <p:anim calcmode="lin" valueType="num">
                                      <p:cBhvr additive="base">
                                        <p:cTn id="8" dur="500" fill="hold"/>
                                        <p:tgtEl>
                                          <p:spTgt spid="2150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0-#ppt_w/2"/>
                                          </p:val>
                                        </p:tav>
                                        <p:tav tm="100000">
                                          <p:val>
                                            <p:strVal val="#ppt_x"/>
                                          </p:val>
                                        </p:tav>
                                      </p:tavLst>
                                    </p:anim>
                                    <p:anim calcmode="lin" valueType="num">
                                      <p:cBhvr additive="base">
                                        <p:cTn id="26"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F6E6A91C-C8FE-4414-B754-001C65C73629}"/>
              </a:ext>
            </a:extLst>
          </p:cNvPr>
          <p:cNvSpPr>
            <a:spLocks noGrp="1" noChangeArrowheads="1"/>
          </p:cNvSpPr>
          <p:nvPr>
            <p:ph type="title"/>
          </p:nvPr>
        </p:nvSpPr>
        <p:spPr>
          <a:xfrm>
            <a:off x="1066800" y="-100013"/>
            <a:ext cx="7772400" cy="762001"/>
          </a:xfrm>
        </p:spPr>
        <p:txBody>
          <a:bodyPr/>
          <a:lstStyle/>
          <a:p>
            <a:pPr eaLnBrk="1" hangingPunct="1"/>
            <a:r>
              <a:rPr lang="zh-CN" altLang="en-US" sz="3600" b="1">
                <a:solidFill>
                  <a:srgbClr val="CC6600"/>
                </a:solidFill>
                <a:effectLst>
                  <a:outerShdw blurRad="38100" dist="38100" dir="2700000" algn="tl">
                    <a:srgbClr val="C0C0C0"/>
                  </a:outerShdw>
                </a:effectLst>
              </a:rPr>
              <a:t>二、矩阵的奇异值分解</a:t>
            </a:r>
          </a:p>
        </p:txBody>
      </p:sp>
      <p:sp>
        <p:nvSpPr>
          <p:cNvPr id="24579" name="Rectangle 3">
            <a:extLst>
              <a:ext uri="{FF2B5EF4-FFF2-40B4-BE49-F238E27FC236}">
                <a16:creationId xmlns:a16="http://schemas.microsoft.com/office/drawing/2014/main" id="{9FC587A4-8FFB-4F11-8D35-C8DD55F6141C}"/>
              </a:ext>
            </a:extLst>
          </p:cNvPr>
          <p:cNvSpPr>
            <a:spLocks noGrp="1" noChangeArrowheads="1"/>
          </p:cNvSpPr>
          <p:nvPr>
            <p:ph type="body" idx="1"/>
          </p:nvPr>
        </p:nvSpPr>
        <p:spPr>
          <a:xfrm>
            <a:off x="685800" y="665163"/>
            <a:ext cx="8207375" cy="1577975"/>
          </a:xfrm>
        </p:spPr>
        <p:txBody>
          <a:bodyPr/>
          <a:lstStyle/>
          <a:p>
            <a:pPr eaLnBrk="1" hangingPunct="1">
              <a:buFontTx/>
              <a:buNone/>
            </a:pPr>
            <a:r>
              <a:rPr lang="zh-CN" altLang="en-US" b="1">
                <a:solidFill>
                  <a:srgbClr val="CC6600"/>
                </a:solidFill>
                <a:effectLst>
                  <a:outerShdw blurRad="38100" dist="38100" dir="2700000" algn="tl">
                    <a:srgbClr val="C0C0C0"/>
                  </a:outerShdw>
                </a:effectLst>
              </a:rPr>
              <a:t>1、</a:t>
            </a:r>
            <a:r>
              <a:rPr lang="zh-CN" altLang="en-US" b="1">
                <a:solidFill>
                  <a:srgbClr val="CC6600"/>
                </a:solidFill>
              </a:rPr>
              <a:t>定理3</a:t>
            </a:r>
            <a:r>
              <a:rPr lang="zh-CN" altLang="en-US" b="1">
                <a:solidFill>
                  <a:srgbClr val="CC6600"/>
                </a:solidFill>
                <a:sym typeface="Symbol" pitchFamily="2" charset="2"/>
              </a:rPr>
              <a:t>14</a:t>
            </a:r>
            <a:r>
              <a:rPr lang="zh-CN" altLang="en-US">
                <a:solidFill>
                  <a:srgbClr val="003300"/>
                </a:solidFill>
              </a:rPr>
              <a:t>（</a:t>
            </a:r>
            <a:r>
              <a:rPr lang="en-US" altLang="zh-CN">
                <a:solidFill>
                  <a:srgbClr val="003300"/>
                </a:solidFill>
              </a:rPr>
              <a:t>P</a:t>
            </a:r>
            <a:r>
              <a:rPr lang="en-US" altLang="zh-CN">
                <a:solidFill>
                  <a:srgbClr val="003300"/>
                </a:solidFill>
                <a:sym typeface="Symbol" pitchFamily="2" charset="2"/>
              </a:rPr>
              <a:t></a:t>
            </a:r>
            <a:r>
              <a:rPr lang="en-US" altLang="zh-CN">
                <a:solidFill>
                  <a:srgbClr val="003300"/>
                </a:solidFill>
              </a:rPr>
              <a:t>83）</a:t>
            </a:r>
          </a:p>
          <a:p>
            <a:pPr lvl="1" eaLnBrk="1" hangingPunct="1">
              <a:spcBef>
                <a:spcPct val="10000"/>
              </a:spcBef>
            </a:pPr>
            <a:r>
              <a:rPr lang="zh-CN" altLang="en-US" b="1">
                <a:solidFill>
                  <a:srgbClr val="003300"/>
                </a:solidFill>
              </a:rPr>
              <a:t> 任何矩阵</a:t>
            </a:r>
            <a:r>
              <a:rPr lang="en-US" altLang="zh-CN" b="1">
                <a:solidFill>
                  <a:srgbClr val="003300"/>
                </a:solidFill>
              </a:rPr>
              <a:t>A</a:t>
            </a:r>
            <a:r>
              <a:rPr lang="en-US" altLang="zh-CN" b="1">
                <a:solidFill>
                  <a:srgbClr val="003300"/>
                </a:solidFill>
                <a:sym typeface="Symbol" pitchFamily="2" charset="2"/>
              </a:rPr>
              <a:t></a:t>
            </a:r>
            <a:r>
              <a:rPr lang="en-US" altLang="zh-CN" b="1">
                <a:solidFill>
                  <a:srgbClr val="003300"/>
                </a:solidFill>
              </a:rPr>
              <a:t>C </a:t>
            </a:r>
            <a:r>
              <a:rPr lang="en-US" altLang="zh-CN" b="1" baseline="30000">
                <a:solidFill>
                  <a:srgbClr val="003300"/>
                </a:solidFill>
              </a:rPr>
              <a:t>m</a:t>
            </a:r>
            <a:r>
              <a:rPr lang="en-US" altLang="zh-CN" b="1" baseline="30000">
                <a:solidFill>
                  <a:srgbClr val="003300"/>
                </a:solidFill>
                <a:cs typeface="Times New Roman" panose="02020603050405020304" pitchFamily="18" charset="0"/>
              </a:rPr>
              <a:t>×</a:t>
            </a:r>
            <a:r>
              <a:rPr lang="en-US" altLang="zh-CN" b="1" baseline="30000">
                <a:solidFill>
                  <a:srgbClr val="003300"/>
                </a:solidFill>
              </a:rPr>
              <a:t>n</a:t>
            </a:r>
            <a:r>
              <a:rPr lang="zh-CN" altLang="en-US" b="1">
                <a:solidFill>
                  <a:srgbClr val="003300"/>
                </a:solidFill>
              </a:rPr>
              <a:t>，秩</a:t>
            </a:r>
            <a:r>
              <a:rPr lang="en-US" altLang="zh-CN" b="1">
                <a:solidFill>
                  <a:srgbClr val="003300"/>
                </a:solidFill>
              </a:rPr>
              <a:t>(A) </a:t>
            </a:r>
            <a:r>
              <a:rPr lang="zh-CN" altLang="en-US" b="1">
                <a:solidFill>
                  <a:srgbClr val="003300"/>
                </a:solidFill>
              </a:rPr>
              <a:t>= </a:t>
            </a:r>
            <a:r>
              <a:rPr lang="en-US" altLang="zh-CN" b="1">
                <a:solidFill>
                  <a:srgbClr val="003300"/>
                </a:solidFill>
              </a:rPr>
              <a:t>r，</a:t>
            </a:r>
            <a:r>
              <a:rPr lang="zh-CN" altLang="en-US" b="1">
                <a:solidFill>
                  <a:srgbClr val="003300"/>
                </a:solidFill>
              </a:rPr>
              <a:t>则存在酉矩阵 </a:t>
            </a:r>
            <a:r>
              <a:rPr lang="en-US" altLang="zh-CN" b="1">
                <a:solidFill>
                  <a:srgbClr val="003300"/>
                </a:solidFill>
              </a:rPr>
              <a:t>U</a:t>
            </a:r>
            <a:r>
              <a:rPr lang="en-US" altLang="zh-CN" b="1">
                <a:solidFill>
                  <a:srgbClr val="003300"/>
                </a:solidFill>
                <a:sym typeface="Symbol" pitchFamily="2" charset="2"/>
              </a:rPr>
              <a:t></a:t>
            </a:r>
            <a:r>
              <a:rPr lang="en-US" altLang="zh-CN" b="1">
                <a:solidFill>
                  <a:srgbClr val="003300"/>
                </a:solidFill>
              </a:rPr>
              <a:t>C </a:t>
            </a:r>
            <a:r>
              <a:rPr lang="en-US" altLang="zh-CN" b="1" baseline="30000">
                <a:solidFill>
                  <a:srgbClr val="003300"/>
                </a:solidFill>
              </a:rPr>
              <a:t>m</a:t>
            </a:r>
            <a:r>
              <a:rPr lang="en-US" altLang="zh-CN" b="1" baseline="30000">
                <a:solidFill>
                  <a:srgbClr val="003300"/>
                </a:solidFill>
                <a:cs typeface="Times New Roman" panose="02020603050405020304" pitchFamily="18" charset="0"/>
              </a:rPr>
              <a:t>×</a:t>
            </a:r>
            <a:r>
              <a:rPr lang="en-US" altLang="zh-CN" b="1" baseline="30000">
                <a:solidFill>
                  <a:srgbClr val="003300"/>
                </a:solidFill>
              </a:rPr>
              <a:t>m</a:t>
            </a:r>
            <a:r>
              <a:rPr lang="en-US" altLang="zh-CN" b="1">
                <a:solidFill>
                  <a:srgbClr val="003300"/>
                </a:solidFill>
              </a:rPr>
              <a:t>，V</a:t>
            </a:r>
            <a:r>
              <a:rPr lang="en-US" altLang="zh-CN" b="1">
                <a:solidFill>
                  <a:srgbClr val="003300"/>
                </a:solidFill>
                <a:sym typeface="Symbol" pitchFamily="2" charset="2"/>
              </a:rPr>
              <a:t></a:t>
            </a:r>
            <a:r>
              <a:rPr lang="en-US" altLang="zh-CN" b="1">
                <a:solidFill>
                  <a:srgbClr val="003300"/>
                </a:solidFill>
              </a:rPr>
              <a:t>C </a:t>
            </a:r>
            <a:r>
              <a:rPr lang="en-US" altLang="zh-CN" b="1" baseline="30000">
                <a:solidFill>
                  <a:srgbClr val="003300"/>
                </a:solidFill>
              </a:rPr>
              <a:t>n</a:t>
            </a:r>
            <a:r>
              <a:rPr lang="en-US" altLang="zh-CN" b="1" baseline="30000">
                <a:solidFill>
                  <a:srgbClr val="003300"/>
                </a:solidFill>
                <a:cs typeface="Times New Roman" panose="02020603050405020304" pitchFamily="18" charset="0"/>
              </a:rPr>
              <a:t>×</a:t>
            </a:r>
            <a:r>
              <a:rPr lang="en-US" altLang="zh-CN" b="1" baseline="30000">
                <a:solidFill>
                  <a:srgbClr val="003300"/>
                </a:solidFill>
              </a:rPr>
              <a:t>n</a:t>
            </a:r>
            <a:r>
              <a:rPr lang="en-US" altLang="zh-CN" b="1">
                <a:solidFill>
                  <a:srgbClr val="003300"/>
                </a:solidFill>
              </a:rPr>
              <a:t>，</a:t>
            </a:r>
            <a:r>
              <a:rPr lang="zh-CN" altLang="en-US" b="1">
                <a:solidFill>
                  <a:srgbClr val="003300"/>
                </a:solidFill>
              </a:rPr>
              <a:t>使得</a:t>
            </a:r>
          </a:p>
          <a:p>
            <a:pPr lvl="1" eaLnBrk="1" hangingPunct="1"/>
            <a:endParaRPr lang="zh-CN" altLang="en-US" b="1">
              <a:solidFill>
                <a:srgbClr val="003300"/>
              </a:solidFill>
            </a:endParaRPr>
          </a:p>
          <a:p>
            <a:pPr lvl="1" eaLnBrk="1" hangingPunct="1"/>
            <a:endParaRPr lang="zh-CN" altLang="en-US" b="1">
              <a:solidFill>
                <a:srgbClr val="003300"/>
              </a:solidFill>
              <a:effectLst>
                <a:outerShdw blurRad="38100" dist="38100" dir="2700000" algn="tl">
                  <a:srgbClr val="C0C0C0"/>
                </a:outerShdw>
              </a:effectLst>
            </a:endParaRPr>
          </a:p>
          <a:p>
            <a:pPr lvl="1" eaLnBrk="1" hangingPunct="1"/>
            <a:endParaRPr lang="zh-CN" altLang="en-US" b="1">
              <a:solidFill>
                <a:srgbClr val="003300"/>
              </a:solidFill>
              <a:effectLst>
                <a:outerShdw blurRad="38100" dist="38100" dir="2700000" algn="tl">
                  <a:srgbClr val="C0C0C0"/>
                </a:outerShdw>
              </a:effectLst>
            </a:endParaRPr>
          </a:p>
          <a:p>
            <a:pPr lvl="1" eaLnBrk="1" hangingPunct="1"/>
            <a:endParaRPr lang="zh-CN" altLang="en-US" b="1">
              <a:solidFill>
                <a:srgbClr val="003300"/>
              </a:solidFill>
              <a:effectLst>
                <a:outerShdw blurRad="38100" dist="38100" dir="2700000" algn="tl">
                  <a:srgbClr val="C0C0C0"/>
                </a:outerShdw>
              </a:effectLst>
            </a:endParaRPr>
          </a:p>
          <a:p>
            <a:pPr eaLnBrk="1" hangingPunct="1">
              <a:buFontTx/>
              <a:buNone/>
            </a:pPr>
            <a:endParaRPr lang="zh-CN" altLang="en-US">
              <a:solidFill>
                <a:srgbClr val="003300"/>
              </a:solidFill>
            </a:endParaRPr>
          </a:p>
        </p:txBody>
      </p:sp>
      <p:graphicFrame>
        <p:nvGraphicFramePr>
          <p:cNvPr id="24580" name="Object 4">
            <a:extLst>
              <a:ext uri="{FF2B5EF4-FFF2-40B4-BE49-F238E27FC236}">
                <a16:creationId xmlns:a16="http://schemas.microsoft.com/office/drawing/2014/main" id="{B4AC147A-2E42-5A22-C815-7BBA9C7A4453}"/>
              </a:ext>
            </a:extLst>
          </p:cNvPr>
          <p:cNvGraphicFramePr>
            <a:graphicFrameLocks noChangeAspect="1"/>
          </p:cNvGraphicFramePr>
          <p:nvPr/>
        </p:nvGraphicFramePr>
        <p:xfrm>
          <a:off x="862013" y="2033588"/>
          <a:ext cx="4448175" cy="2286000"/>
        </p:xfrm>
        <a:graphic>
          <a:graphicData uri="http://schemas.openxmlformats.org/presentationml/2006/ole">
            <mc:AlternateContent xmlns:mc="http://schemas.openxmlformats.org/markup-compatibility/2006">
              <mc:Choice xmlns:v="urn:schemas-microsoft-com:vml" Requires="v">
                <p:oleObj name="公式" r:id="rId2" imgW="2108200" imgH="1308100" progId="Equation.3">
                  <p:embed/>
                </p:oleObj>
              </mc:Choice>
              <mc:Fallback>
                <p:oleObj name="公式" r:id="rId2" imgW="2108200" imgH="13081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2013" y="2033588"/>
                        <a:ext cx="4448175" cy="228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7" name="Line 11">
            <a:extLst>
              <a:ext uri="{FF2B5EF4-FFF2-40B4-BE49-F238E27FC236}">
                <a16:creationId xmlns:a16="http://schemas.microsoft.com/office/drawing/2014/main" id="{7266ACD9-7363-795C-86CA-A6C01FD9DAFF}"/>
              </a:ext>
            </a:extLst>
          </p:cNvPr>
          <p:cNvSpPr>
            <a:spLocks noChangeShapeType="1"/>
          </p:cNvSpPr>
          <p:nvPr/>
        </p:nvSpPr>
        <p:spPr bwMode="auto">
          <a:xfrm>
            <a:off x="1651000" y="3905250"/>
            <a:ext cx="3352800" cy="0"/>
          </a:xfrm>
          <a:prstGeom prst="line">
            <a:avLst/>
          </a:prstGeom>
          <a:noFill/>
          <a:ln w="38100">
            <a:solidFill>
              <a:schemeClr val="hlink"/>
            </a:solidFill>
            <a:prstDash val="sysDot"/>
            <a:round/>
            <a:headEnd/>
            <a:tailEnd/>
          </a:ln>
          <a:extLst>
            <a:ext uri="{909E8E84-426E-40DD-AFC4-6F175D3DCCD1}">
              <a14:hiddenFill xmlns:a14="http://schemas.microsoft.com/office/drawing/2010/main">
                <a:noFill/>
              </a14:hiddenFill>
            </a:ext>
          </a:extLst>
        </p:spPr>
        <p:txBody>
          <a:bodyPr wrap="none"/>
          <a:lstStyle/>
          <a:p>
            <a:endParaRPr lang="en-CN"/>
          </a:p>
        </p:txBody>
      </p:sp>
      <p:sp>
        <p:nvSpPr>
          <p:cNvPr id="24588" name="Line 12">
            <a:extLst>
              <a:ext uri="{FF2B5EF4-FFF2-40B4-BE49-F238E27FC236}">
                <a16:creationId xmlns:a16="http://schemas.microsoft.com/office/drawing/2014/main" id="{874BF491-38CF-1621-82BB-9BC38C079F73}"/>
              </a:ext>
            </a:extLst>
          </p:cNvPr>
          <p:cNvSpPr>
            <a:spLocks noChangeShapeType="1"/>
          </p:cNvSpPr>
          <p:nvPr/>
        </p:nvSpPr>
        <p:spPr bwMode="auto">
          <a:xfrm>
            <a:off x="4211638" y="2033588"/>
            <a:ext cx="0" cy="2209800"/>
          </a:xfrm>
          <a:prstGeom prst="line">
            <a:avLst/>
          </a:prstGeom>
          <a:noFill/>
          <a:ln w="38100">
            <a:solidFill>
              <a:schemeClr val="hlink"/>
            </a:solidFill>
            <a:prstDash val="sysDot"/>
            <a:round/>
            <a:headEnd/>
            <a:tailEnd/>
          </a:ln>
          <a:extLst>
            <a:ext uri="{909E8E84-426E-40DD-AFC4-6F175D3DCCD1}">
              <a14:hiddenFill xmlns:a14="http://schemas.microsoft.com/office/drawing/2010/main">
                <a:noFill/>
              </a14:hiddenFill>
            </a:ext>
          </a:extLst>
        </p:spPr>
        <p:txBody>
          <a:bodyPr wrap="none"/>
          <a:lstStyle/>
          <a:p>
            <a:endParaRPr lang="en-CN"/>
          </a:p>
        </p:txBody>
      </p:sp>
      <p:sp>
        <p:nvSpPr>
          <p:cNvPr id="24590" name="Text Box 14">
            <a:extLst>
              <a:ext uri="{FF2B5EF4-FFF2-40B4-BE49-F238E27FC236}">
                <a16:creationId xmlns:a16="http://schemas.microsoft.com/office/drawing/2014/main" id="{76804B89-DC81-4834-9918-EB118DA27AE3}"/>
              </a:ext>
            </a:extLst>
          </p:cNvPr>
          <p:cNvSpPr txBox="1">
            <a:spLocks noChangeArrowheads="1"/>
          </p:cNvSpPr>
          <p:nvPr/>
        </p:nvSpPr>
        <p:spPr bwMode="auto">
          <a:xfrm>
            <a:off x="179388" y="4265613"/>
            <a:ext cx="8785225" cy="1031875"/>
          </a:xfrm>
          <a:prstGeom prst="rect">
            <a:avLst/>
          </a:prstGeom>
          <a:noFill/>
          <a:ln w="9525">
            <a:noFill/>
            <a:miter lim="800000"/>
            <a:headEnd/>
            <a:tailEnd/>
          </a:ln>
          <a:effectLst/>
        </p:spPr>
        <p:txBody>
          <a:bodyPr>
            <a:spAutoFit/>
          </a:bodyPr>
          <a:lstStyle>
            <a:lvl1pPr marL="342900" indent="-342900">
              <a:spcBef>
                <a:spcPct val="20000"/>
              </a:spcBef>
              <a:buBlip>
                <a:blip r:embed="rId4"/>
              </a:buBlip>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Font typeface="Wingdings" pitchFamily="2" charset="2"/>
              <a:buBlip>
                <a:blip r:embed="rId5"/>
              </a:buBlip>
              <a:defRPr kumimoji="1" sz="28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9pPr>
          </a:lstStyle>
          <a:p>
            <a:pPr lvl="1" eaLnBrk="1" hangingPunct="1"/>
            <a:r>
              <a:rPr lang="zh-CN" altLang="en-US" b="1">
                <a:solidFill>
                  <a:srgbClr val="003300"/>
                </a:solidFill>
                <a:effectLst>
                  <a:outerShdw blurRad="38100" dist="38100" dir="2700000" algn="tl">
                    <a:srgbClr val="C0C0C0"/>
                  </a:outerShdw>
                </a:effectLst>
              </a:rPr>
              <a:t> </a:t>
            </a:r>
            <a:r>
              <a:rPr lang="zh-CN" altLang="en-US" b="1">
                <a:solidFill>
                  <a:srgbClr val="0000FF"/>
                </a:solidFill>
              </a:rPr>
              <a:t>证明思想</a:t>
            </a:r>
            <a:r>
              <a:rPr lang="zh-CN" altLang="en-US" b="1">
                <a:solidFill>
                  <a:srgbClr val="003300"/>
                </a:solidFill>
              </a:rPr>
              <a:t>：</a:t>
            </a:r>
            <a:r>
              <a:rPr lang="en-US" altLang="zh-CN" b="1">
                <a:solidFill>
                  <a:srgbClr val="003300"/>
                </a:solidFill>
              </a:rPr>
              <a:t>AV=U</a:t>
            </a:r>
            <a:r>
              <a:rPr lang="en-US" altLang="zh-CN" b="1">
                <a:solidFill>
                  <a:srgbClr val="003300"/>
                </a:solidFill>
                <a:sym typeface="Symbol" pitchFamily="2" charset="2"/>
              </a:rPr>
              <a:t></a:t>
            </a:r>
            <a:r>
              <a:rPr lang="zh-CN" altLang="en-US" b="1">
                <a:solidFill>
                  <a:srgbClr val="003300"/>
                </a:solidFill>
                <a:sym typeface="Symbol" pitchFamily="2" charset="2"/>
              </a:rPr>
              <a:t>，即 </a:t>
            </a:r>
            <a:r>
              <a:rPr lang="en-US" altLang="zh-CN" b="1">
                <a:solidFill>
                  <a:srgbClr val="003300"/>
                </a:solidFill>
                <a:sym typeface="Symbol" pitchFamily="2" charset="2"/>
              </a:rPr>
              <a:t>Av</a:t>
            </a:r>
            <a:r>
              <a:rPr lang="en-US" altLang="zh-CN" b="1" i="1" baseline="-25000">
                <a:solidFill>
                  <a:srgbClr val="003300"/>
                </a:solidFill>
                <a:sym typeface="Symbol" pitchFamily="2" charset="2"/>
              </a:rPr>
              <a:t>i</a:t>
            </a:r>
            <a:r>
              <a:rPr lang="en-US" altLang="zh-CN" b="1">
                <a:solidFill>
                  <a:srgbClr val="003300"/>
                </a:solidFill>
                <a:sym typeface="Symbol" pitchFamily="2" charset="2"/>
              </a:rPr>
              <a:t>= </a:t>
            </a:r>
            <a:r>
              <a:rPr lang="el-GR" altLang="zh-CN" b="1">
                <a:solidFill>
                  <a:srgbClr val="003300"/>
                </a:solidFill>
                <a:sym typeface="Symbol" pitchFamily="2" charset="2"/>
              </a:rPr>
              <a:t>σ</a:t>
            </a:r>
            <a:r>
              <a:rPr lang="en-US" altLang="zh-CN" b="1" i="1" baseline="-25000">
                <a:solidFill>
                  <a:srgbClr val="003300"/>
                </a:solidFill>
                <a:sym typeface="Symbol" pitchFamily="2" charset="2"/>
              </a:rPr>
              <a:t>i</a:t>
            </a:r>
            <a:r>
              <a:rPr lang="en-US" altLang="zh-CN" b="1">
                <a:solidFill>
                  <a:srgbClr val="003300"/>
                </a:solidFill>
                <a:sym typeface="Symbol" pitchFamily="2" charset="2"/>
              </a:rPr>
              <a:t>u</a:t>
            </a:r>
            <a:r>
              <a:rPr lang="en-US" altLang="zh-CN" b="1" i="1" baseline="-25000">
                <a:solidFill>
                  <a:srgbClr val="003300"/>
                </a:solidFill>
                <a:sym typeface="Symbol" pitchFamily="2" charset="2"/>
              </a:rPr>
              <a:t>i</a:t>
            </a:r>
            <a:r>
              <a:rPr lang="zh-CN" altLang="en-US" b="1">
                <a:solidFill>
                  <a:srgbClr val="003300"/>
                </a:solidFill>
                <a:sym typeface="Symbol" pitchFamily="2" charset="2"/>
              </a:rPr>
              <a:t>，</a:t>
            </a:r>
            <a:r>
              <a:rPr lang="en-US" altLang="zh-CN" b="1" i="1">
                <a:solidFill>
                  <a:srgbClr val="003300"/>
                </a:solidFill>
                <a:sym typeface="Symbol" pitchFamily="2" charset="2"/>
              </a:rPr>
              <a:t>i</a:t>
            </a:r>
            <a:r>
              <a:rPr lang="en-US" altLang="zh-CN" b="1">
                <a:solidFill>
                  <a:srgbClr val="003300"/>
                </a:solidFill>
                <a:sym typeface="Symbol" pitchFamily="2" charset="2"/>
              </a:rPr>
              <a:t>&lt;=r;  =0, </a:t>
            </a:r>
            <a:r>
              <a:rPr lang="en-US" altLang="zh-CN" b="1" i="1">
                <a:solidFill>
                  <a:srgbClr val="003300"/>
                </a:solidFill>
                <a:sym typeface="Symbol" pitchFamily="2" charset="2"/>
              </a:rPr>
              <a:t>i</a:t>
            </a:r>
            <a:r>
              <a:rPr lang="en-US" altLang="zh-CN" b="1">
                <a:solidFill>
                  <a:srgbClr val="003300"/>
                </a:solidFill>
                <a:sym typeface="Symbol" pitchFamily="2" charset="2"/>
              </a:rPr>
              <a:t>&gt;r</a:t>
            </a:r>
            <a:r>
              <a:rPr lang="zh-CN" altLang="en-US" b="1">
                <a:solidFill>
                  <a:srgbClr val="003300"/>
                </a:solidFill>
                <a:sym typeface="Symbol" pitchFamily="2" charset="2"/>
              </a:rPr>
              <a:t>。</a:t>
            </a:r>
            <a:endParaRPr lang="zh-CN" altLang="en-US" b="1">
              <a:solidFill>
                <a:srgbClr val="003300"/>
              </a:solidFill>
            </a:endParaRPr>
          </a:p>
          <a:p>
            <a:pPr lvl="2" eaLnBrk="1" hangingPunct="1">
              <a:buClr>
                <a:schemeClr val="accent2"/>
              </a:buClr>
              <a:buFont typeface="Wingdings" pitchFamily="2" charset="2"/>
              <a:buBlip>
                <a:blip r:embed="rId5"/>
              </a:buBlip>
            </a:pPr>
            <a:r>
              <a:rPr lang="en-US" altLang="zh-CN" sz="2800" b="1">
                <a:solidFill>
                  <a:srgbClr val="003300"/>
                </a:solidFill>
              </a:rPr>
              <a:t> A</a:t>
            </a:r>
            <a:r>
              <a:rPr lang="en-US" altLang="zh-CN" sz="2800" b="1" baseline="30000">
                <a:solidFill>
                  <a:srgbClr val="003300"/>
                </a:solidFill>
              </a:rPr>
              <a:t>H</a:t>
            </a:r>
            <a:r>
              <a:rPr lang="en-US" altLang="zh-CN" sz="2800" b="1">
                <a:solidFill>
                  <a:srgbClr val="003300"/>
                </a:solidFill>
              </a:rPr>
              <a:t>A</a:t>
            </a:r>
            <a:r>
              <a:rPr lang="zh-CN" altLang="en-US" sz="2800" b="1">
                <a:solidFill>
                  <a:srgbClr val="003300"/>
                </a:solidFill>
              </a:rPr>
              <a:t>正规，</a:t>
            </a:r>
            <a:r>
              <a:rPr lang="en-US" altLang="zh-CN" sz="2800" b="1">
                <a:solidFill>
                  <a:srgbClr val="003300"/>
                </a:solidFill>
              </a:rPr>
              <a:t>V</a:t>
            </a:r>
            <a:r>
              <a:rPr lang="en-US" altLang="zh-CN" sz="2800" b="1" baseline="30000">
                <a:solidFill>
                  <a:srgbClr val="003300"/>
                </a:solidFill>
              </a:rPr>
              <a:t>H</a:t>
            </a:r>
            <a:r>
              <a:rPr lang="en-US" altLang="zh-CN" sz="2800" b="1">
                <a:solidFill>
                  <a:srgbClr val="003300"/>
                </a:solidFill>
              </a:rPr>
              <a:t>A</a:t>
            </a:r>
            <a:r>
              <a:rPr lang="en-US" altLang="zh-CN" sz="2800" b="1" baseline="30000">
                <a:solidFill>
                  <a:srgbClr val="003300"/>
                </a:solidFill>
              </a:rPr>
              <a:t>H</a:t>
            </a:r>
            <a:r>
              <a:rPr lang="en-US" altLang="zh-CN" sz="2800" b="1">
                <a:solidFill>
                  <a:srgbClr val="003300"/>
                </a:solidFill>
              </a:rPr>
              <a:t>AV =              ，</a:t>
            </a:r>
            <a:r>
              <a:rPr lang="en-US" altLang="zh-CN" sz="2800" b="1">
                <a:solidFill>
                  <a:srgbClr val="429335"/>
                </a:solidFill>
                <a:sym typeface="Symbol" pitchFamily="2" charset="2"/>
              </a:rPr>
              <a:t> </a:t>
            </a:r>
            <a:r>
              <a:rPr lang="zh-CN" altLang="en-US" sz="2800" b="1">
                <a:solidFill>
                  <a:srgbClr val="003300"/>
                </a:solidFill>
                <a:sym typeface="Symbol" pitchFamily="2" charset="2"/>
              </a:rPr>
              <a:t>酉矩阵</a:t>
            </a:r>
            <a:r>
              <a:rPr lang="en-US" altLang="zh-CN" sz="2800" b="1">
                <a:solidFill>
                  <a:srgbClr val="003300"/>
                </a:solidFill>
                <a:sym typeface="Symbol" pitchFamily="2" charset="2"/>
              </a:rPr>
              <a:t>V。</a:t>
            </a:r>
          </a:p>
        </p:txBody>
      </p:sp>
      <p:graphicFrame>
        <p:nvGraphicFramePr>
          <p:cNvPr id="24591" name="Object 15">
            <a:extLst>
              <a:ext uri="{FF2B5EF4-FFF2-40B4-BE49-F238E27FC236}">
                <a16:creationId xmlns:a16="http://schemas.microsoft.com/office/drawing/2014/main" id="{D1A5805E-2D25-09A8-CD3B-024C4680F74A}"/>
              </a:ext>
            </a:extLst>
          </p:cNvPr>
          <p:cNvGraphicFramePr>
            <a:graphicFrameLocks noChangeAspect="1"/>
          </p:cNvGraphicFramePr>
          <p:nvPr/>
        </p:nvGraphicFramePr>
        <p:xfrm>
          <a:off x="5197475" y="4762500"/>
          <a:ext cx="968375" cy="942975"/>
        </p:xfrm>
        <a:graphic>
          <a:graphicData uri="http://schemas.openxmlformats.org/presentationml/2006/ole">
            <mc:AlternateContent xmlns:mc="http://schemas.openxmlformats.org/markup-compatibility/2006">
              <mc:Choice xmlns:v="urn:schemas-microsoft-com:vml" Requires="v">
                <p:oleObj name="公式" r:id="rId6" imgW="584200" imgH="571500" progId="Equation.3">
                  <p:embed/>
                </p:oleObj>
              </mc:Choice>
              <mc:Fallback>
                <p:oleObj name="公式" r:id="rId6" imgW="584200" imgH="571500" progId="Equation.3">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97475" y="4762500"/>
                        <a:ext cx="968375" cy="942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92" name="Text Box 16">
            <a:extLst>
              <a:ext uri="{FF2B5EF4-FFF2-40B4-BE49-F238E27FC236}">
                <a16:creationId xmlns:a16="http://schemas.microsoft.com/office/drawing/2014/main" id="{12B26776-BD82-8C52-DEDA-3AA50B209F24}"/>
              </a:ext>
            </a:extLst>
          </p:cNvPr>
          <p:cNvSpPr txBox="1">
            <a:spLocks noChangeArrowheads="1"/>
          </p:cNvSpPr>
          <p:nvPr/>
        </p:nvSpPr>
        <p:spPr bwMode="auto">
          <a:xfrm>
            <a:off x="468313" y="5599113"/>
            <a:ext cx="8431212"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itchFamily="2" charset="2"/>
              <a:buBlip>
                <a:blip r:embed="rId5"/>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rgbClr val="CC6600"/>
              </a:buClr>
              <a:buFontTx/>
              <a:buChar char="•"/>
            </a:pPr>
            <a:r>
              <a:rPr lang="zh-CN" altLang="en-US" sz="2400"/>
              <a:t> </a:t>
            </a:r>
            <a:r>
              <a:rPr lang="zh-CN" altLang="en-US" sz="2800" b="1">
                <a:solidFill>
                  <a:srgbClr val="003300"/>
                </a:solidFill>
              </a:rPr>
              <a:t>令</a:t>
            </a:r>
            <a:r>
              <a:rPr lang="zh-CN" altLang="en-US" sz="2400" b="1">
                <a:solidFill>
                  <a:srgbClr val="003300"/>
                </a:solidFill>
              </a:rPr>
              <a:t>                       ，</a:t>
            </a:r>
            <a:r>
              <a:rPr lang="en-US" altLang="zh-CN" sz="2400" b="1" i="1">
                <a:solidFill>
                  <a:srgbClr val="003300"/>
                </a:solidFill>
              </a:rPr>
              <a:t>i</a:t>
            </a:r>
            <a:r>
              <a:rPr lang="en-US" altLang="zh-CN" sz="2400" b="1">
                <a:solidFill>
                  <a:srgbClr val="003300"/>
                </a:solidFill>
              </a:rPr>
              <a:t>=1，2，</a:t>
            </a:r>
            <a:r>
              <a:rPr lang="en-US" altLang="zh-CN" sz="2400" b="1">
                <a:solidFill>
                  <a:srgbClr val="003300"/>
                </a:solidFill>
                <a:cs typeface="Times New Roman" panose="02020603050405020304" pitchFamily="18" charset="0"/>
              </a:rPr>
              <a:t>…</a:t>
            </a:r>
            <a:r>
              <a:rPr lang="en-US" altLang="zh-CN" sz="2400" b="1">
                <a:solidFill>
                  <a:srgbClr val="003300"/>
                </a:solidFill>
              </a:rPr>
              <a:t>，</a:t>
            </a:r>
            <a:r>
              <a:rPr lang="en-US" altLang="zh-CN" sz="2400" b="1" i="1">
                <a:solidFill>
                  <a:srgbClr val="003300"/>
                </a:solidFill>
              </a:rPr>
              <a:t>r</a:t>
            </a:r>
            <a:r>
              <a:rPr lang="en-US" altLang="zh-CN" sz="2400" b="1">
                <a:solidFill>
                  <a:srgbClr val="003300"/>
                </a:solidFill>
              </a:rPr>
              <a:t>，</a:t>
            </a:r>
            <a:r>
              <a:rPr lang="zh-CN" altLang="en-US" sz="2400" b="1">
                <a:solidFill>
                  <a:srgbClr val="003300"/>
                </a:solidFill>
              </a:rPr>
              <a:t>得 </a:t>
            </a:r>
            <a:r>
              <a:rPr lang="en-US" altLang="zh-CN" sz="2400" b="1">
                <a:solidFill>
                  <a:srgbClr val="003300"/>
                </a:solidFill>
              </a:rPr>
              <a:t>U</a:t>
            </a:r>
            <a:r>
              <a:rPr lang="en-US" altLang="zh-CN" sz="2400" b="1" baseline="-25000">
                <a:solidFill>
                  <a:srgbClr val="003300"/>
                </a:solidFill>
              </a:rPr>
              <a:t>1 </a:t>
            </a:r>
            <a:r>
              <a:rPr lang="en-US" altLang="zh-CN" sz="2400" b="1">
                <a:solidFill>
                  <a:srgbClr val="003300"/>
                </a:solidFill>
              </a:rPr>
              <a:t>= [u</a:t>
            </a:r>
            <a:r>
              <a:rPr lang="en-US" altLang="zh-CN" sz="2400" baseline="-25000"/>
              <a:t>1</a:t>
            </a:r>
            <a:r>
              <a:rPr lang="en-US" altLang="zh-CN" sz="2400" b="1">
                <a:solidFill>
                  <a:srgbClr val="003300"/>
                </a:solidFill>
              </a:rPr>
              <a:t>，u</a:t>
            </a:r>
            <a:r>
              <a:rPr lang="en-US" altLang="zh-CN" sz="2400" baseline="-25000"/>
              <a:t>2</a:t>
            </a:r>
            <a:r>
              <a:rPr lang="en-US" altLang="zh-CN" sz="2400" b="1">
                <a:solidFill>
                  <a:srgbClr val="003300"/>
                </a:solidFill>
              </a:rPr>
              <a:t>， </a:t>
            </a:r>
            <a:r>
              <a:rPr lang="en-US" altLang="zh-CN" sz="2400" b="1">
                <a:solidFill>
                  <a:srgbClr val="003300"/>
                </a:solidFill>
                <a:cs typeface="Times New Roman" panose="02020603050405020304" pitchFamily="18" charset="0"/>
              </a:rPr>
              <a:t>…</a:t>
            </a:r>
            <a:r>
              <a:rPr lang="en-US" altLang="zh-CN" sz="2400" b="1">
                <a:solidFill>
                  <a:srgbClr val="003300"/>
                </a:solidFill>
              </a:rPr>
              <a:t> ，u</a:t>
            </a:r>
            <a:r>
              <a:rPr lang="en-US" altLang="zh-CN" sz="2400" baseline="-25000"/>
              <a:t>r</a:t>
            </a:r>
            <a:r>
              <a:rPr lang="en-US" altLang="zh-CN" sz="2400" b="1">
                <a:solidFill>
                  <a:srgbClr val="003300"/>
                </a:solidFill>
              </a:rPr>
              <a:t>]</a:t>
            </a:r>
          </a:p>
          <a:p>
            <a:pPr eaLnBrk="1" hangingPunct="1">
              <a:spcBef>
                <a:spcPct val="15000"/>
              </a:spcBef>
              <a:buClr>
                <a:srgbClr val="CC6600"/>
              </a:buClr>
              <a:buFontTx/>
              <a:buNone/>
            </a:pPr>
            <a:r>
              <a:rPr lang="en-US" altLang="zh-CN" sz="2400" b="1">
                <a:solidFill>
                  <a:srgbClr val="003300"/>
                </a:solidFill>
              </a:rPr>
              <a:t>                                </a:t>
            </a:r>
            <a:r>
              <a:rPr lang="zh-CN" altLang="en-US" sz="2800" b="1">
                <a:solidFill>
                  <a:srgbClr val="003300"/>
                </a:solidFill>
              </a:rPr>
              <a:t>将其扩充为标准正交基</a:t>
            </a:r>
            <a:r>
              <a:rPr lang="zh-CN" altLang="en-US" sz="2400" b="1">
                <a:solidFill>
                  <a:srgbClr val="003300"/>
                </a:solidFill>
              </a:rPr>
              <a:t> </a:t>
            </a:r>
            <a:r>
              <a:rPr lang="en-US" altLang="zh-CN" sz="2800" b="1">
                <a:solidFill>
                  <a:srgbClr val="429335"/>
                </a:solidFill>
                <a:sym typeface="Symbol" pitchFamily="2" charset="2"/>
              </a:rPr>
              <a:t> </a:t>
            </a:r>
            <a:r>
              <a:rPr lang="zh-CN" altLang="en-US" sz="2800" b="1">
                <a:solidFill>
                  <a:srgbClr val="003300"/>
                </a:solidFill>
                <a:sym typeface="Symbol" pitchFamily="2" charset="2"/>
              </a:rPr>
              <a:t>酉矩阵</a:t>
            </a:r>
            <a:r>
              <a:rPr lang="en-US" altLang="zh-CN" sz="2800" b="1">
                <a:solidFill>
                  <a:srgbClr val="003300"/>
                </a:solidFill>
                <a:sym typeface="Symbol" pitchFamily="2" charset="2"/>
              </a:rPr>
              <a:t>U。</a:t>
            </a:r>
          </a:p>
        </p:txBody>
      </p:sp>
      <p:graphicFrame>
        <p:nvGraphicFramePr>
          <p:cNvPr id="24593" name="Object 17">
            <a:extLst>
              <a:ext uri="{FF2B5EF4-FFF2-40B4-BE49-F238E27FC236}">
                <a16:creationId xmlns:a16="http://schemas.microsoft.com/office/drawing/2014/main" id="{8415F498-9109-73B4-341F-C073C53C3230}"/>
              </a:ext>
            </a:extLst>
          </p:cNvPr>
          <p:cNvGraphicFramePr>
            <a:graphicFrameLocks noChangeAspect="1"/>
          </p:cNvGraphicFramePr>
          <p:nvPr/>
        </p:nvGraphicFramePr>
        <p:xfrm>
          <a:off x="1187450" y="5380038"/>
          <a:ext cx="1447800" cy="1117600"/>
        </p:xfrm>
        <a:graphic>
          <a:graphicData uri="http://schemas.openxmlformats.org/presentationml/2006/ole">
            <mc:AlternateContent xmlns:mc="http://schemas.openxmlformats.org/markup-compatibility/2006">
              <mc:Choice xmlns:v="urn:schemas-microsoft-com:vml" Requires="v">
                <p:oleObj name="Equation" r:id="rId8" imgW="12877800" imgH="9944100" progId="Equation.3">
                  <p:embed/>
                </p:oleObj>
              </mc:Choice>
              <mc:Fallback>
                <p:oleObj name="Equation" r:id="rId8" imgW="12877800" imgH="9944100" progId="Equation.3">
                  <p:embed/>
                  <p:pic>
                    <p:nvPicPr>
                      <p:cNvPr id="0" name="Object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87450" y="5380038"/>
                        <a:ext cx="1447800" cy="111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94" name="Object 18">
            <a:extLst>
              <a:ext uri="{FF2B5EF4-FFF2-40B4-BE49-F238E27FC236}">
                <a16:creationId xmlns:a16="http://schemas.microsoft.com/office/drawing/2014/main" id="{9DD4712F-297E-269F-21EC-AE3C3227A908}"/>
              </a:ext>
            </a:extLst>
          </p:cNvPr>
          <p:cNvGraphicFramePr>
            <a:graphicFrameLocks noChangeAspect="1"/>
          </p:cNvGraphicFramePr>
          <p:nvPr/>
        </p:nvGraphicFramePr>
        <p:xfrm>
          <a:off x="5861050" y="1744663"/>
          <a:ext cx="2794000" cy="2619375"/>
        </p:xfrm>
        <a:graphic>
          <a:graphicData uri="http://schemas.openxmlformats.org/presentationml/2006/ole">
            <mc:AlternateContent xmlns:mc="http://schemas.openxmlformats.org/markup-compatibility/2006">
              <mc:Choice xmlns:v="urn:schemas-microsoft-com:vml" Requires="v">
                <p:oleObj name="公式" r:id="rId10" imgW="1485900" imgH="1104900" progId="Equation.3">
                  <p:embed/>
                </p:oleObj>
              </mc:Choice>
              <mc:Fallback>
                <p:oleObj name="公式" r:id="rId10" imgW="1485900" imgH="1104900" progId="Equation.3">
                  <p:embed/>
                  <p:pic>
                    <p:nvPicPr>
                      <p:cNvPr id="0" name="Object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61050" y="1744663"/>
                        <a:ext cx="2794000" cy="2619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 calcmode="lin" valueType="num">
                                      <p:cBhvr additive="base">
                                        <p:cTn id="7" dur="500" fill="hold"/>
                                        <p:tgtEl>
                                          <p:spTgt spid="2457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57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4579">
                                            <p:txEl>
                                              <p:pRg st="1" end="1"/>
                                            </p:txEl>
                                          </p:spTgt>
                                        </p:tgtEl>
                                        <p:attrNameLst>
                                          <p:attrName>style.visibility</p:attrName>
                                        </p:attrNameLst>
                                      </p:cBhvr>
                                      <p:to>
                                        <p:strVal val="visible"/>
                                      </p:to>
                                    </p:set>
                                    <p:anim calcmode="lin" valueType="num">
                                      <p:cBhvr additive="base">
                                        <p:cTn id="13" dur="500" fill="hold"/>
                                        <p:tgtEl>
                                          <p:spTgt spid="2457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57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4580"/>
                                        </p:tgtEl>
                                        <p:attrNameLst>
                                          <p:attrName>style.visibility</p:attrName>
                                        </p:attrNameLst>
                                      </p:cBhvr>
                                      <p:to>
                                        <p:strVal val="visible"/>
                                      </p:to>
                                    </p:set>
                                    <p:anim calcmode="lin" valueType="num">
                                      <p:cBhvr additive="base">
                                        <p:cTn id="19" dur="500" fill="hold"/>
                                        <p:tgtEl>
                                          <p:spTgt spid="24580"/>
                                        </p:tgtEl>
                                        <p:attrNameLst>
                                          <p:attrName>ppt_x</p:attrName>
                                        </p:attrNameLst>
                                      </p:cBhvr>
                                      <p:tavLst>
                                        <p:tav tm="0">
                                          <p:val>
                                            <p:strVal val="0-#ppt_w/2"/>
                                          </p:val>
                                        </p:tav>
                                        <p:tav tm="100000">
                                          <p:val>
                                            <p:strVal val="#ppt_x"/>
                                          </p:val>
                                        </p:tav>
                                      </p:tavLst>
                                    </p:anim>
                                    <p:anim calcmode="lin" valueType="num">
                                      <p:cBhvr additive="base">
                                        <p:cTn id="20" dur="500" fill="hold"/>
                                        <p:tgtEl>
                                          <p:spTgt spid="2458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4587"/>
                                        </p:tgtEl>
                                        <p:attrNameLst>
                                          <p:attrName>style.visibility</p:attrName>
                                        </p:attrNameLst>
                                      </p:cBhvr>
                                      <p:to>
                                        <p:strVal val="visible"/>
                                      </p:to>
                                    </p:set>
                                    <p:anim calcmode="lin" valueType="num">
                                      <p:cBhvr additive="base">
                                        <p:cTn id="25" dur="500" fill="hold"/>
                                        <p:tgtEl>
                                          <p:spTgt spid="24587"/>
                                        </p:tgtEl>
                                        <p:attrNameLst>
                                          <p:attrName>ppt_x</p:attrName>
                                        </p:attrNameLst>
                                      </p:cBhvr>
                                      <p:tavLst>
                                        <p:tav tm="0">
                                          <p:val>
                                            <p:strVal val="0-#ppt_w/2"/>
                                          </p:val>
                                        </p:tav>
                                        <p:tav tm="100000">
                                          <p:val>
                                            <p:strVal val="#ppt_x"/>
                                          </p:val>
                                        </p:tav>
                                      </p:tavLst>
                                    </p:anim>
                                    <p:anim calcmode="lin" valueType="num">
                                      <p:cBhvr additive="base">
                                        <p:cTn id="26" dur="500" fill="hold"/>
                                        <p:tgtEl>
                                          <p:spTgt spid="24587"/>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500"/>
                            </p:stCondLst>
                            <p:childTnLst>
                              <p:par>
                                <p:cTn id="28" presetID="2" presetClass="entr" presetSubtype="8" fill="hold" nodeType="afterEffect">
                                  <p:stCondLst>
                                    <p:cond delay="0"/>
                                  </p:stCondLst>
                                  <p:childTnLst>
                                    <p:set>
                                      <p:cBhvr>
                                        <p:cTn id="29" dur="1" fill="hold">
                                          <p:stCondLst>
                                            <p:cond delay="0"/>
                                          </p:stCondLst>
                                        </p:cTn>
                                        <p:tgtEl>
                                          <p:spTgt spid="24588"/>
                                        </p:tgtEl>
                                        <p:attrNameLst>
                                          <p:attrName>style.visibility</p:attrName>
                                        </p:attrNameLst>
                                      </p:cBhvr>
                                      <p:to>
                                        <p:strVal val="visible"/>
                                      </p:to>
                                    </p:set>
                                    <p:anim calcmode="lin" valueType="num">
                                      <p:cBhvr additive="base">
                                        <p:cTn id="30" dur="500" fill="hold"/>
                                        <p:tgtEl>
                                          <p:spTgt spid="24588"/>
                                        </p:tgtEl>
                                        <p:attrNameLst>
                                          <p:attrName>ppt_x</p:attrName>
                                        </p:attrNameLst>
                                      </p:cBhvr>
                                      <p:tavLst>
                                        <p:tav tm="0">
                                          <p:val>
                                            <p:strVal val="0-#ppt_w/2"/>
                                          </p:val>
                                        </p:tav>
                                        <p:tav tm="100000">
                                          <p:val>
                                            <p:strVal val="#ppt_x"/>
                                          </p:val>
                                        </p:tav>
                                      </p:tavLst>
                                    </p:anim>
                                    <p:anim calcmode="lin" valueType="num">
                                      <p:cBhvr additive="base">
                                        <p:cTn id="31" dur="500" fill="hold"/>
                                        <p:tgtEl>
                                          <p:spTgt spid="24588"/>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8" fill="hold" nodeType="clickEffect">
                                  <p:stCondLst>
                                    <p:cond delay="0"/>
                                  </p:stCondLst>
                                  <p:childTnLst>
                                    <p:set>
                                      <p:cBhvr>
                                        <p:cTn id="35" dur="1" fill="hold">
                                          <p:stCondLst>
                                            <p:cond delay="0"/>
                                          </p:stCondLst>
                                        </p:cTn>
                                        <p:tgtEl>
                                          <p:spTgt spid="24594"/>
                                        </p:tgtEl>
                                        <p:attrNameLst>
                                          <p:attrName>style.visibility</p:attrName>
                                        </p:attrNameLst>
                                      </p:cBhvr>
                                      <p:to>
                                        <p:strVal val="visible"/>
                                      </p:to>
                                    </p:set>
                                    <p:anim calcmode="lin" valueType="num">
                                      <p:cBhvr additive="base">
                                        <p:cTn id="36" dur="500" fill="hold"/>
                                        <p:tgtEl>
                                          <p:spTgt spid="24594"/>
                                        </p:tgtEl>
                                        <p:attrNameLst>
                                          <p:attrName>ppt_x</p:attrName>
                                        </p:attrNameLst>
                                      </p:cBhvr>
                                      <p:tavLst>
                                        <p:tav tm="0">
                                          <p:val>
                                            <p:strVal val="0-#ppt_w/2"/>
                                          </p:val>
                                        </p:tav>
                                        <p:tav tm="100000">
                                          <p:val>
                                            <p:strVal val="#ppt_x"/>
                                          </p:val>
                                        </p:tav>
                                      </p:tavLst>
                                    </p:anim>
                                    <p:anim calcmode="lin" valueType="num">
                                      <p:cBhvr additive="base">
                                        <p:cTn id="37" dur="500" fill="hold"/>
                                        <p:tgtEl>
                                          <p:spTgt spid="24594"/>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8" fill="hold" nodeType="clickEffect">
                                  <p:stCondLst>
                                    <p:cond delay="0"/>
                                  </p:stCondLst>
                                  <p:childTnLst>
                                    <p:set>
                                      <p:cBhvr>
                                        <p:cTn id="41" dur="1" fill="hold">
                                          <p:stCondLst>
                                            <p:cond delay="0"/>
                                          </p:stCondLst>
                                        </p:cTn>
                                        <p:tgtEl>
                                          <p:spTgt spid="24590"/>
                                        </p:tgtEl>
                                        <p:attrNameLst>
                                          <p:attrName>style.visibility</p:attrName>
                                        </p:attrNameLst>
                                      </p:cBhvr>
                                      <p:to>
                                        <p:strVal val="visible"/>
                                      </p:to>
                                    </p:set>
                                    <p:anim calcmode="lin" valueType="num">
                                      <p:cBhvr additive="base">
                                        <p:cTn id="42" dur="500" fill="hold"/>
                                        <p:tgtEl>
                                          <p:spTgt spid="24590"/>
                                        </p:tgtEl>
                                        <p:attrNameLst>
                                          <p:attrName>ppt_x</p:attrName>
                                        </p:attrNameLst>
                                      </p:cBhvr>
                                      <p:tavLst>
                                        <p:tav tm="0">
                                          <p:val>
                                            <p:strVal val="0-#ppt_w/2"/>
                                          </p:val>
                                        </p:tav>
                                        <p:tav tm="100000">
                                          <p:val>
                                            <p:strVal val="#ppt_x"/>
                                          </p:val>
                                        </p:tav>
                                      </p:tavLst>
                                    </p:anim>
                                    <p:anim calcmode="lin" valueType="num">
                                      <p:cBhvr additive="base">
                                        <p:cTn id="43" dur="500" fill="hold"/>
                                        <p:tgtEl>
                                          <p:spTgt spid="24590"/>
                                        </p:tgtEl>
                                        <p:attrNameLst>
                                          <p:attrName>ppt_y</p:attrName>
                                        </p:attrNameLst>
                                      </p:cBhvr>
                                      <p:tavLst>
                                        <p:tav tm="0">
                                          <p:val>
                                            <p:strVal val="#ppt_y"/>
                                          </p:val>
                                        </p:tav>
                                        <p:tav tm="100000">
                                          <p:val>
                                            <p:strVal val="#ppt_y"/>
                                          </p:val>
                                        </p:tav>
                                      </p:tavLst>
                                    </p:anim>
                                  </p:childTnLst>
                                </p:cTn>
                              </p:par>
                            </p:childTnLst>
                          </p:cTn>
                        </p:par>
                        <p:par>
                          <p:cTn id="44" fill="hold" nodeType="afterGroup">
                            <p:stCondLst>
                              <p:cond delay="500"/>
                            </p:stCondLst>
                            <p:childTnLst>
                              <p:par>
                                <p:cTn id="45" presetID="2" presetClass="entr" presetSubtype="8" fill="hold" nodeType="afterEffect">
                                  <p:stCondLst>
                                    <p:cond delay="0"/>
                                  </p:stCondLst>
                                  <p:childTnLst>
                                    <p:set>
                                      <p:cBhvr>
                                        <p:cTn id="46" dur="1" fill="hold">
                                          <p:stCondLst>
                                            <p:cond delay="0"/>
                                          </p:stCondLst>
                                        </p:cTn>
                                        <p:tgtEl>
                                          <p:spTgt spid="24591"/>
                                        </p:tgtEl>
                                        <p:attrNameLst>
                                          <p:attrName>style.visibility</p:attrName>
                                        </p:attrNameLst>
                                      </p:cBhvr>
                                      <p:to>
                                        <p:strVal val="visible"/>
                                      </p:to>
                                    </p:set>
                                    <p:anim calcmode="lin" valueType="num">
                                      <p:cBhvr additive="base">
                                        <p:cTn id="47" dur="500" fill="hold"/>
                                        <p:tgtEl>
                                          <p:spTgt spid="24591"/>
                                        </p:tgtEl>
                                        <p:attrNameLst>
                                          <p:attrName>ppt_x</p:attrName>
                                        </p:attrNameLst>
                                      </p:cBhvr>
                                      <p:tavLst>
                                        <p:tav tm="0">
                                          <p:val>
                                            <p:strVal val="0-#ppt_w/2"/>
                                          </p:val>
                                        </p:tav>
                                        <p:tav tm="100000">
                                          <p:val>
                                            <p:strVal val="#ppt_x"/>
                                          </p:val>
                                        </p:tav>
                                      </p:tavLst>
                                    </p:anim>
                                    <p:anim calcmode="lin" valueType="num">
                                      <p:cBhvr additive="base">
                                        <p:cTn id="48" dur="500" fill="hold"/>
                                        <p:tgtEl>
                                          <p:spTgt spid="24591"/>
                                        </p:tgtEl>
                                        <p:attrNameLst>
                                          <p:attrName>ppt_y</p:attrName>
                                        </p:attrNameLst>
                                      </p:cBhvr>
                                      <p:tavLst>
                                        <p:tav tm="0">
                                          <p:val>
                                            <p:strVal val="#ppt_y"/>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8" fill="hold" nodeType="clickEffect">
                                  <p:stCondLst>
                                    <p:cond delay="0"/>
                                  </p:stCondLst>
                                  <p:childTnLst>
                                    <p:set>
                                      <p:cBhvr>
                                        <p:cTn id="52" dur="1" fill="hold">
                                          <p:stCondLst>
                                            <p:cond delay="0"/>
                                          </p:stCondLst>
                                        </p:cTn>
                                        <p:tgtEl>
                                          <p:spTgt spid="24592"/>
                                        </p:tgtEl>
                                        <p:attrNameLst>
                                          <p:attrName>style.visibility</p:attrName>
                                        </p:attrNameLst>
                                      </p:cBhvr>
                                      <p:to>
                                        <p:strVal val="visible"/>
                                      </p:to>
                                    </p:set>
                                    <p:anim calcmode="lin" valueType="num">
                                      <p:cBhvr additive="base">
                                        <p:cTn id="53" dur="500" fill="hold"/>
                                        <p:tgtEl>
                                          <p:spTgt spid="24592"/>
                                        </p:tgtEl>
                                        <p:attrNameLst>
                                          <p:attrName>ppt_x</p:attrName>
                                        </p:attrNameLst>
                                      </p:cBhvr>
                                      <p:tavLst>
                                        <p:tav tm="0">
                                          <p:val>
                                            <p:strVal val="0-#ppt_w/2"/>
                                          </p:val>
                                        </p:tav>
                                        <p:tav tm="100000">
                                          <p:val>
                                            <p:strVal val="#ppt_x"/>
                                          </p:val>
                                        </p:tav>
                                      </p:tavLst>
                                    </p:anim>
                                    <p:anim calcmode="lin" valueType="num">
                                      <p:cBhvr additive="base">
                                        <p:cTn id="54" dur="500" fill="hold"/>
                                        <p:tgtEl>
                                          <p:spTgt spid="24592"/>
                                        </p:tgtEl>
                                        <p:attrNameLst>
                                          <p:attrName>ppt_y</p:attrName>
                                        </p:attrNameLst>
                                      </p:cBhvr>
                                      <p:tavLst>
                                        <p:tav tm="0">
                                          <p:val>
                                            <p:strVal val="#ppt_y"/>
                                          </p:val>
                                        </p:tav>
                                        <p:tav tm="100000">
                                          <p:val>
                                            <p:strVal val="#ppt_y"/>
                                          </p:val>
                                        </p:tav>
                                      </p:tavLst>
                                    </p:anim>
                                  </p:childTnLst>
                                </p:cTn>
                              </p:par>
                            </p:childTnLst>
                          </p:cTn>
                        </p:par>
                        <p:par>
                          <p:cTn id="55" fill="hold" nodeType="afterGroup">
                            <p:stCondLst>
                              <p:cond delay="500"/>
                            </p:stCondLst>
                            <p:childTnLst>
                              <p:par>
                                <p:cTn id="56" presetID="2" presetClass="entr" presetSubtype="8" fill="hold" nodeType="afterEffect">
                                  <p:stCondLst>
                                    <p:cond delay="0"/>
                                  </p:stCondLst>
                                  <p:childTnLst>
                                    <p:set>
                                      <p:cBhvr>
                                        <p:cTn id="57" dur="1" fill="hold">
                                          <p:stCondLst>
                                            <p:cond delay="0"/>
                                          </p:stCondLst>
                                        </p:cTn>
                                        <p:tgtEl>
                                          <p:spTgt spid="24593"/>
                                        </p:tgtEl>
                                        <p:attrNameLst>
                                          <p:attrName>style.visibility</p:attrName>
                                        </p:attrNameLst>
                                      </p:cBhvr>
                                      <p:to>
                                        <p:strVal val="visible"/>
                                      </p:to>
                                    </p:set>
                                    <p:anim calcmode="lin" valueType="num">
                                      <p:cBhvr additive="base">
                                        <p:cTn id="58" dur="500" fill="hold"/>
                                        <p:tgtEl>
                                          <p:spTgt spid="24593"/>
                                        </p:tgtEl>
                                        <p:attrNameLst>
                                          <p:attrName>ppt_x</p:attrName>
                                        </p:attrNameLst>
                                      </p:cBhvr>
                                      <p:tavLst>
                                        <p:tav tm="0">
                                          <p:val>
                                            <p:strVal val="0-#ppt_w/2"/>
                                          </p:val>
                                        </p:tav>
                                        <p:tav tm="100000">
                                          <p:val>
                                            <p:strVal val="#ppt_x"/>
                                          </p:val>
                                        </p:tav>
                                      </p:tavLst>
                                    </p:anim>
                                    <p:anim calcmode="lin" valueType="num">
                                      <p:cBhvr additive="base">
                                        <p:cTn id="59" dur="500" fill="hold"/>
                                        <p:tgtEl>
                                          <p:spTgt spid="2459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bldLvl="2" autoUpdateAnimBg="0"/>
      <p:bldP spid="24590" grpId="0" autoUpdateAnimBg="0"/>
      <p:bldP spid="24592"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5603" name="Rectangle 3">
            <a:extLst>
              <a:ext uri="{FF2B5EF4-FFF2-40B4-BE49-F238E27FC236}">
                <a16:creationId xmlns:a16="http://schemas.microsoft.com/office/drawing/2014/main" id="{534D5E1F-CCCE-1B04-7727-782E01A05591}"/>
              </a:ext>
            </a:extLst>
          </p:cNvPr>
          <p:cNvSpPr>
            <a:spLocks noGrp="1" noChangeArrowheads="1"/>
          </p:cNvSpPr>
          <p:nvPr>
            <p:ph type="body" idx="1"/>
          </p:nvPr>
        </p:nvSpPr>
        <p:spPr>
          <a:xfrm>
            <a:off x="473075" y="333375"/>
            <a:ext cx="8202613" cy="1447800"/>
          </a:xfrm>
        </p:spPr>
        <p:txBody>
          <a:bodyPr/>
          <a:lstStyle/>
          <a:p>
            <a:pPr eaLnBrk="1" hangingPunct="1"/>
            <a:r>
              <a:rPr lang="zh-CN" altLang="en-US" b="1">
                <a:solidFill>
                  <a:srgbClr val="CC6600"/>
                </a:solidFill>
              </a:rPr>
              <a:t>例题1</a:t>
            </a:r>
            <a:r>
              <a:rPr lang="zh-CN" altLang="en-US" b="1">
                <a:solidFill>
                  <a:srgbClr val="003300"/>
                </a:solidFill>
              </a:rPr>
              <a:t> 求矩阵</a:t>
            </a:r>
            <a:r>
              <a:rPr lang="en-US" altLang="zh-CN" b="1">
                <a:solidFill>
                  <a:srgbClr val="003300"/>
                </a:solidFill>
              </a:rPr>
              <a:t>A</a:t>
            </a:r>
            <a:r>
              <a:rPr lang="zh-CN" altLang="en-US" b="1">
                <a:solidFill>
                  <a:srgbClr val="003300"/>
                </a:solidFill>
              </a:rPr>
              <a:t>的奇异值分解，</a:t>
            </a:r>
            <a:r>
              <a:rPr lang="en-US" altLang="zh-CN" b="1">
                <a:solidFill>
                  <a:srgbClr val="003300"/>
                </a:solidFill>
              </a:rPr>
              <a:t>A=           。</a:t>
            </a:r>
          </a:p>
          <a:p>
            <a:pPr eaLnBrk="1" hangingPunct="1">
              <a:buFontTx/>
              <a:buNone/>
            </a:pPr>
            <a:r>
              <a:rPr lang="zh-CN" altLang="en-US" b="1">
                <a:solidFill>
                  <a:srgbClr val="003300"/>
                </a:solidFill>
              </a:rPr>
              <a:t>   解 </a:t>
            </a:r>
            <a:r>
              <a:rPr lang="en-US" altLang="zh-CN" b="1">
                <a:solidFill>
                  <a:srgbClr val="003300"/>
                </a:solidFill>
              </a:rPr>
              <a:t>(1) </a:t>
            </a:r>
            <a:r>
              <a:rPr lang="zh-CN" altLang="en-US" b="1">
                <a:solidFill>
                  <a:srgbClr val="003300"/>
                </a:solidFill>
              </a:rPr>
              <a:t>求</a:t>
            </a:r>
          </a:p>
        </p:txBody>
      </p:sp>
      <p:graphicFrame>
        <p:nvGraphicFramePr>
          <p:cNvPr id="25604" name="Object 4">
            <a:extLst>
              <a:ext uri="{FF2B5EF4-FFF2-40B4-BE49-F238E27FC236}">
                <a16:creationId xmlns:a16="http://schemas.microsoft.com/office/drawing/2014/main" id="{02052055-9817-71B1-9283-C796B0A976E1}"/>
              </a:ext>
            </a:extLst>
          </p:cNvPr>
          <p:cNvGraphicFramePr>
            <a:graphicFrameLocks noChangeAspect="1"/>
          </p:cNvGraphicFramePr>
          <p:nvPr/>
        </p:nvGraphicFramePr>
        <p:xfrm>
          <a:off x="6948488" y="115888"/>
          <a:ext cx="938212" cy="1800225"/>
        </p:xfrm>
        <a:graphic>
          <a:graphicData uri="http://schemas.openxmlformats.org/presentationml/2006/ole">
            <mc:AlternateContent xmlns:mc="http://schemas.openxmlformats.org/markup-compatibility/2006">
              <mc:Choice xmlns:v="urn:schemas-microsoft-com:vml" Requires="v">
                <p:oleObj name="公式" r:id="rId2" imgW="482600" imgH="838200" progId="Equation.3">
                  <p:embed/>
                </p:oleObj>
              </mc:Choice>
              <mc:Fallback>
                <p:oleObj name="公式" r:id="rId2" imgW="482600" imgH="8382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8488" y="115888"/>
                        <a:ext cx="938212" cy="180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5" name="Object 5">
            <a:extLst>
              <a:ext uri="{FF2B5EF4-FFF2-40B4-BE49-F238E27FC236}">
                <a16:creationId xmlns:a16="http://schemas.microsoft.com/office/drawing/2014/main" id="{F64478E1-04DF-B787-1FA2-2883CCDE374E}"/>
              </a:ext>
            </a:extLst>
          </p:cNvPr>
          <p:cNvGraphicFramePr>
            <a:graphicFrameLocks noChangeAspect="1"/>
          </p:cNvGraphicFramePr>
          <p:nvPr/>
        </p:nvGraphicFramePr>
        <p:xfrm>
          <a:off x="1454150" y="3765550"/>
          <a:ext cx="2686050" cy="600075"/>
        </p:xfrm>
        <a:graphic>
          <a:graphicData uri="http://schemas.openxmlformats.org/presentationml/2006/ole">
            <mc:AlternateContent xmlns:mc="http://schemas.openxmlformats.org/markup-compatibility/2006">
              <mc:Choice xmlns:v="urn:schemas-microsoft-com:vml" Requires="v">
                <p:oleObj name="公式" r:id="rId4" imgW="1130300" imgH="254000" progId="Equation.3">
                  <p:embed/>
                </p:oleObj>
              </mc:Choice>
              <mc:Fallback>
                <p:oleObj name="公式" r:id="rId4" imgW="1130300" imgH="2540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54150" y="3765550"/>
                        <a:ext cx="2686050" cy="600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Object 4">
            <a:extLst>
              <a:ext uri="{FF2B5EF4-FFF2-40B4-BE49-F238E27FC236}">
                <a16:creationId xmlns:a16="http://schemas.microsoft.com/office/drawing/2014/main" id="{3794E6E2-2EA5-6A9B-B020-93BE225C1A49}"/>
              </a:ext>
            </a:extLst>
          </p:cNvPr>
          <p:cNvGraphicFramePr>
            <a:graphicFrameLocks noChangeAspect="1"/>
          </p:cNvGraphicFramePr>
          <p:nvPr/>
        </p:nvGraphicFramePr>
        <p:xfrm>
          <a:off x="2411413" y="836613"/>
          <a:ext cx="4310062" cy="1800225"/>
        </p:xfrm>
        <a:graphic>
          <a:graphicData uri="http://schemas.openxmlformats.org/presentationml/2006/ole">
            <mc:AlternateContent xmlns:mc="http://schemas.openxmlformats.org/markup-compatibility/2006">
              <mc:Choice xmlns:v="urn:schemas-microsoft-com:vml" Requires="v">
                <p:oleObj name="公式" r:id="rId6" imgW="2197100" imgH="838200" progId="Equation.3">
                  <p:embed/>
                </p:oleObj>
              </mc:Choice>
              <mc:Fallback>
                <p:oleObj name="公式" r:id="rId6" imgW="2197100" imgH="8382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11413" y="836613"/>
                        <a:ext cx="4310062" cy="180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12" name="Rectangle 16">
            <a:extLst>
              <a:ext uri="{FF2B5EF4-FFF2-40B4-BE49-F238E27FC236}">
                <a16:creationId xmlns:a16="http://schemas.microsoft.com/office/drawing/2014/main" id="{21448B31-72EB-D395-4DA8-48F655C79DEB}"/>
              </a:ext>
            </a:extLst>
          </p:cNvPr>
          <p:cNvSpPr>
            <a:spLocks noChangeArrowheads="1"/>
          </p:cNvSpPr>
          <p:nvPr/>
        </p:nvSpPr>
        <p:spPr bwMode="auto">
          <a:xfrm>
            <a:off x="1042988" y="2276475"/>
            <a:ext cx="22240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solidFill>
                  <a:srgbClr val="003300"/>
                </a:solidFill>
              </a:rPr>
              <a:t>的特征值：</a:t>
            </a:r>
          </a:p>
        </p:txBody>
      </p:sp>
      <p:graphicFrame>
        <p:nvGraphicFramePr>
          <p:cNvPr id="3" name="Object 4">
            <a:extLst>
              <a:ext uri="{FF2B5EF4-FFF2-40B4-BE49-F238E27FC236}">
                <a16:creationId xmlns:a16="http://schemas.microsoft.com/office/drawing/2014/main" id="{997FC7D0-83AB-1073-7D66-34CC74F9B010}"/>
              </a:ext>
            </a:extLst>
          </p:cNvPr>
          <p:cNvGraphicFramePr>
            <a:graphicFrameLocks noChangeAspect="1"/>
          </p:cNvGraphicFramePr>
          <p:nvPr/>
        </p:nvGraphicFramePr>
        <p:xfrm>
          <a:off x="1979613" y="2636838"/>
          <a:ext cx="6450012" cy="1157287"/>
        </p:xfrm>
        <a:graphic>
          <a:graphicData uri="http://schemas.openxmlformats.org/presentationml/2006/ole">
            <mc:AlternateContent xmlns:mc="http://schemas.openxmlformats.org/markup-compatibility/2006">
              <mc:Choice xmlns:v="urn:schemas-microsoft-com:vml" Requires="v">
                <p:oleObj name="公式" r:id="rId8" imgW="3289300" imgH="533400" progId="Equation.3">
                  <p:embed/>
                </p:oleObj>
              </mc:Choice>
              <mc:Fallback>
                <p:oleObj name="公式" r:id="rId8" imgW="3289300" imgH="533400"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79613" y="2636838"/>
                        <a:ext cx="6450012" cy="1157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14" name="Rectangle 18">
            <a:extLst>
              <a:ext uri="{FF2B5EF4-FFF2-40B4-BE49-F238E27FC236}">
                <a16:creationId xmlns:a16="http://schemas.microsoft.com/office/drawing/2014/main" id="{EF4AB9D0-1F1F-519D-7C25-8FE26558CB5F}"/>
              </a:ext>
            </a:extLst>
          </p:cNvPr>
          <p:cNvSpPr>
            <a:spLocks noChangeArrowheads="1"/>
          </p:cNvSpPr>
          <p:nvPr/>
        </p:nvSpPr>
        <p:spPr bwMode="auto">
          <a:xfrm>
            <a:off x="1042988" y="4365625"/>
            <a:ext cx="66595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a:solidFill>
                  <a:srgbClr val="003300"/>
                </a:solidFill>
              </a:rPr>
              <a:t>(2) </a:t>
            </a:r>
            <a:r>
              <a:rPr lang="zh-CN" altLang="en-US" sz="3200" b="1">
                <a:solidFill>
                  <a:srgbClr val="003300"/>
                </a:solidFill>
              </a:rPr>
              <a:t>求       对应的特征向量，</a:t>
            </a:r>
            <a:r>
              <a:rPr lang="zh-CN" altLang="en-US" sz="3200" b="1">
                <a:solidFill>
                  <a:srgbClr val="0000FF"/>
                </a:solidFill>
              </a:rPr>
              <a:t>确定</a:t>
            </a:r>
            <a:r>
              <a:rPr lang="en-US" altLang="zh-CN" sz="3200" b="1">
                <a:solidFill>
                  <a:srgbClr val="0000FF"/>
                </a:solidFill>
              </a:rPr>
              <a:t>V</a:t>
            </a:r>
            <a:r>
              <a:rPr lang="zh-CN" altLang="en-US" sz="3200" b="1">
                <a:solidFill>
                  <a:srgbClr val="003300"/>
                </a:solidFill>
              </a:rPr>
              <a:t>：</a:t>
            </a:r>
          </a:p>
        </p:txBody>
      </p:sp>
      <p:graphicFrame>
        <p:nvGraphicFramePr>
          <p:cNvPr id="4" name="Object 5">
            <a:extLst>
              <a:ext uri="{FF2B5EF4-FFF2-40B4-BE49-F238E27FC236}">
                <a16:creationId xmlns:a16="http://schemas.microsoft.com/office/drawing/2014/main" id="{7C08FE1D-D95B-C04D-54F0-7A3AA92818D5}"/>
              </a:ext>
            </a:extLst>
          </p:cNvPr>
          <p:cNvGraphicFramePr>
            <a:graphicFrameLocks noChangeAspect="1"/>
          </p:cNvGraphicFramePr>
          <p:nvPr/>
        </p:nvGraphicFramePr>
        <p:xfrm>
          <a:off x="2268538" y="4365625"/>
          <a:ext cx="423862" cy="636588"/>
        </p:xfrm>
        <a:graphic>
          <a:graphicData uri="http://schemas.openxmlformats.org/presentationml/2006/ole">
            <mc:AlternateContent xmlns:mc="http://schemas.openxmlformats.org/markup-compatibility/2006">
              <mc:Choice xmlns:v="urn:schemas-microsoft-com:vml" Requires="v">
                <p:oleObj name="公式" r:id="rId10" imgW="177800" imgH="266700" progId="Equation.3">
                  <p:embed/>
                </p:oleObj>
              </mc:Choice>
              <mc:Fallback>
                <p:oleObj name="公式" r:id="rId10" imgW="177800" imgH="266700"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68538" y="4365625"/>
                        <a:ext cx="423862" cy="636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5">
            <a:extLst>
              <a:ext uri="{FF2B5EF4-FFF2-40B4-BE49-F238E27FC236}">
                <a16:creationId xmlns:a16="http://schemas.microsoft.com/office/drawing/2014/main" id="{9E70B8B3-A960-A08E-7AC8-751DABDCC290}"/>
              </a:ext>
            </a:extLst>
          </p:cNvPr>
          <p:cNvGraphicFramePr>
            <a:graphicFrameLocks noChangeAspect="1"/>
          </p:cNvGraphicFramePr>
          <p:nvPr/>
        </p:nvGraphicFramePr>
        <p:xfrm>
          <a:off x="1620838" y="4870450"/>
          <a:ext cx="5940425" cy="636588"/>
        </p:xfrm>
        <a:graphic>
          <a:graphicData uri="http://schemas.openxmlformats.org/presentationml/2006/ole">
            <mc:AlternateContent xmlns:mc="http://schemas.openxmlformats.org/markup-compatibility/2006">
              <mc:Choice xmlns:v="urn:schemas-microsoft-com:vml" Requires="v">
                <p:oleObj name="公式" r:id="rId12" imgW="2514600" imgH="266700" progId="Equation.3">
                  <p:embed/>
                </p:oleObj>
              </mc:Choice>
              <mc:Fallback>
                <p:oleObj name="公式" r:id="rId12" imgW="2514600" imgH="266700" progId="Equation.3">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20838" y="4870450"/>
                        <a:ext cx="5940425" cy="636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5">
            <a:extLst>
              <a:ext uri="{FF2B5EF4-FFF2-40B4-BE49-F238E27FC236}">
                <a16:creationId xmlns:a16="http://schemas.microsoft.com/office/drawing/2014/main" id="{0D402816-3485-7CB0-79AF-3152D80B7412}"/>
              </a:ext>
            </a:extLst>
          </p:cNvPr>
          <p:cNvGraphicFramePr>
            <a:graphicFrameLocks noChangeAspect="1"/>
          </p:cNvGraphicFramePr>
          <p:nvPr/>
        </p:nvGraphicFramePr>
        <p:xfrm>
          <a:off x="1639888" y="5373688"/>
          <a:ext cx="6294437" cy="636587"/>
        </p:xfrm>
        <a:graphic>
          <a:graphicData uri="http://schemas.openxmlformats.org/presentationml/2006/ole">
            <mc:AlternateContent xmlns:mc="http://schemas.openxmlformats.org/markup-compatibility/2006">
              <mc:Choice xmlns:v="urn:schemas-microsoft-com:vml" Requires="v">
                <p:oleObj name="公式" r:id="rId14" imgW="2654300" imgH="266700" progId="Equation.3">
                  <p:embed/>
                </p:oleObj>
              </mc:Choice>
              <mc:Fallback>
                <p:oleObj name="公式" r:id="rId14" imgW="2654300" imgH="266700" progId="Equation.3">
                  <p:embed/>
                  <p:pic>
                    <p:nvPicPr>
                      <p:cNvPr id="0" name="Object 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39888" y="5373688"/>
                        <a:ext cx="6294437" cy="636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18" name="Rectangle 22">
            <a:extLst>
              <a:ext uri="{FF2B5EF4-FFF2-40B4-BE49-F238E27FC236}">
                <a16:creationId xmlns:a16="http://schemas.microsoft.com/office/drawing/2014/main" id="{97081219-521F-9EC8-D66C-9CC9EC198E77}"/>
              </a:ext>
            </a:extLst>
          </p:cNvPr>
          <p:cNvSpPr>
            <a:spLocks noChangeArrowheads="1"/>
          </p:cNvSpPr>
          <p:nvPr/>
        </p:nvSpPr>
        <p:spPr bwMode="auto">
          <a:xfrm>
            <a:off x="1116013" y="5922963"/>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solidFill>
                  <a:srgbClr val="003300"/>
                </a:solidFill>
              </a:rPr>
              <a:t>取</a:t>
            </a:r>
          </a:p>
        </p:txBody>
      </p:sp>
      <p:graphicFrame>
        <p:nvGraphicFramePr>
          <p:cNvPr id="7" name="Object 5">
            <a:extLst>
              <a:ext uri="{FF2B5EF4-FFF2-40B4-BE49-F238E27FC236}">
                <a16:creationId xmlns:a16="http://schemas.microsoft.com/office/drawing/2014/main" id="{13B3C7D9-5604-2196-1B2F-BA9DC49848C1}"/>
              </a:ext>
            </a:extLst>
          </p:cNvPr>
          <p:cNvGraphicFramePr>
            <a:graphicFrameLocks noChangeAspect="1"/>
          </p:cNvGraphicFramePr>
          <p:nvPr/>
        </p:nvGraphicFramePr>
        <p:xfrm>
          <a:off x="1909763" y="5878513"/>
          <a:ext cx="4208462" cy="636587"/>
        </p:xfrm>
        <a:graphic>
          <a:graphicData uri="http://schemas.openxmlformats.org/presentationml/2006/ole">
            <mc:AlternateContent xmlns:mc="http://schemas.openxmlformats.org/markup-compatibility/2006">
              <mc:Choice xmlns:v="urn:schemas-microsoft-com:vml" Requires="v">
                <p:oleObj name="公式" r:id="rId16" imgW="1778000" imgH="266700" progId="Equation.3">
                  <p:embed/>
                </p:oleObj>
              </mc:Choice>
              <mc:Fallback>
                <p:oleObj name="公式" r:id="rId16" imgW="1778000" imgH="266700" progId="Equation.3">
                  <p:embed/>
                  <p:pic>
                    <p:nvPicPr>
                      <p:cNvPr id="0" name="Object 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09763" y="5878513"/>
                        <a:ext cx="4208462" cy="636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5">
            <a:extLst>
              <a:ext uri="{FF2B5EF4-FFF2-40B4-BE49-F238E27FC236}">
                <a16:creationId xmlns:a16="http://schemas.microsoft.com/office/drawing/2014/main" id="{BC6B5949-99BB-2858-4545-6FA24C220BE5}"/>
              </a:ext>
            </a:extLst>
          </p:cNvPr>
          <p:cNvGraphicFramePr>
            <a:graphicFrameLocks noChangeAspect="1"/>
          </p:cNvGraphicFramePr>
          <p:nvPr/>
        </p:nvGraphicFramePr>
        <p:xfrm>
          <a:off x="4356100" y="3716338"/>
          <a:ext cx="3252788" cy="671512"/>
        </p:xfrm>
        <a:graphic>
          <a:graphicData uri="http://schemas.openxmlformats.org/presentationml/2006/ole">
            <mc:AlternateContent xmlns:mc="http://schemas.openxmlformats.org/markup-compatibility/2006">
              <mc:Choice xmlns:v="urn:schemas-microsoft-com:vml" Requires="v">
                <p:oleObj name="公式" r:id="rId18" imgW="1384300" imgH="279400" progId="Equation.3">
                  <p:embed/>
                </p:oleObj>
              </mc:Choice>
              <mc:Fallback>
                <p:oleObj name="公式" r:id="rId18" imgW="1384300" imgH="279400" progId="Equation.3">
                  <p:embed/>
                  <p:pic>
                    <p:nvPicPr>
                      <p:cNvPr id="0" name="Object 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356100" y="3716338"/>
                        <a:ext cx="3252788" cy="671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5604"/>
                                        </p:tgtEl>
                                        <p:attrNameLst>
                                          <p:attrName>style.visibility</p:attrName>
                                        </p:attrNameLst>
                                      </p:cBhvr>
                                      <p:to>
                                        <p:strVal val="visible"/>
                                      </p:to>
                                    </p:set>
                                    <p:anim calcmode="lin" valueType="num">
                                      <p:cBhvr additive="base">
                                        <p:cTn id="7" dur="500" fill="hold"/>
                                        <p:tgtEl>
                                          <p:spTgt spid="25604"/>
                                        </p:tgtEl>
                                        <p:attrNameLst>
                                          <p:attrName>ppt_x</p:attrName>
                                        </p:attrNameLst>
                                      </p:cBhvr>
                                      <p:tavLst>
                                        <p:tav tm="0">
                                          <p:val>
                                            <p:strVal val="0-#ppt_w/2"/>
                                          </p:val>
                                        </p:tav>
                                        <p:tav tm="100000">
                                          <p:val>
                                            <p:strVal val="#ppt_x"/>
                                          </p:val>
                                        </p:tav>
                                      </p:tavLst>
                                    </p:anim>
                                    <p:anim calcmode="lin" valueType="num">
                                      <p:cBhvr additive="base">
                                        <p:cTn id="8" dur="500" fill="hold"/>
                                        <p:tgtEl>
                                          <p:spTgt spid="2560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5603">
                                            <p:txEl>
                                              <p:pRg st="1" end="1"/>
                                            </p:txEl>
                                          </p:spTgt>
                                        </p:tgtEl>
                                        <p:attrNameLst>
                                          <p:attrName>style.visibility</p:attrName>
                                        </p:attrNameLst>
                                      </p:cBhvr>
                                      <p:to>
                                        <p:strVal val="visible"/>
                                      </p:to>
                                    </p:set>
                                    <p:anim calcmode="lin" valueType="num">
                                      <p:cBhvr additive="base">
                                        <p:cTn id="13" dur="500" fill="hold"/>
                                        <p:tgtEl>
                                          <p:spTgt spid="2560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603">
                                            <p:txEl>
                                              <p:pRg st="1" end="1"/>
                                            </p:txEl>
                                          </p:spTgt>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500"/>
                            </p:stCondLst>
                            <p:childTnLst>
                              <p:par>
                                <p:cTn id="16" presetID="2" presetClass="entr" presetSubtype="8"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0-#ppt_w/2"/>
                                          </p:val>
                                        </p:tav>
                                        <p:tav tm="100000">
                                          <p:val>
                                            <p:strVal val="#ppt_x"/>
                                          </p:val>
                                        </p:tav>
                                      </p:tavLst>
                                    </p:anim>
                                    <p:anim calcmode="lin" valueType="num">
                                      <p:cBhvr additive="base">
                                        <p:cTn id="19" dur="500" fill="hold"/>
                                        <p:tgtEl>
                                          <p:spTgt spid="2"/>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1000"/>
                            </p:stCondLst>
                            <p:childTnLst>
                              <p:par>
                                <p:cTn id="21" presetID="3" presetClass="entr" presetSubtype="10" fill="hold" nodeType="afterEffect">
                                  <p:stCondLst>
                                    <p:cond delay="0"/>
                                  </p:stCondLst>
                                  <p:childTnLst>
                                    <p:set>
                                      <p:cBhvr>
                                        <p:cTn id="22" dur="1" fill="hold">
                                          <p:stCondLst>
                                            <p:cond delay="0"/>
                                          </p:stCondLst>
                                        </p:cTn>
                                        <p:tgtEl>
                                          <p:spTgt spid="4112"/>
                                        </p:tgtEl>
                                        <p:attrNameLst>
                                          <p:attrName>style.visibility</p:attrName>
                                        </p:attrNameLst>
                                      </p:cBhvr>
                                      <p:to>
                                        <p:strVal val="visible"/>
                                      </p:to>
                                    </p:set>
                                    <p:animEffect transition="in" filter="blinds(horizontal)">
                                      <p:cBhvr>
                                        <p:cTn id="23" dur="500"/>
                                        <p:tgtEl>
                                          <p:spTgt spid="411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8"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8" fill="hold" nodeType="clickEffect">
                                  <p:stCondLst>
                                    <p:cond delay="0"/>
                                  </p:stCondLst>
                                  <p:childTnLst>
                                    <p:set>
                                      <p:cBhvr>
                                        <p:cTn id="33" dur="1" fill="hold">
                                          <p:stCondLst>
                                            <p:cond delay="0"/>
                                          </p:stCondLst>
                                        </p:cTn>
                                        <p:tgtEl>
                                          <p:spTgt spid="25605"/>
                                        </p:tgtEl>
                                        <p:attrNameLst>
                                          <p:attrName>style.visibility</p:attrName>
                                        </p:attrNameLst>
                                      </p:cBhvr>
                                      <p:to>
                                        <p:strVal val="visible"/>
                                      </p:to>
                                    </p:set>
                                    <p:anim calcmode="lin" valueType="num">
                                      <p:cBhvr additive="base">
                                        <p:cTn id="34" dur="500" fill="hold"/>
                                        <p:tgtEl>
                                          <p:spTgt spid="25605"/>
                                        </p:tgtEl>
                                        <p:attrNameLst>
                                          <p:attrName>ppt_x</p:attrName>
                                        </p:attrNameLst>
                                      </p:cBhvr>
                                      <p:tavLst>
                                        <p:tav tm="0">
                                          <p:val>
                                            <p:strVal val="0-#ppt_w/2"/>
                                          </p:val>
                                        </p:tav>
                                        <p:tav tm="100000">
                                          <p:val>
                                            <p:strVal val="#ppt_x"/>
                                          </p:val>
                                        </p:tav>
                                      </p:tavLst>
                                    </p:anim>
                                    <p:anim calcmode="lin" valueType="num">
                                      <p:cBhvr additive="base">
                                        <p:cTn id="35" dur="500" fill="hold"/>
                                        <p:tgtEl>
                                          <p:spTgt spid="25605"/>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8"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 calcmode="lin" valueType="num">
                                      <p:cBhvr additive="base">
                                        <p:cTn id="40" dur="500" fill="hold"/>
                                        <p:tgtEl>
                                          <p:spTgt spid="8"/>
                                        </p:tgtEl>
                                        <p:attrNameLst>
                                          <p:attrName>ppt_x</p:attrName>
                                        </p:attrNameLst>
                                      </p:cBhvr>
                                      <p:tavLst>
                                        <p:tav tm="0">
                                          <p:val>
                                            <p:strVal val="0-#ppt_w/2"/>
                                          </p:val>
                                        </p:tav>
                                        <p:tav tm="100000">
                                          <p:val>
                                            <p:strVal val="#ppt_x"/>
                                          </p:val>
                                        </p:tav>
                                      </p:tavLst>
                                    </p:anim>
                                    <p:anim calcmode="lin" valueType="num">
                                      <p:cBhvr additive="base">
                                        <p:cTn id="41"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nodeType="clickEffect">
                                  <p:stCondLst>
                                    <p:cond delay="0"/>
                                  </p:stCondLst>
                                  <p:childTnLst>
                                    <p:set>
                                      <p:cBhvr>
                                        <p:cTn id="45" dur="1" fill="hold">
                                          <p:stCondLst>
                                            <p:cond delay="0"/>
                                          </p:stCondLst>
                                        </p:cTn>
                                        <p:tgtEl>
                                          <p:spTgt spid="4114"/>
                                        </p:tgtEl>
                                        <p:attrNameLst>
                                          <p:attrName>style.visibility</p:attrName>
                                        </p:attrNameLst>
                                      </p:cBhvr>
                                      <p:to>
                                        <p:strVal val="visible"/>
                                      </p:to>
                                    </p:set>
                                    <p:animEffect transition="in" filter="blinds(horizontal)">
                                      <p:cBhvr>
                                        <p:cTn id="46" dur="500"/>
                                        <p:tgtEl>
                                          <p:spTgt spid="4114"/>
                                        </p:tgtEl>
                                      </p:cBhvr>
                                    </p:animEffect>
                                  </p:childTnLst>
                                </p:cTn>
                              </p:par>
                            </p:childTnLst>
                          </p:cTn>
                        </p:par>
                        <p:par>
                          <p:cTn id="47" fill="hold" nodeType="afterGroup">
                            <p:stCondLst>
                              <p:cond delay="500"/>
                            </p:stCondLst>
                            <p:childTnLst>
                              <p:par>
                                <p:cTn id="48" presetID="3" presetClass="entr" presetSubtype="10" fill="hold" nodeType="after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blinds(horizontal)">
                                      <p:cBhvr>
                                        <p:cTn id="50" dur="500"/>
                                        <p:tgtEl>
                                          <p:spTgt spid="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anim calcmode="lin" valueType="num">
                                      <p:cBhvr additive="base">
                                        <p:cTn id="55" dur="500" fill="hold"/>
                                        <p:tgtEl>
                                          <p:spTgt spid="5"/>
                                        </p:tgtEl>
                                        <p:attrNameLst>
                                          <p:attrName>ppt_x</p:attrName>
                                        </p:attrNameLst>
                                      </p:cBhvr>
                                      <p:tavLst>
                                        <p:tav tm="0">
                                          <p:val>
                                            <p:strVal val="0-#ppt_w/2"/>
                                          </p:val>
                                        </p:tav>
                                        <p:tav tm="100000">
                                          <p:val>
                                            <p:strVal val="#ppt_x"/>
                                          </p:val>
                                        </p:tav>
                                      </p:tavLst>
                                    </p:anim>
                                    <p:anim calcmode="lin" valueType="num">
                                      <p:cBhvr additive="base">
                                        <p:cTn id="56"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nodeType="clickEffect">
                                  <p:stCondLst>
                                    <p:cond delay="0"/>
                                  </p:stCondLst>
                                  <p:childTnLst>
                                    <p:set>
                                      <p:cBhvr>
                                        <p:cTn id="60" dur="1" fill="hold">
                                          <p:stCondLst>
                                            <p:cond delay="0"/>
                                          </p:stCondLst>
                                        </p:cTn>
                                        <p:tgtEl>
                                          <p:spTgt spid="6"/>
                                        </p:tgtEl>
                                        <p:attrNameLst>
                                          <p:attrName>style.visibility</p:attrName>
                                        </p:attrNameLst>
                                      </p:cBhvr>
                                      <p:to>
                                        <p:strVal val="visible"/>
                                      </p:to>
                                    </p:set>
                                    <p:anim calcmode="lin" valueType="num">
                                      <p:cBhvr additive="base">
                                        <p:cTn id="61" dur="500" fill="hold"/>
                                        <p:tgtEl>
                                          <p:spTgt spid="6"/>
                                        </p:tgtEl>
                                        <p:attrNameLst>
                                          <p:attrName>ppt_x</p:attrName>
                                        </p:attrNameLst>
                                      </p:cBhvr>
                                      <p:tavLst>
                                        <p:tav tm="0">
                                          <p:val>
                                            <p:strVal val="0-#ppt_w/2"/>
                                          </p:val>
                                        </p:tav>
                                        <p:tav tm="100000">
                                          <p:val>
                                            <p:strVal val="#ppt_x"/>
                                          </p:val>
                                        </p:tav>
                                      </p:tavLst>
                                    </p:anim>
                                    <p:anim calcmode="lin" valueType="num">
                                      <p:cBhvr additive="base">
                                        <p:cTn id="62"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4118"/>
                                        </p:tgtEl>
                                        <p:attrNameLst>
                                          <p:attrName>style.visibility</p:attrName>
                                        </p:attrNameLst>
                                      </p:cBhvr>
                                      <p:to>
                                        <p:strVal val="visible"/>
                                      </p:to>
                                    </p:set>
                                    <p:animEffect transition="in" filter="blinds(horizontal)">
                                      <p:cBhvr>
                                        <p:cTn id="67" dur="500"/>
                                        <p:tgtEl>
                                          <p:spTgt spid="4118"/>
                                        </p:tgtEl>
                                      </p:cBhvr>
                                    </p:animEffect>
                                  </p:childTnLst>
                                </p:cTn>
                              </p:par>
                            </p:childTnLst>
                          </p:cTn>
                        </p:par>
                        <p:par>
                          <p:cTn id="68" fill="hold" nodeType="afterGroup">
                            <p:stCondLst>
                              <p:cond delay="500"/>
                            </p:stCondLst>
                            <p:childTnLst>
                              <p:par>
                                <p:cTn id="69" presetID="2" presetClass="entr" presetSubtype="8" fill="hold" nodeType="afterEffect">
                                  <p:stCondLst>
                                    <p:cond delay="0"/>
                                  </p:stCondLst>
                                  <p:childTnLst>
                                    <p:set>
                                      <p:cBhvr>
                                        <p:cTn id="70" dur="1" fill="hold">
                                          <p:stCondLst>
                                            <p:cond delay="0"/>
                                          </p:stCondLst>
                                        </p:cTn>
                                        <p:tgtEl>
                                          <p:spTgt spid="7"/>
                                        </p:tgtEl>
                                        <p:attrNameLst>
                                          <p:attrName>style.visibility</p:attrName>
                                        </p:attrNameLst>
                                      </p:cBhvr>
                                      <p:to>
                                        <p:strVal val="visible"/>
                                      </p:to>
                                    </p:set>
                                    <p:anim calcmode="lin" valueType="num">
                                      <p:cBhvr additive="base">
                                        <p:cTn id="71" dur="500" fill="hold"/>
                                        <p:tgtEl>
                                          <p:spTgt spid="7"/>
                                        </p:tgtEl>
                                        <p:attrNameLst>
                                          <p:attrName>ppt_x</p:attrName>
                                        </p:attrNameLst>
                                      </p:cBhvr>
                                      <p:tavLst>
                                        <p:tav tm="0">
                                          <p:val>
                                            <p:strVal val="0-#ppt_w/2"/>
                                          </p:val>
                                        </p:tav>
                                        <p:tav tm="100000">
                                          <p:val>
                                            <p:strVal val="#ppt_x"/>
                                          </p:val>
                                        </p:tav>
                                      </p:tavLst>
                                    </p:anim>
                                    <p:anim calcmode="lin" valueType="num">
                                      <p:cBhvr additive="base">
                                        <p:cTn id="7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uiExpand="1" build="p" autoUpdateAnimBg="0"/>
      <p:bldP spid="4112" grpId="0"/>
      <p:bldP spid="4114" grpId="0"/>
      <p:bldP spid="4118"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1266" name="Rectangle 3">
            <a:extLst>
              <a:ext uri="{FF2B5EF4-FFF2-40B4-BE49-F238E27FC236}">
                <a16:creationId xmlns:a16="http://schemas.microsoft.com/office/drawing/2014/main" id="{2F8F91F6-1EF8-E5A1-588B-531E0242E393}"/>
              </a:ext>
            </a:extLst>
          </p:cNvPr>
          <p:cNvSpPr>
            <a:spLocks noGrp="1" noChangeArrowheads="1"/>
          </p:cNvSpPr>
          <p:nvPr>
            <p:ph type="body" idx="4294967295"/>
          </p:nvPr>
        </p:nvSpPr>
        <p:spPr>
          <a:xfrm>
            <a:off x="473075" y="333375"/>
            <a:ext cx="8202613" cy="1447800"/>
          </a:xfrm>
        </p:spPr>
        <p:txBody>
          <a:bodyPr/>
          <a:lstStyle/>
          <a:p>
            <a:pPr eaLnBrk="1" hangingPunct="1"/>
            <a:r>
              <a:rPr lang="zh-CN" altLang="en-US" b="1">
                <a:solidFill>
                  <a:srgbClr val="CC6600"/>
                </a:solidFill>
              </a:rPr>
              <a:t>例题1</a:t>
            </a:r>
            <a:r>
              <a:rPr lang="zh-CN" altLang="en-US" b="1">
                <a:solidFill>
                  <a:srgbClr val="003300"/>
                </a:solidFill>
              </a:rPr>
              <a:t> 求矩阵</a:t>
            </a:r>
            <a:r>
              <a:rPr lang="en-US" altLang="zh-CN" b="1">
                <a:solidFill>
                  <a:srgbClr val="003300"/>
                </a:solidFill>
              </a:rPr>
              <a:t>A</a:t>
            </a:r>
            <a:r>
              <a:rPr lang="zh-CN" altLang="en-US" b="1">
                <a:solidFill>
                  <a:srgbClr val="003300"/>
                </a:solidFill>
              </a:rPr>
              <a:t>的奇异值分解，</a:t>
            </a:r>
            <a:r>
              <a:rPr lang="en-US" altLang="zh-CN" b="1">
                <a:solidFill>
                  <a:srgbClr val="003300"/>
                </a:solidFill>
              </a:rPr>
              <a:t>A=           。</a:t>
            </a:r>
          </a:p>
          <a:p>
            <a:pPr eaLnBrk="1" hangingPunct="1">
              <a:buFontTx/>
              <a:buNone/>
            </a:pPr>
            <a:r>
              <a:rPr lang="zh-CN" altLang="en-US" b="1">
                <a:solidFill>
                  <a:srgbClr val="003300"/>
                </a:solidFill>
              </a:rPr>
              <a:t>   解 </a:t>
            </a:r>
            <a:r>
              <a:rPr lang="en-US" altLang="zh-CN" b="1">
                <a:solidFill>
                  <a:srgbClr val="003300"/>
                </a:solidFill>
              </a:rPr>
              <a:t>(1) </a:t>
            </a:r>
            <a:r>
              <a:rPr lang="zh-CN" altLang="en-US" b="1">
                <a:solidFill>
                  <a:srgbClr val="003300"/>
                </a:solidFill>
              </a:rPr>
              <a:t>求</a:t>
            </a:r>
          </a:p>
        </p:txBody>
      </p:sp>
      <p:graphicFrame>
        <p:nvGraphicFramePr>
          <p:cNvPr id="11267" name="Object 4">
            <a:extLst>
              <a:ext uri="{FF2B5EF4-FFF2-40B4-BE49-F238E27FC236}">
                <a16:creationId xmlns:a16="http://schemas.microsoft.com/office/drawing/2014/main" id="{DA255FDE-3995-8EE0-BC59-08BA571C86DE}"/>
              </a:ext>
            </a:extLst>
          </p:cNvPr>
          <p:cNvGraphicFramePr>
            <a:graphicFrameLocks noChangeAspect="1"/>
          </p:cNvGraphicFramePr>
          <p:nvPr/>
        </p:nvGraphicFramePr>
        <p:xfrm>
          <a:off x="6948488" y="115888"/>
          <a:ext cx="938212" cy="1800225"/>
        </p:xfrm>
        <a:graphic>
          <a:graphicData uri="http://schemas.openxmlformats.org/presentationml/2006/ole">
            <mc:AlternateContent xmlns:mc="http://schemas.openxmlformats.org/markup-compatibility/2006">
              <mc:Choice xmlns:v="urn:schemas-microsoft-com:vml" Requires="v">
                <p:oleObj name="公式" r:id="rId2" imgW="482600" imgH="838200" progId="Equation.3">
                  <p:embed/>
                </p:oleObj>
              </mc:Choice>
              <mc:Fallback>
                <p:oleObj name="公式" r:id="rId2" imgW="482600" imgH="8382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8488" y="115888"/>
                        <a:ext cx="938212" cy="180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8" name="Object 5">
            <a:extLst>
              <a:ext uri="{FF2B5EF4-FFF2-40B4-BE49-F238E27FC236}">
                <a16:creationId xmlns:a16="http://schemas.microsoft.com/office/drawing/2014/main" id="{5C205873-3DC4-78FB-4149-15BD7ECEE4D2}"/>
              </a:ext>
            </a:extLst>
          </p:cNvPr>
          <p:cNvGraphicFramePr>
            <a:graphicFrameLocks noChangeAspect="1"/>
          </p:cNvGraphicFramePr>
          <p:nvPr/>
        </p:nvGraphicFramePr>
        <p:xfrm>
          <a:off x="1562100" y="1844675"/>
          <a:ext cx="5408613" cy="671513"/>
        </p:xfrm>
        <a:graphic>
          <a:graphicData uri="http://schemas.openxmlformats.org/presentationml/2006/ole">
            <mc:AlternateContent xmlns:mc="http://schemas.openxmlformats.org/markup-compatibility/2006">
              <mc:Choice xmlns:v="urn:schemas-microsoft-com:vml" Requires="v">
                <p:oleObj name="公式" r:id="rId4" imgW="2286000" imgH="279400" progId="Equation.3">
                  <p:embed/>
                </p:oleObj>
              </mc:Choice>
              <mc:Fallback>
                <p:oleObj name="公式" r:id="rId4" imgW="2286000" imgH="2794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62100" y="1844675"/>
                        <a:ext cx="5408613" cy="671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9" name="Object 4">
            <a:extLst>
              <a:ext uri="{FF2B5EF4-FFF2-40B4-BE49-F238E27FC236}">
                <a16:creationId xmlns:a16="http://schemas.microsoft.com/office/drawing/2014/main" id="{13FE4EC8-1089-82A1-0B75-08FA8381DE77}"/>
              </a:ext>
            </a:extLst>
          </p:cNvPr>
          <p:cNvGraphicFramePr>
            <a:graphicFrameLocks noChangeAspect="1"/>
          </p:cNvGraphicFramePr>
          <p:nvPr/>
        </p:nvGraphicFramePr>
        <p:xfrm>
          <a:off x="2484438" y="836613"/>
          <a:ext cx="1993900" cy="1157287"/>
        </p:xfrm>
        <a:graphic>
          <a:graphicData uri="http://schemas.openxmlformats.org/presentationml/2006/ole">
            <mc:AlternateContent xmlns:mc="http://schemas.openxmlformats.org/markup-compatibility/2006">
              <mc:Choice xmlns:v="urn:schemas-microsoft-com:vml" Requires="v">
                <p:oleObj name="公式" r:id="rId6" imgW="1016000" imgH="533400" progId="Equation.3">
                  <p:embed/>
                </p:oleObj>
              </mc:Choice>
              <mc:Fallback>
                <p:oleObj name="公式" r:id="rId6" imgW="1016000" imgH="5334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84438" y="836613"/>
                        <a:ext cx="1993900" cy="1157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70" name="Rectangle 6">
            <a:extLst>
              <a:ext uri="{FF2B5EF4-FFF2-40B4-BE49-F238E27FC236}">
                <a16:creationId xmlns:a16="http://schemas.microsoft.com/office/drawing/2014/main" id="{6E3FA121-2B9A-B00E-56AF-294AB4401567}"/>
              </a:ext>
            </a:extLst>
          </p:cNvPr>
          <p:cNvSpPr>
            <a:spLocks noChangeArrowheads="1"/>
          </p:cNvSpPr>
          <p:nvPr/>
        </p:nvSpPr>
        <p:spPr bwMode="auto">
          <a:xfrm>
            <a:off x="4500563" y="1052513"/>
            <a:ext cx="22161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solidFill>
                  <a:srgbClr val="003300"/>
                </a:solidFill>
              </a:rPr>
              <a:t>的特征值：</a:t>
            </a:r>
          </a:p>
        </p:txBody>
      </p:sp>
      <p:sp>
        <p:nvSpPr>
          <p:cNvPr id="11271" name="Rectangle 8">
            <a:extLst>
              <a:ext uri="{FF2B5EF4-FFF2-40B4-BE49-F238E27FC236}">
                <a16:creationId xmlns:a16="http://schemas.microsoft.com/office/drawing/2014/main" id="{8366FD8A-11CA-99CA-74A7-34E93AB6C4CD}"/>
              </a:ext>
            </a:extLst>
          </p:cNvPr>
          <p:cNvSpPr>
            <a:spLocks noChangeArrowheads="1"/>
          </p:cNvSpPr>
          <p:nvPr/>
        </p:nvSpPr>
        <p:spPr bwMode="auto">
          <a:xfrm>
            <a:off x="1042988" y="2565400"/>
            <a:ext cx="65579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a:solidFill>
                  <a:srgbClr val="003300"/>
                </a:solidFill>
              </a:rPr>
              <a:t>(2) </a:t>
            </a:r>
            <a:r>
              <a:rPr lang="zh-CN" altLang="en-US" sz="3200" b="1">
                <a:solidFill>
                  <a:srgbClr val="003300"/>
                </a:solidFill>
              </a:rPr>
              <a:t>求      对应的特征向量，</a:t>
            </a:r>
            <a:r>
              <a:rPr lang="zh-CN" altLang="en-US" sz="3200" b="1">
                <a:solidFill>
                  <a:srgbClr val="0000FF"/>
                </a:solidFill>
              </a:rPr>
              <a:t>确定</a:t>
            </a:r>
            <a:r>
              <a:rPr lang="en-US" altLang="zh-CN" sz="3200" b="1">
                <a:solidFill>
                  <a:srgbClr val="0000FF"/>
                </a:solidFill>
              </a:rPr>
              <a:t>V</a:t>
            </a:r>
            <a:r>
              <a:rPr lang="zh-CN" altLang="en-US" sz="3200" b="1">
                <a:solidFill>
                  <a:srgbClr val="003300"/>
                </a:solidFill>
              </a:rPr>
              <a:t>：</a:t>
            </a:r>
          </a:p>
        </p:txBody>
      </p:sp>
      <p:graphicFrame>
        <p:nvGraphicFramePr>
          <p:cNvPr id="11272" name="Object 5">
            <a:extLst>
              <a:ext uri="{FF2B5EF4-FFF2-40B4-BE49-F238E27FC236}">
                <a16:creationId xmlns:a16="http://schemas.microsoft.com/office/drawing/2014/main" id="{4B3EF733-7B98-11A2-B130-370B93C2DABD}"/>
              </a:ext>
            </a:extLst>
          </p:cNvPr>
          <p:cNvGraphicFramePr>
            <a:graphicFrameLocks noChangeAspect="1"/>
          </p:cNvGraphicFramePr>
          <p:nvPr/>
        </p:nvGraphicFramePr>
        <p:xfrm>
          <a:off x="2203450" y="2565400"/>
          <a:ext cx="423863" cy="636588"/>
        </p:xfrm>
        <a:graphic>
          <a:graphicData uri="http://schemas.openxmlformats.org/presentationml/2006/ole">
            <mc:AlternateContent xmlns:mc="http://schemas.openxmlformats.org/markup-compatibility/2006">
              <mc:Choice xmlns:v="urn:schemas-microsoft-com:vml" Requires="v">
                <p:oleObj name="公式" r:id="rId8" imgW="177800" imgH="266700" progId="Equation.3">
                  <p:embed/>
                </p:oleObj>
              </mc:Choice>
              <mc:Fallback>
                <p:oleObj name="公式" r:id="rId8" imgW="177800" imgH="2667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03450" y="2565400"/>
                        <a:ext cx="423863" cy="636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00" name="Rectangle 12">
            <a:extLst>
              <a:ext uri="{FF2B5EF4-FFF2-40B4-BE49-F238E27FC236}">
                <a16:creationId xmlns:a16="http://schemas.microsoft.com/office/drawing/2014/main" id="{02375500-B817-BEF3-7D60-E9F3F72E3DF1}"/>
              </a:ext>
            </a:extLst>
          </p:cNvPr>
          <p:cNvSpPr>
            <a:spLocks noChangeArrowheads="1"/>
          </p:cNvSpPr>
          <p:nvPr/>
        </p:nvSpPr>
        <p:spPr bwMode="auto">
          <a:xfrm>
            <a:off x="1116013" y="3113088"/>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solidFill>
                  <a:srgbClr val="003300"/>
                </a:solidFill>
              </a:rPr>
              <a:t>取</a:t>
            </a:r>
          </a:p>
        </p:txBody>
      </p:sp>
      <p:graphicFrame>
        <p:nvGraphicFramePr>
          <p:cNvPr id="4" name="Object 5">
            <a:extLst>
              <a:ext uri="{FF2B5EF4-FFF2-40B4-BE49-F238E27FC236}">
                <a16:creationId xmlns:a16="http://schemas.microsoft.com/office/drawing/2014/main" id="{6B4C7132-5805-3633-7CF2-46ED48B24D99}"/>
              </a:ext>
            </a:extLst>
          </p:cNvPr>
          <p:cNvGraphicFramePr>
            <a:graphicFrameLocks noChangeAspect="1"/>
          </p:cNvGraphicFramePr>
          <p:nvPr/>
        </p:nvGraphicFramePr>
        <p:xfrm>
          <a:off x="1892300" y="3068638"/>
          <a:ext cx="4243388" cy="636587"/>
        </p:xfrm>
        <a:graphic>
          <a:graphicData uri="http://schemas.openxmlformats.org/presentationml/2006/ole">
            <mc:AlternateContent xmlns:mc="http://schemas.openxmlformats.org/markup-compatibility/2006">
              <mc:Choice xmlns:v="urn:schemas-microsoft-com:vml" Requires="v">
                <p:oleObj name="公式" r:id="rId10" imgW="1790700" imgH="266700" progId="Equation.3">
                  <p:embed/>
                </p:oleObj>
              </mc:Choice>
              <mc:Fallback>
                <p:oleObj name="公式" r:id="rId10" imgW="1790700" imgH="266700"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92300" y="3068638"/>
                        <a:ext cx="4243388" cy="636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02" name="Rectangle 14">
            <a:extLst>
              <a:ext uri="{FF2B5EF4-FFF2-40B4-BE49-F238E27FC236}">
                <a16:creationId xmlns:a16="http://schemas.microsoft.com/office/drawing/2014/main" id="{9F2A7B78-8EC0-05AA-5ED2-6533F3A9BE6E}"/>
              </a:ext>
            </a:extLst>
          </p:cNvPr>
          <p:cNvSpPr>
            <a:spLocks noChangeArrowheads="1"/>
          </p:cNvSpPr>
          <p:nvPr/>
        </p:nvSpPr>
        <p:spPr bwMode="auto">
          <a:xfrm>
            <a:off x="6300788" y="3068638"/>
            <a:ext cx="21590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solidFill>
                  <a:srgbClr val="0000FF"/>
                </a:solidFill>
              </a:rPr>
              <a:t>已正交！</a:t>
            </a:r>
          </a:p>
        </p:txBody>
      </p:sp>
      <p:sp>
        <p:nvSpPr>
          <p:cNvPr id="37903" name="Rectangle 15">
            <a:extLst>
              <a:ext uri="{FF2B5EF4-FFF2-40B4-BE49-F238E27FC236}">
                <a16:creationId xmlns:a16="http://schemas.microsoft.com/office/drawing/2014/main" id="{DA04C083-741E-A5FB-1212-95DEAFD45F41}"/>
              </a:ext>
            </a:extLst>
          </p:cNvPr>
          <p:cNvSpPr>
            <a:spLocks noChangeArrowheads="1"/>
          </p:cNvSpPr>
          <p:nvPr/>
        </p:nvSpPr>
        <p:spPr bwMode="auto">
          <a:xfrm>
            <a:off x="1187450" y="3860800"/>
            <a:ext cx="25177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solidFill>
                  <a:srgbClr val="0000FF"/>
                </a:solidFill>
              </a:rPr>
              <a:t>标准化得</a:t>
            </a:r>
            <a:r>
              <a:rPr lang="en-US" altLang="zh-CN" sz="3200" b="1">
                <a:solidFill>
                  <a:srgbClr val="0000FF"/>
                </a:solidFill>
              </a:rPr>
              <a:t>V</a:t>
            </a:r>
            <a:r>
              <a:rPr lang="zh-CN" altLang="en-US" sz="3200" b="1">
                <a:solidFill>
                  <a:srgbClr val="0000FF"/>
                </a:solidFill>
              </a:rPr>
              <a:t>：</a:t>
            </a:r>
          </a:p>
        </p:txBody>
      </p:sp>
      <p:graphicFrame>
        <p:nvGraphicFramePr>
          <p:cNvPr id="5" name="Object 5">
            <a:extLst>
              <a:ext uri="{FF2B5EF4-FFF2-40B4-BE49-F238E27FC236}">
                <a16:creationId xmlns:a16="http://schemas.microsoft.com/office/drawing/2014/main" id="{374DDF21-FC92-8B37-5630-8B0769B5C250}"/>
              </a:ext>
            </a:extLst>
          </p:cNvPr>
          <p:cNvGraphicFramePr>
            <a:graphicFrameLocks noChangeAspect="1"/>
          </p:cNvGraphicFramePr>
          <p:nvPr/>
        </p:nvGraphicFramePr>
        <p:xfrm>
          <a:off x="3419475" y="3573463"/>
          <a:ext cx="5410200" cy="1166812"/>
        </p:xfrm>
        <a:graphic>
          <a:graphicData uri="http://schemas.openxmlformats.org/presentationml/2006/ole">
            <mc:AlternateContent xmlns:mc="http://schemas.openxmlformats.org/markup-compatibility/2006">
              <mc:Choice xmlns:v="urn:schemas-microsoft-com:vml" Requires="v">
                <p:oleObj name="公式" r:id="rId12" imgW="2286000" imgH="495300" progId="Equation.3">
                  <p:embed/>
                </p:oleObj>
              </mc:Choice>
              <mc:Fallback>
                <p:oleObj name="公式" r:id="rId12" imgW="2286000" imgH="495300" progId="Equation.3">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19475" y="3573463"/>
                        <a:ext cx="5410200" cy="1166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05" name="Rectangle 17">
            <a:extLst>
              <a:ext uri="{FF2B5EF4-FFF2-40B4-BE49-F238E27FC236}">
                <a16:creationId xmlns:a16="http://schemas.microsoft.com/office/drawing/2014/main" id="{A0261B44-9622-655D-54ED-C08863E20335}"/>
              </a:ext>
            </a:extLst>
          </p:cNvPr>
          <p:cNvSpPr>
            <a:spLocks noChangeArrowheads="1"/>
          </p:cNvSpPr>
          <p:nvPr/>
        </p:nvSpPr>
        <p:spPr bwMode="auto">
          <a:xfrm>
            <a:off x="1187450" y="4579938"/>
            <a:ext cx="18684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a:solidFill>
                  <a:srgbClr val="003300"/>
                </a:solidFill>
              </a:rPr>
              <a:t>(3) </a:t>
            </a:r>
            <a:r>
              <a:rPr lang="zh-CN" altLang="en-US" sz="3200" b="1">
                <a:solidFill>
                  <a:srgbClr val="0000FF"/>
                </a:solidFill>
              </a:rPr>
              <a:t>求</a:t>
            </a:r>
            <a:r>
              <a:rPr lang="en-US" altLang="zh-CN" sz="3200" b="1">
                <a:solidFill>
                  <a:srgbClr val="0000FF"/>
                </a:solidFill>
              </a:rPr>
              <a:t>U</a:t>
            </a:r>
            <a:r>
              <a:rPr lang="zh-CN" altLang="en-US" sz="3200" b="1">
                <a:solidFill>
                  <a:srgbClr val="003300"/>
                </a:solidFill>
              </a:rPr>
              <a:t>：</a:t>
            </a:r>
          </a:p>
        </p:txBody>
      </p:sp>
      <p:graphicFrame>
        <p:nvGraphicFramePr>
          <p:cNvPr id="6" name="Object 5">
            <a:extLst>
              <a:ext uri="{FF2B5EF4-FFF2-40B4-BE49-F238E27FC236}">
                <a16:creationId xmlns:a16="http://schemas.microsoft.com/office/drawing/2014/main" id="{A1EA2A27-B83F-4174-02A0-2B725CAD286F}"/>
              </a:ext>
            </a:extLst>
          </p:cNvPr>
          <p:cNvGraphicFramePr>
            <a:graphicFrameLocks noChangeAspect="1"/>
          </p:cNvGraphicFramePr>
          <p:nvPr/>
        </p:nvGraphicFramePr>
        <p:xfrm>
          <a:off x="2916238" y="4579938"/>
          <a:ext cx="4419600" cy="600075"/>
        </p:xfrm>
        <a:graphic>
          <a:graphicData uri="http://schemas.openxmlformats.org/presentationml/2006/ole">
            <mc:AlternateContent xmlns:mc="http://schemas.openxmlformats.org/markup-compatibility/2006">
              <mc:Choice xmlns:v="urn:schemas-microsoft-com:vml" Requires="v">
                <p:oleObj name="公式" r:id="rId14" imgW="1866900" imgH="254000" progId="Equation.3">
                  <p:embed/>
                </p:oleObj>
              </mc:Choice>
              <mc:Fallback>
                <p:oleObj name="公式" r:id="rId14" imgW="1866900" imgH="254000" progId="Equation.3">
                  <p:embed/>
                  <p:pic>
                    <p:nvPicPr>
                      <p:cNvPr id="0" name="Object 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16238" y="4579938"/>
                        <a:ext cx="4419600" cy="600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5">
            <a:extLst>
              <a:ext uri="{FF2B5EF4-FFF2-40B4-BE49-F238E27FC236}">
                <a16:creationId xmlns:a16="http://schemas.microsoft.com/office/drawing/2014/main" id="{22FE4B10-3EDA-01C0-7CCB-6D6A9BA3C55D}"/>
              </a:ext>
            </a:extLst>
          </p:cNvPr>
          <p:cNvGraphicFramePr>
            <a:graphicFrameLocks noChangeAspect="1"/>
          </p:cNvGraphicFramePr>
          <p:nvPr/>
        </p:nvGraphicFramePr>
        <p:xfrm>
          <a:off x="1258888" y="5157788"/>
          <a:ext cx="6896100" cy="671512"/>
        </p:xfrm>
        <a:graphic>
          <a:graphicData uri="http://schemas.openxmlformats.org/presentationml/2006/ole">
            <mc:AlternateContent xmlns:mc="http://schemas.openxmlformats.org/markup-compatibility/2006">
              <mc:Choice xmlns:v="urn:schemas-microsoft-com:vml" Requires="v">
                <p:oleObj name="公式" r:id="rId16" imgW="2921000" imgH="279400" progId="Equation.3">
                  <p:embed/>
                </p:oleObj>
              </mc:Choice>
              <mc:Fallback>
                <p:oleObj name="公式" r:id="rId16" imgW="2921000" imgH="279400" progId="Equation.3">
                  <p:embed/>
                  <p:pic>
                    <p:nvPicPr>
                      <p:cNvPr id="0" name="Object 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258888" y="5157788"/>
                        <a:ext cx="6896100" cy="671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5">
            <a:extLst>
              <a:ext uri="{FF2B5EF4-FFF2-40B4-BE49-F238E27FC236}">
                <a16:creationId xmlns:a16="http://schemas.microsoft.com/office/drawing/2014/main" id="{D48F16E9-2AFD-95F2-02D2-353D2118E6DE}"/>
              </a:ext>
            </a:extLst>
          </p:cNvPr>
          <p:cNvGraphicFramePr>
            <a:graphicFrameLocks noChangeAspect="1"/>
          </p:cNvGraphicFramePr>
          <p:nvPr/>
        </p:nvGraphicFramePr>
        <p:xfrm>
          <a:off x="4859338" y="5876925"/>
          <a:ext cx="2439987" cy="565150"/>
        </p:xfrm>
        <a:graphic>
          <a:graphicData uri="http://schemas.openxmlformats.org/presentationml/2006/ole">
            <mc:AlternateContent xmlns:mc="http://schemas.openxmlformats.org/markup-compatibility/2006">
              <mc:Choice xmlns:v="urn:schemas-microsoft-com:vml" Requires="v">
                <p:oleObj name="公式" r:id="rId18" imgW="1028700" imgH="241300" progId="Equation.3">
                  <p:embed/>
                </p:oleObj>
              </mc:Choice>
              <mc:Fallback>
                <p:oleObj name="公式" r:id="rId18" imgW="1028700" imgH="241300" progId="Equation.3">
                  <p:embed/>
                  <p:pic>
                    <p:nvPicPr>
                      <p:cNvPr id="0" name="Object 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859338" y="5876925"/>
                        <a:ext cx="2439987"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5">
            <a:extLst>
              <a:ext uri="{FF2B5EF4-FFF2-40B4-BE49-F238E27FC236}">
                <a16:creationId xmlns:a16="http://schemas.microsoft.com/office/drawing/2014/main" id="{A23155FF-9189-583D-39C2-5F7518C2DFB5}"/>
              </a:ext>
            </a:extLst>
          </p:cNvPr>
          <p:cNvGraphicFramePr>
            <a:graphicFrameLocks noChangeAspect="1"/>
          </p:cNvGraphicFramePr>
          <p:nvPr/>
        </p:nvGraphicFramePr>
        <p:xfrm>
          <a:off x="1258888" y="5876925"/>
          <a:ext cx="614362" cy="552450"/>
        </p:xfrm>
        <a:graphic>
          <a:graphicData uri="http://schemas.openxmlformats.org/presentationml/2006/ole">
            <mc:AlternateContent xmlns:mc="http://schemas.openxmlformats.org/markup-compatibility/2006">
              <mc:Choice xmlns:v="urn:schemas-microsoft-com:vml" Requires="v">
                <p:oleObj name="公式" r:id="rId20" imgW="304800" imgH="266700" progId="Equation.3">
                  <p:embed/>
                </p:oleObj>
              </mc:Choice>
              <mc:Fallback>
                <p:oleObj name="公式" r:id="rId20" imgW="304800" imgH="266700" progId="Equation.3">
                  <p:embed/>
                  <p:pic>
                    <p:nvPicPr>
                      <p:cNvPr id="0" name="Object 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258888" y="5876925"/>
                        <a:ext cx="614362"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5">
            <a:extLst>
              <a:ext uri="{FF2B5EF4-FFF2-40B4-BE49-F238E27FC236}">
                <a16:creationId xmlns:a16="http://schemas.microsoft.com/office/drawing/2014/main" id="{F7205543-C130-3718-68A6-1F97E44A7262}"/>
              </a:ext>
            </a:extLst>
          </p:cNvPr>
          <p:cNvGraphicFramePr>
            <a:graphicFrameLocks noChangeAspect="1"/>
          </p:cNvGraphicFramePr>
          <p:nvPr/>
        </p:nvGraphicFramePr>
        <p:xfrm>
          <a:off x="3059113" y="5876925"/>
          <a:ext cx="1566862" cy="552450"/>
        </p:xfrm>
        <a:graphic>
          <a:graphicData uri="http://schemas.openxmlformats.org/presentationml/2006/ole">
            <mc:AlternateContent xmlns:mc="http://schemas.openxmlformats.org/markup-compatibility/2006">
              <mc:Choice xmlns:v="urn:schemas-microsoft-com:vml" Requires="v">
                <p:oleObj name="公式" r:id="rId22" imgW="762000" imgH="266700" progId="Equation.3">
                  <p:embed/>
                </p:oleObj>
              </mc:Choice>
              <mc:Fallback>
                <p:oleObj name="公式" r:id="rId22" imgW="762000" imgH="266700" progId="Equation.3">
                  <p:embed/>
                  <p:pic>
                    <p:nvPicPr>
                      <p:cNvPr id="0" name="Object 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059113" y="5876925"/>
                        <a:ext cx="1566862"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11" name="Rectangle 23">
            <a:extLst>
              <a:ext uri="{FF2B5EF4-FFF2-40B4-BE49-F238E27FC236}">
                <a16:creationId xmlns:a16="http://schemas.microsoft.com/office/drawing/2014/main" id="{A9C142B3-9599-327D-7DF7-67B6585B7716}"/>
              </a:ext>
            </a:extLst>
          </p:cNvPr>
          <p:cNvSpPr>
            <a:spLocks noChangeArrowheads="1"/>
          </p:cNvSpPr>
          <p:nvPr/>
        </p:nvSpPr>
        <p:spPr bwMode="auto">
          <a:xfrm>
            <a:off x="2051050" y="5876925"/>
            <a:ext cx="8953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solidFill>
                  <a:srgbClr val="003300"/>
                </a:solidFill>
              </a:rPr>
              <a:t>扩充</a:t>
            </a:r>
          </a:p>
        </p:txBody>
      </p:sp>
      <p:graphicFrame>
        <p:nvGraphicFramePr>
          <p:cNvPr id="11" name="Object 5">
            <a:extLst>
              <a:ext uri="{FF2B5EF4-FFF2-40B4-BE49-F238E27FC236}">
                <a16:creationId xmlns:a16="http://schemas.microsoft.com/office/drawing/2014/main" id="{5563D695-115B-72D7-1AF6-1511BB5183D3}"/>
              </a:ext>
            </a:extLst>
          </p:cNvPr>
          <p:cNvGraphicFramePr>
            <a:graphicFrameLocks noChangeAspect="1"/>
          </p:cNvGraphicFramePr>
          <p:nvPr/>
        </p:nvGraphicFramePr>
        <p:xfrm>
          <a:off x="7596188" y="5949950"/>
          <a:ext cx="601662" cy="495300"/>
        </p:xfrm>
        <a:graphic>
          <a:graphicData uri="http://schemas.openxmlformats.org/presentationml/2006/ole">
            <mc:AlternateContent xmlns:mc="http://schemas.openxmlformats.org/markup-compatibility/2006">
              <mc:Choice xmlns:v="urn:schemas-microsoft-com:vml" Requires="v">
                <p:oleObj name="公式" r:id="rId24" imgW="254000" imgH="215900" progId="Equation.3">
                  <p:embed/>
                </p:oleObj>
              </mc:Choice>
              <mc:Fallback>
                <p:oleObj name="公式" r:id="rId24" imgW="254000" imgH="215900" progId="Equation.3">
                  <p:embed/>
                  <p:pic>
                    <p:nvPicPr>
                      <p:cNvPr id="0" name="Object 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596188" y="5949950"/>
                        <a:ext cx="601662"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37900"/>
                                        </p:tgtEl>
                                        <p:attrNameLst>
                                          <p:attrName>style.visibility</p:attrName>
                                        </p:attrNameLst>
                                      </p:cBhvr>
                                      <p:to>
                                        <p:strVal val="visible"/>
                                      </p:to>
                                    </p:set>
                                    <p:animEffect transition="in" filter="blinds(horizontal)">
                                      <p:cBhvr>
                                        <p:cTn id="7" dur="500"/>
                                        <p:tgtEl>
                                          <p:spTgt spid="37900"/>
                                        </p:tgtEl>
                                      </p:cBhvr>
                                    </p:animEffect>
                                  </p:childTnLst>
                                </p:cTn>
                              </p:par>
                            </p:childTnLst>
                          </p:cTn>
                        </p:par>
                        <p:par>
                          <p:cTn id="8" fill="hold" nodeType="afterGroup">
                            <p:stCondLst>
                              <p:cond delay="500"/>
                            </p:stCondLst>
                            <p:childTnLst>
                              <p:par>
                                <p:cTn id="9" presetID="2" presetClass="entr" presetSubtype="8"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7902"/>
                                        </p:tgtEl>
                                        <p:attrNameLst>
                                          <p:attrName>style.visibility</p:attrName>
                                        </p:attrNameLst>
                                      </p:cBhvr>
                                      <p:to>
                                        <p:strVal val="visible"/>
                                      </p:to>
                                    </p:set>
                                    <p:animEffect transition="in" filter="blinds(horizontal)">
                                      <p:cBhvr>
                                        <p:cTn id="17" dur="500"/>
                                        <p:tgtEl>
                                          <p:spTgt spid="3790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7903"/>
                                        </p:tgtEl>
                                        <p:attrNameLst>
                                          <p:attrName>style.visibility</p:attrName>
                                        </p:attrNameLst>
                                      </p:cBhvr>
                                      <p:to>
                                        <p:strVal val="visible"/>
                                      </p:to>
                                    </p:set>
                                    <p:animEffect transition="in" filter="blinds(horizontal)">
                                      <p:cBhvr>
                                        <p:cTn id="22" dur="500"/>
                                        <p:tgtEl>
                                          <p:spTgt spid="37903"/>
                                        </p:tgtEl>
                                      </p:cBhvr>
                                    </p:animEffect>
                                  </p:childTnLst>
                                </p:cTn>
                              </p:par>
                            </p:childTnLst>
                          </p:cTn>
                        </p:par>
                        <p:par>
                          <p:cTn id="23" fill="hold" nodeType="afterGroup">
                            <p:stCondLst>
                              <p:cond delay="500"/>
                            </p:stCondLst>
                            <p:childTnLst>
                              <p:par>
                                <p:cTn id="24" presetID="2" presetClass="entr" presetSubtype="8" fill="hold" nodeType="after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fill="hold"/>
                                        <p:tgtEl>
                                          <p:spTgt spid="5"/>
                                        </p:tgtEl>
                                        <p:attrNameLst>
                                          <p:attrName>ppt_x</p:attrName>
                                        </p:attrNameLst>
                                      </p:cBhvr>
                                      <p:tavLst>
                                        <p:tav tm="0">
                                          <p:val>
                                            <p:strVal val="0-#ppt_w/2"/>
                                          </p:val>
                                        </p:tav>
                                        <p:tav tm="100000">
                                          <p:val>
                                            <p:strVal val="#ppt_x"/>
                                          </p:val>
                                        </p:tav>
                                      </p:tavLst>
                                    </p:anim>
                                    <p:anim calcmode="lin" valueType="num">
                                      <p:cBhvr additive="base">
                                        <p:cTn id="27"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7905"/>
                                        </p:tgtEl>
                                        <p:attrNameLst>
                                          <p:attrName>style.visibility</p:attrName>
                                        </p:attrNameLst>
                                      </p:cBhvr>
                                      <p:to>
                                        <p:strVal val="visible"/>
                                      </p:to>
                                    </p:set>
                                    <p:animEffect transition="in" filter="blinds(horizontal)">
                                      <p:cBhvr>
                                        <p:cTn id="32" dur="500"/>
                                        <p:tgtEl>
                                          <p:spTgt spid="3790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0-#ppt_w/2"/>
                                          </p:val>
                                        </p:tav>
                                        <p:tav tm="100000">
                                          <p:val>
                                            <p:strVal val="#ppt_x"/>
                                          </p:val>
                                        </p:tav>
                                      </p:tavLst>
                                    </p:anim>
                                    <p:anim calcmode="lin" valueType="num">
                                      <p:cBhvr additive="base">
                                        <p:cTn id="3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0-#ppt_w/2"/>
                                          </p:val>
                                        </p:tav>
                                        <p:tav tm="100000">
                                          <p:val>
                                            <p:strVal val="#ppt_x"/>
                                          </p:val>
                                        </p:tav>
                                      </p:tavLst>
                                    </p:anim>
                                    <p:anim calcmode="lin" valueType="num">
                                      <p:cBhvr additive="base">
                                        <p:cTn id="44"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ntr" presetSubtype="10"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blinds(horizontal)">
                                      <p:cBhvr>
                                        <p:cTn id="49" dur="500"/>
                                        <p:tgtEl>
                                          <p:spTgt spid="9"/>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ntr" presetSubtype="10" fill="hold" nodeType="clickEffect">
                                  <p:stCondLst>
                                    <p:cond delay="0"/>
                                  </p:stCondLst>
                                  <p:childTnLst>
                                    <p:set>
                                      <p:cBhvr>
                                        <p:cTn id="53" dur="1" fill="hold">
                                          <p:stCondLst>
                                            <p:cond delay="0"/>
                                          </p:stCondLst>
                                        </p:cTn>
                                        <p:tgtEl>
                                          <p:spTgt spid="37911"/>
                                        </p:tgtEl>
                                        <p:attrNameLst>
                                          <p:attrName>style.visibility</p:attrName>
                                        </p:attrNameLst>
                                      </p:cBhvr>
                                      <p:to>
                                        <p:strVal val="visible"/>
                                      </p:to>
                                    </p:set>
                                    <p:animEffect transition="in" filter="blinds(horizontal)">
                                      <p:cBhvr>
                                        <p:cTn id="54" dur="500"/>
                                        <p:tgtEl>
                                          <p:spTgt spid="37911"/>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nodeType="click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blinds(horizontal)">
                                      <p:cBhvr>
                                        <p:cTn id="59" dur="500"/>
                                        <p:tgtEl>
                                          <p:spTgt spid="10"/>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 presetClass="entr" presetSubtype="8" fill="hold" nodeType="clickEffect">
                                  <p:stCondLst>
                                    <p:cond delay="0"/>
                                  </p:stCondLst>
                                  <p:childTnLst>
                                    <p:set>
                                      <p:cBhvr>
                                        <p:cTn id="63" dur="1" fill="hold">
                                          <p:stCondLst>
                                            <p:cond delay="0"/>
                                          </p:stCondLst>
                                        </p:cTn>
                                        <p:tgtEl>
                                          <p:spTgt spid="8"/>
                                        </p:tgtEl>
                                        <p:attrNameLst>
                                          <p:attrName>style.visibility</p:attrName>
                                        </p:attrNameLst>
                                      </p:cBhvr>
                                      <p:to>
                                        <p:strVal val="visible"/>
                                      </p:to>
                                    </p:set>
                                    <p:anim calcmode="lin" valueType="num">
                                      <p:cBhvr additive="base">
                                        <p:cTn id="64" dur="500" fill="hold"/>
                                        <p:tgtEl>
                                          <p:spTgt spid="8"/>
                                        </p:tgtEl>
                                        <p:attrNameLst>
                                          <p:attrName>ppt_x</p:attrName>
                                        </p:attrNameLst>
                                      </p:cBhvr>
                                      <p:tavLst>
                                        <p:tav tm="0">
                                          <p:val>
                                            <p:strVal val="0-#ppt_w/2"/>
                                          </p:val>
                                        </p:tav>
                                        <p:tav tm="100000">
                                          <p:val>
                                            <p:strVal val="#ppt_x"/>
                                          </p:val>
                                        </p:tav>
                                      </p:tavLst>
                                    </p:anim>
                                    <p:anim calcmode="lin" valueType="num">
                                      <p:cBhvr additive="base">
                                        <p:cTn id="65"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3" presetClass="entr" presetSubtype="10" fill="hold" nodeType="clickEffect">
                                  <p:stCondLst>
                                    <p:cond delay="0"/>
                                  </p:stCondLst>
                                  <p:childTnLst>
                                    <p:set>
                                      <p:cBhvr>
                                        <p:cTn id="69" dur="1" fill="hold">
                                          <p:stCondLst>
                                            <p:cond delay="0"/>
                                          </p:stCondLst>
                                        </p:cTn>
                                        <p:tgtEl>
                                          <p:spTgt spid="11"/>
                                        </p:tgtEl>
                                        <p:attrNameLst>
                                          <p:attrName>style.visibility</p:attrName>
                                        </p:attrNameLst>
                                      </p:cBhvr>
                                      <p:to>
                                        <p:strVal val="visible"/>
                                      </p:to>
                                    </p:set>
                                    <p:animEffect transition="in" filter="blinds(horizontal)">
                                      <p:cBhvr>
                                        <p:cTn id="7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00" grpId="0"/>
      <p:bldP spid="37902" grpId="0"/>
      <p:bldP spid="37903" grpId="0"/>
      <p:bldP spid="37905" grpId="0"/>
      <p:bldP spid="37911"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graphicFrame>
        <p:nvGraphicFramePr>
          <p:cNvPr id="12290" name="Object 5">
            <a:extLst>
              <a:ext uri="{FF2B5EF4-FFF2-40B4-BE49-F238E27FC236}">
                <a16:creationId xmlns:a16="http://schemas.microsoft.com/office/drawing/2014/main" id="{B1D8F798-6EB2-6FD9-0C68-01F54FD2D0BF}"/>
              </a:ext>
            </a:extLst>
          </p:cNvPr>
          <p:cNvGraphicFramePr>
            <a:graphicFrameLocks noChangeAspect="1"/>
          </p:cNvGraphicFramePr>
          <p:nvPr/>
        </p:nvGraphicFramePr>
        <p:xfrm>
          <a:off x="6372225" y="333375"/>
          <a:ext cx="1555750" cy="1981200"/>
        </p:xfrm>
        <a:graphic>
          <a:graphicData uri="http://schemas.openxmlformats.org/presentationml/2006/ole">
            <mc:AlternateContent xmlns:mc="http://schemas.openxmlformats.org/markup-compatibility/2006">
              <mc:Choice xmlns:v="urn:schemas-microsoft-com:vml" Requires="v">
                <p:oleObj name="公式" r:id="rId2" imgW="660400" imgH="838200" progId="Equation.3">
                  <p:embed/>
                </p:oleObj>
              </mc:Choice>
              <mc:Fallback>
                <p:oleObj name="公式" r:id="rId2" imgW="660400" imgH="8382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225" y="333375"/>
                        <a:ext cx="1555750" cy="198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6" name="Rectangle 6">
            <a:extLst>
              <a:ext uri="{FF2B5EF4-FFF2-40B4-BE49-F238E27FC236}">
                <a16:creationId xmlns:a16="http://schemas.microsoft.com/office/drawing/2014/main" id="{42416B70-3579-45EE-B4A1-329AB222C3F2}"/>
              </a:ext>
            </a:extLst>
          </p:cNvPr>
          <p:cNvSpPr>
            <a:spLocks noChangeArrowheads="1"/>
          </p:cNvSpPr>
          <p:nvPr/>
        </p:nvSpPr>
        <p:spPr bwMode="auto">
          <a:xfrm>
            <a:off x="611188" y="260350"/>
            <a:ext cx="8137525" cy="1944688"/>
          </a:xfrm>
          <a:prstGeom prst="rect">
            <a:avLst/>
          </a:prstGeom>
          <a:noFill/>
          <a:ln w="9525">
            <a:noFill/>
            <a:miter lim="800000"/>
            <a:headEnd/>
            <a:tailEnd/>
          </a:ln>
          <a:effectLst/>
        </p:spPr>
        <p:txBody>
          <a:bodyPr>
            <a:spAutoFit/>
          </a:bodyPr>
          <a:lstStyle>
            <a:lvl1pPr>
              <a:spcBef>
                <a:spcPct val="20000"/>
              </a:spcBef>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itchFamily="2" charset="2"/>
              <a:buBlip>
                <a:blip r:embed="rId5"/>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solidFill>
                  <a:srgbClr val="CC6600"/>
                </a:solidFill>
                <a:effectLst>
                  <a:outerShdw blurRad="38100" dist="38100" dir="2700000" algn="tl">
                    <a:srgbClr val="C0C0C0"/>
                  </a:outerShdw>
                </a:effectLst>
              </a:rPr>
              <a:t> </a:t>
            </a:r>
            <a:r>
              <a:rPr lang="zh-CN" altLang="en-US" b="1">
                <a:solidFill>
                  <a:srgbClr val="CC6600"/>
                </a:solidFill>
              </a:rPr>
              <a:t>例题2</a:t>
            </a:r>
            <a:r>
              <a:rPr lang="zh-CN" altLang="en-US" b="1">
                <a:solidFill>
                  <a:srgbClr val="003300"/>
                </a:solidFill>
              </a:rPr>
              <a:t>（</a:t>
            </a:r>
            <a:r>
              <a:rPr lang="en-US" altLang="zh-CN">
                <a:solidFill>
                  <a:srgbClr val="003300"/>
                </a:solidFill>
              </a:rPr>
              <a:t>P</a:t>
            </a:r>
            <a:r>
              <a:rPr lang="en-US" altLang="zh-CN">
                <a:solidFill>
                  <a:srgbClr val="003300"/>
                </a:solidFill>
                <a:sym typeface="Symbol" pitchFamily="2" charset="2"/>
              </a:rPr>
              <a:t></a:t>
            </a:r>
            <a:r>
              <a:rPr lang="en-US" altLang="zh-CN">
                <a:solidFill>
                  <a:srgbClr val="003300"/>
                </a:solidFill>
              </a:rPr>
              <a:t>84，eg13</a:t>
            </a:r>
            <a:r>
              <a:rPr lang="en-US" altLang="zh-CN" b="1">
                <a:solidFill>
                  <a:srgbClr val="003300"/>
                </a:solidFill>
              </a:rPr>
              <a:t>）</a:t>
            </a:r>
          </a:p>
          <a:p>
            <a:pPr eaLnBrk="1" hangingPunct="1">
              <a:spcBef>
                <a:spcPct val="30000"/>
              </a:spcBef>
              <a:buFontTx/>
              <a:buNone/>
            </a:pPr>
            <a:r>
              <a:rPr lang="zh-CN" altLang="en-US" b="1">
                <a:solidFill>
                  <a:srgbClr val="003300"/>
                </a:solidFill>
              </a:rPr>
              <a:t>求矩阵</a:t>
            </a:r>
            <a:r>
              <a:rPr lang="en-US" altLang="zh-CN" b="1">
                <a:solidFill>
                  <a:srgbClr val="003300"/>
                </a:solidFill>
              </a:rPr>
              <a:t>A</a:t>
            </a:r>
            <a:r>
              <a:rPr lang="zh-CN" altLang="en-US" b="1">
                <a:solidFill>
                  <a:srgbClr val="003300"/>
                </a:solidFill>
              </a:rPr>
              <a:t>和</a:t>
            </a:r>
            <a:r>
              <a:rPr lang="en-US" altLang="zh-CN" b="1">
                <a:solidFill>
                  <a:srgbClr val="003300"/>
                </a:solidFill>
              </a:rPr>
              <a:t>B</a:t>
            </a:r>
            <a:r>
              <a:rPr lang="zh-CN" altLang="en-US" b="1">
                <a:solidFill>
                  <a:srgbClr val="003300"/>
                </a:solidFill>
              </a:rPr>
              <a:t>的奇异值分解，</a:t>
            </a:r>
            <a:r>
              <a:rPr lang="en-US" altLang="zh-CN" b="1">
                <a:solidFill>
                  <a:srgbClr val="003300"/>
                </a:solidFill>
              </a:rPr>
              <a:t>A=                 </a:t>
            </a:r>
            <a:r>
              <a:rPr lang="zh-CN" altLang="en-US" b="1">
                <a:solidFill>
                  <a:srgbClr val="003300"/>
                </a:solidFill>
              </a:rPr>
              <a:t>；</a:t>
            </a:r>
          </a:p>
          <a:p>
            <a:pPr eaLnBrk="1" hangingPunct="1">
              <a:spcBef>
                <a:spcPct val="50000"/>
              </a:spcBef>
              <a:buFontTx/>
              <a:buNone/>
            </a:pPr>
            <a:r>
              <a:rPr lang="en-US" altLang="zh-CN" b="1">
                <a:solidFill>
                  <a:srgbClr val="003300"/>
                </a:solidFill>
              </a:rPr>
              <a:t>B =                  </a:t>
            </a:r>
            <a:r>
              <a:rPr lang="zh-CN" altLang="en-US" b="1">
                <a:solidFill>
                  <a:srgbClr val="003300"/>
                </a:solidFill>
              </a:rPr>
              <a:t>。</a:t>
            </a:r>
          </a:p>
        </p:txBody>
      </p:sp>
      <p:graphicFrame>
        <p:nvGraphicFramePr>
          <p:cNvPr id="12292" name="Object 5">
            <a:extLst>
              <a:ext uri="{FF2B5EF4-FFF2-40B4-BE49-F238E27FC236}">
                <a16:creationId xmlns:a16="http://schemas.microsoft.com/office/drawing/2014/main" id="{5FA35BB7-6BE1-23F3-18CD-A9F169ACBB19}"/>
              </a:ext>
            </a:extLst>
          </p:cNvPr>
          <p:cNvGraphicFramePr>
            <a:graphicFrameLocks noChangeAspect="1"/>
          </p:cNvGraphicFramePr>
          <p:nvPr/>
        </p:nvGraphicFramePr>
        <p:xfrm>
          <a:off x="1476375" y="1435100"/>
          <a:ext cx="1555750" cy="1273175"/>
        </p:xfrm>
        <a:graphic>
          <a:graphicData uri="http://schemas.openxmlformats.org/presentationml/2006/ole">
            <mc:AlternateContent xmlns:mc="http://schemas.openxmlformats.org/markup-compatibility/2006">
              <mc:Choice xmlns:v="urn:schemas-microsoft-com:vml" Requires="v">
                <p:oleObj name="公式" r:id="rId6" imgW="660400" imgH="533400" progId="Equation.3">
                  <p:embed/>
                </p:oleObj>
              </mc:Choice>
              <mc:Fallback>
                <p:oleObj name="公式" r:id="rId6" imgW="660400" imgH="5334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76375" y="1435100"/>
                        <a:ext cx="1555750" cy="1273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51" name="Rectangle 11">
            <a:extLst>
              <a:ext uri="{FF2B5EF4-FFF2-40B4-BE49-F238E27FC236}">
                <a16:creationId xmlns:a16="http://schemas.microsoft.com/office/drawing/2014/main" id="{0B02C8AC-FF2D-7DA3-38C2-F09CAFA459CA}"/>
              </a:ext>
            </a:extLst>
          </p:cNvPr>
          <p:cNvSpPr>
            <a:spLocks noChangeArrowheads="1"/>
          </p:cNvSpPr>
          <p:nvPr/>
        </p:nvSpPr>
        <p:spPr bwMode="auto">
          <a:xfrm>
            <a:off x="827088" y="2728913"/>
            <a:ext cx="48244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solidFill>
                  <a:srgbClr val="003300"/>
                </a:solidFill>
              </a:rPr>
              <a:t>解  </a:t>
            </a:r>
            <a:r>
              <a:rPr lang="en-US" altLang="zh-CN" sz="3200" b="1">
                <a:solidFill>
                  <a:srgbClr val="003300"/>
                </a:solidFill>
              </a:rPr>
              <a:t>(1) </a:t>
            </a:r>
            <a:r>
              <a:rPr lang="zh-CN" altLang="en-US" sz="3200" b="1">
                <a:solidFill>
                  <a:srgbClr val="003300"/>
                </a:solidFill>
              </a:rPr>
              <a:t>求</a:t>
            </a:r>
            <a:r>
              <a:rPr lang="en-US" altLang="zh-CN" sz="3200" b="1">
                <a:solidFill>
                  <a:srgbClr val="003300"/>
                </a:solidFill>
              </a:rPr>
              <a:t>A</a:t>
            </a:r>
            <a:r>
              <a:rPr lang="en-US" altLang="zh-CN" sz="3200" b="1" baseline="30000">
                <a:solidFill>
                  <a:srgbClr val="003300"/>
                </a:solidFill>
              </a:rPr>
              <a:t>H</a:t>
            </a:r>
            <a:r>
              <a:rPr lang="en-US" altLang="zh-CN" sz="3200" b="1">
                <a:solidFill>
                  <a:srgbClr val="003300"/>
                </a:solidFill>
              </a:rPr>
              <a:t>A</a:t>
            </a:r>
            <a:r>
              <a:rPr lang="zh-CN" altLang="en-US" sz="3200" b="1">
                <a:solidFill>
                  <a:srgbClr val="003300"/>
                </a:solidFill>
              </a:rPr>
              <a:t>的特征值：</a:t>
            </a:r>
          </a:p>
        </p:txBody>
      </p:sp>
      <p:graphicFrame>
        <p:nvGraphicFramePr>
          <p:cNvPr id="3" name="Object 5">
            <a:extLst>
              <a:ext uri="{FF2B5EF4-FFF2-40B4-BE49-F238E27FC236}">
                <a16:creationId xmlns:a16="http://schemas.microsoft.com/office/drawing/2014/main" id="{3D4B91B0-2291-2936-69C9-85A5D20665E7}"/>
              </a:ext>
            </a:extLst>
          </p:cNvPr>
          <p:cNvGraphicFramePr>
            <a:graphicFrameLocks noChangeAspect="1"/>
          </p:cNvGraphicFramePr>
          <p:nvPr/>
        </p:nvGraphicFramePr>
        <p:xfrm>
          <a:off x="2687638" y="3284538"/>
          <a:ext cx="3252787" cy="671512"/>
        </p:xfrm>
        <a:graphic>
          <a:graphicData uri="http://schemas.openxmlformats.org/presentationml/2006/ole">
            <mc:AlternateContent xmlns:mc="http://schemas.openxmlformats.org/markup-compatibility/2006">
              <mc:Choice xmlns:v="urn:schemas-microsoft-com:vml" Requires="v">
                <p:oleObj name="公式" r:id="rId8" imgW="1384300" imgH="279400" progId="Equation.3">
                  <p:embed/>
                </p:oleObj>
              </mc:Choice>
              <mc:Fallback>
                <p:oleObj name="公式" r:id="rId8" imgW="1384300" imgH="2794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87638" y="3284538"/>
                        <a:ext cx="3252787" cy="671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5">
            <a:extLst>
              <a:ext uri="{FF2B5EF4-FFF2-40B4-BE49-F238E27FC236}">
                <a16:creationId xmlns:a16="http://schemas.microsoft.com/office/drawing/2014/main" id="{D879E30B-F5BA-028E-49B3-7641576ED87E}"/>
              </a:ext>
            </a:extLst>
          </p:cNvPr>
          <p:cNvGraphicFramePr>
            <a:graphicFrameLocks noChangeAspect="1"/>
          </p:cNvGraphicFramePr>
          <p:nvPr/>
        </p:nvGraphicFramePr>
        <p:xfrm>
          <a:off x="5292725" y="2708275"/>
          <a:ext cx="3359150" cy="636588"/>
        </p:xfrm>
        <a:graphic>
          <a:graphicData uri="http://schemas.openxmlformats.org/presentationml/2006/ole">
            <mc:AlternateContent xmlns:mc="http://schemas.openxmlformats.org/markup-compatibility/2006">
              <mc:Choice xmlns:v="urn:schemas-microsoft-com:vml" Requires="v">
                <p:oleObj name="公式" r:id="rId10" imgW="1422400" imgH="266700" progId="Equation.3">
                  <p:embed/>
                </p:oleObj>
              </mc:Choice>
              <mc:Fallback>
                <p:oleObj name="公式" r:id="rId10" imgW="1422400" imgH="266700"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92725" y="2708275"/>
                        <a:ext cx="3359150" cy="636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54" name="Rectangle 14">
            <a:extLst>
              <a:ext uri="{FF2B5EF4-FFF2-40B4-BE49-F238E27FC236}">
                <a16:creationId xmlns:a16="http://schemas.microsoft.com/office/drawing/2014/main" id="{81B0D0E6-D1F2-FE1A-BF05-CBA26EA65603}"/>
              </a:ext>
            </a:extLst>
          </p:cNvPr>
          <p:cNvSpPr>
            <a:spLocks noChangeArrowheads="1"/>
          </p:cNvSpPr>
          <p:nvPr/>
        </p:nvSpPr>
        <p:spPr bwMode="auto">
          <a:xfrm>
            <a:off x="900113" y="3932238"/>
            <a:ext cx="76327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solidFill>
                  <a:srgbClr val="003300"/>
                </a:solidFill>
              </a:rPr>
              <a:t>求</a:t>
            </a:r>
            <a:r>
              <a:rPr lang="el-GR" altLang="zh-CN" sz="3200" b="1">
                <a:solidFill>
                  <a:srgbClr val="003300"/>
                </a:solidFill>
              </a:rPr>
              <a:t>λ</a:t>
            </a:r>
            <a:r>
              <a:rPr lang="en-US" altLang="zh-CN" sz="3200" i="1" baseline="-25000">
                <a:solidFill>
                  <a:srgbClr val="003300"/>
                </a:solidFill>
              </a:rPr>
              <a:t>i </a:t>
            </a:r>
            <a:r>
              <a:rPr lang="zh-CN" altLang="en-US" sz="3200" b="1">
                <a:solidFill>
                  <a:srgbClr val="003300"/>
                </a:solidFill>
              </a:rPr>
              <a:t>的特征向量</a:t>
            </a:r>
            <a:r>
              <a:rPr lang="en-US" altLang="zh-CN" sz="3200" b="1">
                <a:solidFill>
                  <a:srgbClr val="003300"/>
                </a:solidFill>
              </a:rPr>
              <a:t>(</a:t>
            </a:r>
            <a:r>
              <a:rPr lang="zh-CN" altLang="en-US" sz="3200" b="1">
                <a:solidFill>
                  <a:srgbClr val="0000FF"/>
                </a:solidFill>
              </a:rPr>
              <a:t>已正交</a:t>
            </a:r>
            <a:r>
              <a:rPr lang="en-US" altLang="zh-CN" sz="3200" b="1">
                <a:solidFill>
                  <a:srgbClr val="003300"/>
                </a:solidFill>
              </a:rPr>
              <a:t>), </a:t>
            </a:r>
            <a:r>
              <a:rPr lang="zh-CN" altLang="en-US" sz="3200" b="1">
                <a:solidFill>
                  <a:srgbClr val="003300"/>
                </a:solidFill>
              </a:rPr>
              <a:t>正交化定出</a:t>
            </a:r>
            <a:r>
              <a:rPr lang="en-US" altLang="zh-CN" sz="3200" b="1">
                <a:solidFill>
                  <a:srgbClr val="003300"/>
                </a:solidFill>
              </a:rPr>
              <a:t>V</a:t>
            </a:r>
            <a:r>
              <a:rPr lang="zh-CN" altLang="en-US" sz="3200" b="1">
                <a:solidFill>
                  <a:srgbClr val="003300"/>
                </a:solidFill>
              </a:rPr>
              <a:t>：</a:t>
            </a:r>
          </a:p>
        </p:txBody>
      </p:sp>
      <p:graphicFrame>
        <p:nvGraphicFramePr>
          <p:cNvPr id="5" name="Object 5">
            <a:extLst>
              <a:ext uri="{FF2B5EF4-FFF2-40B4-BE49-F238E27FC236}">
                <a16:creationId xmlns:a16="http://schemas.microsoft.com/office/drawing/2014/main" id="{02C94719-811E-07D0-3235-8D8671A86F7A}"/>
              </a:ext>
            </a:extLst>
          </p:cNvPr>
          <p:cNvGraphicFramePr>
            <a:graphicFrameLocks noChangeAspect="1"/>
          </p:cNvGraphicFramePr>
          <p:nvPr/>
        </p:nvGraphicFramePr>
        <p:xfrm>
          <a:off x="1187450" y="4543425"/>
          <a:ext cx="6769100" cy="636588"/>
        </p:xfrm>
        <a:graphic>
          <a:graphicData uri="http://schemas.openxmlformats.org/presentationml/2006/ole">
            <mc:AlternateContent xmlns:mc="http://schemas.openxmlformats.org/markup-compatibility/2006">
              <mc:Choice xmlns:v="urn:schemas-microsoft-com:vml" Requires="v">
                <p:oleObj name="公式" r:id="rId12" imgW="3009900" imgH="279400" progId="Equation.3">
                  <p:embed/>
                </p:oleObj>
              </mc:Choice>
              <mc:Fallback>
                <p:oleObj name="公式" r:id="rId12" imgW="3009900" imgH="279400" progId="Equation.3">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87450" y="4543425"/>
                        <a:ext cx="6769100" cy="636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5">
            <a:extLst>
              <a:ext uri="{FF2B5EF4-FFF2-40B4-BE49-F238E27FC236}">
                <a16:creationId xmlns:a16="http://schemas.microsoft.com/office/drawing/2014/main" id="{1036DE6C-6482-C3B5-296E-ED585DE839BD}"/>
              </a:ext>
            </a:extLst>
          </p:cNvPr>
          <p:cNvGraphicFramePr>
            <a:graphicFrameLocks noChangeAspect="1"/>
          </p:cNvGraphicFramePr>
          <p:nvPr/>
        </p:nvGraphicFramePr>
        <p:xfrm>
          <a:off x="328613" y="5156200"/>
          <a:ext cx="8413750" cy="614363"/>
        </p:xfrm>
        <a:graphic>
          <a:graphicData uri="http://schemas.openxmlformats.org/presentationml/2006/ole">
            <mc:AlternateContent xmlns:mc="http://schemas.openxmlformats.org/markup-compatibility/2006">
              <mc:Choice xmlns:v="urn:schemas-microsoft-com:vml" Requires="v">
                <p:oleObj name="公式" r:id="rId14" imgW="4089400" imgH="304800" progId="Equation.3">
                  <p:embed/>
                </p:oleObj>
              </mc:Choice>
              <mc:Fallback>
                <p:oleObj name="公式" r:id="rId14" imgW="4089400" imgH="304800" progId="Equation.3">
                  <p:embed/>
                  <p:pic>
                    <p:nvPicPr>
                      <p:cNvPr id="0" name="Object 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8613" y="5156200"/>
                        <a:ext cx="8413750" cy="614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5">
            <a:extLst>
              <a:ext uri="{FF2B5EF4-FFF2-40B4-BE49-F238E27FC236}">
                <a16:creationId xmlns:a16="http://schemas.microsoft.com/office/drawing/2014/main" id="{820FBA3E-83B0-A437-5CCD-D80AA7D6492C}"/>
              </a:ext>
            </a:extLst>
          </p:cNvPr>
          <p:cNvGraphicFramePr>
            <a:graphicFrameLocks noChangeAspect="1"/>
          </p:cNvGraphicFramePr>
          <p:nvPr/>
        </p:nvGraphicFramePr>
        <p:xfrm>
          <a:off x="1619250" y="5803900"/>
          <a:ext cx="4268788" cy="522288"/>
        </p:xfrm>
        <a:graphic>
          <a:graphicData uri="http://schemas.openxmlformats.org/presentationml/2006/ole">
            <mc:AlternateContent xmlns:mc="http://schemas.openxmlformats.org/markup-compatibility/2006">
              <mc:Choice xmlns:v="urn:schemas-microsoft-com:vml" Requires="v">
                <p:oleObj name="公式" r:id="rId16" imgW="2070100" imgH="254000" progId="Equation.3">
                  <p:embed/>
                </p:oleObj>
              </mc:Choice>
              <mc:Fallback>
                <p:oleObj name="公式" r:id="rId16" imgW="2070100" imgH="254000" progId="Equation.3">
                  <p:embed/>
                  <p:pic>
                    <p:nvPicPr>
                      <p:cNvPr id="0" name="Object 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619250" y="5803900"/>
                        <a:ext cx="4268788" cy="522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5851"/>
                                        </p:tgtEl>
                                        <p:attrNameLst>
                                          <p:attrName>style.visibility</p:attrName>
                                        </p:attrNameLst>
                                      </p:cBhvr>
                                      <p:to>
                                        <p:strVal val="visible"/>
                                      </p:to>
                                    </p:set>
                                    <p:animEffect transition="in" filter="blinds(horizontal)">
                                      <p:cBhvr>
                                        <p:cTn id="7" dur="500"/>
                                        <p:tgtEl>
                                          <p:spTgt spid="358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5854"/>
                                        </p:tgtEl>
                                        <p:attrNameLst>
                                          <p:attrName>style.visibility</p:attrName>
                                        </p:attrNameLst>
                                      </p:cBhvr>
                                      <p:to>
                                        <p:strVal val="visible"/>
                                      </p:to>
                                    </p:set>
                                    <p:animEffect transition="in" filter="blinds(horizontal)">
                                      <p:cBhvr>
                                        <p:cTn id="22" dur="500"/>
                                        <p:tgtEl>
                                          <p:spTgt spid="3585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horizontal)">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additive="base">
                                        <p:cTn id="32" dur="500" fill="hold"/>
                                        <p:tgtEl>
                                          <p:spTgt spid="6"/>
                                        </p:tgtEl>
                                        <p:attrNameLst>
                                          <p:attrName>ppt_x</p:attrName>
                                        </p:attrNameLst>
                                      </p:cBhvr>
                                      <p:tavLst>
                                        <p:tav tm="0">
                                          <p:val>
                                            <p:strVal val="0-#ppt_w/2"/>
                                          </p:val>
                                        </p:tav>
                                        <p:tav tm="100000">
                                          <p:val>
                                            <p:strVal val="#ppt_x"/>
                                          </p:val>
                                        </p:tav>
                                      </p:tavLst>
                                    </p:anim>
                                    <p:anim calcmode="lin" valueType="num">
                                      <p:cBhvr additive="base">
                                        <p:cTn id="33"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8"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additive="base">
                                        <p:cTn id="38" dur="500" fill="hold"/>
                                        <p:tgtEl>
                                          <p:spTgt spid="7"/>
                                        </p:tgtEl>
                                        <p:attrNameLst>
                                          <p:attrName>ppt_x</p:attrName>
                                        </p:attrNameLst>
                                      </p:cBhvr>
                                      <p:tavLst>
                                        <p:tav tm="0">
                                          <p:val>
                                            <p:strVal val="0-#ppt_w/2"/>
                                          </p:val>
                                        </p:tav>
                                        <p:tav tm="100000">
                                          <p:val>
                                            <p:strVal val="#ppt_x"/>
                                          </p:val>
                                        </p:tav>
                                      </p:tavLst>
                                    </p:anim>
                                    <p:anim calcmode="lin" valueType="num">
                                      <p:cBhvr additive="base">
                                        <p:cTn id="39"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51" grpId="0"/>
      <p:bldP spid="35854"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graphicFrame>
        <p:nvGraphicFramePr>
          <p:cNvPr id="13314" name="Object 5">
            <a:extLst>
              <a:ext uri="{FF2B5EF4-FFF2-40B4-BE49-F238E27FC236}">
                <a16:creationId xmlns:a16="http://schemas.microsoft.com/office/drawing/2014/main" id="{192A2783-A57A-6368-D095-45F4301B4D35}"/>
              </a:ext>
            </a:extLst>
          </p:cNvPr>
          <p:cNvGraphicFramePr>
            <a:graphicFrameLocks noChangeAspect="1"/>
          </p:cNvGraphicFramePr>
          <p:nvPr/>
        </p:nvGraphicFramePr>
        <p:xfrm>
          <a:off x="6372225" y="333375"/>
          <a:ext cx="1555750" cy="1981200"/>
        </p:xfrm>
        <a:graphic>
          <a:graphicData uri="http://schemas.openxmlformats.org/presentationml/2006/ole">
            <mc:AlternateContent xmlns:mc="http://schemas.openxmlformats.org/markup-compatibility/2006">
              <mc:Choice xmlns:v="urn:schemas-microsoft-com:vml" Requires="v">
                <p:oleObj name="公式" r:id="rId2" imgW="660400" imgH="838200" progId="Equation.3">
                  <p:embed/>
                </p:oleObj>
              </mc:Choice>
              <mc:Fallback>
                <p:oleObj name="公式" r:id="rId2" imgW="660400" imgH="8382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225" y="333375"/>
                        <a:ext cx="1555750" cy="198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6" name="Rectangle 6">
            <a:extLst>
              <a:ext uri="{FF2B5EF4-FFF2-40B4-BE49-F238E27FC236}">
                <a16:creationId xmlns:a16="http://schemas.microsoft.com/office/drawing/2014/main" id="{E43E3DBC-FB01-44FF-8737-04F7C813580D}"/>
              </a:ext>
            </a:extLst>
          </p:cNvPr>
          <p:cNvSpPr>
            <a:spLocks noChangeArrowheads="1"/>
          </p:cNvSpPr>
          <p:nvPr/>
        </p:nvSpPr>
        <p:spPr bwMode="auto">
          <a:xfrm>
            <a:off x="611188" y="260350"/>
            <a:ext cx="8137525" cy="1944688"/>
          </a:xfrm>
          <a:prstGeom prst="rect">
            <a:avLst/>
          </a:prstGeom>
          <a:noFill/>
          <a:ln w="9525">
            <a:noFill/>
            <a:miter lim="800000"/>
            <a:headEnd/>
            <a:tailEnd/>
          </a:ln>
          <a:effectLst/>
        </p:spPr>
        <p:txBody>
          <a:bodyPr>
            <a:spAutoFit/>
          </a:bodyPr>
          <a:lstStyle>
            <a:lvl1pPr>
              <a:spcBef>
                <a:spcPct val="20000"/>
              </a:spcBef>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itchFamily="2" charset="2"/>
              <a:buBlip>
                <a:blip r:embed="rId5"/>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solidFill>
                  <a:srgbClr val="CC6600"/>
                </a:solidFill>
                <a:effectLst>
                  <a:outerShdw blurRad="38100" dist="38100" dir="2700000" algn="tl">
                    <a:srgbClr val="C0C0C0"/>
                  </a:outerShdw>
                </a:effectLst>
              </a:rPr>
              <a:t> </a:t>
            </a:r>
            <a:r>
              <a:rPr lang="zh-CN" altLang="en-US" b="1">
                <a:solidFill>
                  <a:srgbClr val="CC6600"/>
                </a:solidFill>
              </a:rPr>
              <a:t>例题2</a:t>
            </a:r>
            <a:r>
              <a:rPr lang="zh-CN" altLang="en-US" b="1">
                <a:solidFill>
                  <a:srgbClr val="003300"/>
                </a:solidFill>
              </a:rPr>
              <a:t>（</a:t>
            </a:r>
            <a:r>
              <a:rPr lang="en-US" altLang="zh-CN">
                <a:solidFill>
                  <a:srgbClr val="003300"/>
                </a:solidFill>
              </a:rPr>
              <a:t>P</a:t>
            </a:r>
            <a:r>
              <a:rPr lang="en-US" altLang="zh-CN">
                <a:solidFill>
                  <a:srgbClr val="003300"/>
                </a:solidFill>
                <a:sym typeface="Symbol" pitchFamily="2" charset="2"/>
              </a:rPr>
              <a:t></a:t>
            </a:r>
            <a:r>
              <a:rPr lang="en-US" altLang="zh-CN">
                <a:solidFill>
                  <a:srgbClr val="003300"/>
                </a:solidFill>
              </a:rPr>
              <a:t>84，eg13</a:t>
            </a:r>
            <a:r>
              <a:rPr lang="en-US" altLang="zh-CN" b="1">
                <a:solidFill>
                  <a:srgbClr val="003300"/>
                </a:solidFill>
              </a:rPr>
              <a:t>）</a:t>
            </a:r>
          </a:p>
          <a:p>
            <a:pPr eaLnBrk="1" hangingPunct="1">
              <a:spcBef>
                <a:spcPct val="30000"/>
              </a:spcBef>
              <a:buFontTx/>
              <a:buNone/>
            </a:pPr>
            <a:r>
              <a:rPr lang="zh-CN" altLang="en-US" b="1">
                <a:solidFill>
                  <a:srgbClr val="003300"/>
                </a:solidFill>
              </a:rPr>
              <a:t>求矩阵</a:t>
            </a:r>
            <a:r>
              <a:rPr lang="en-US" altLang="zh-CN" b="1">
                <a:solidFill>
                  <a:srgbClr val="003300"/>
                </a:solidFill>
              </a:rPr>
              <a:t>A</a:t>
            </a:r>
            <a:r>
              <a:rPr lang="zh-CN" altLang="en-US" b="1">
                <a:solidFill>
                  <a:srgbClr val="003300"/>
                </a:solidFill>
              </a:rPr>
              <a:t>和</a:t>
            </a:r>
            <a:r>
              <a:rPr lang="en-US" altLang="zh-CN" b="1">
                <a:solidFill>
                  <a:srgbClr val="003300"/>
                </a:solidFill>
              </a:rPr>
              <a:t>B</a:t>
            </a:r>
            <a:r>
              <a:rPr lang="zh-CN" altLang="en-US" b="1">
                <a:solidFill>
                  <a:srgbClr val="003300"/>
                </a:solidFill>
              </a:rPr>
              <a:t>的奇异值分解，</a:t>
            </a:r>
            <a:r>
              <a:rPr lang="en-US" altLang="zh-CN" b="1">
                <a:solidFill>
                  <a:srgbClr val="003300"/>
                </a:solidFill>
              </a:rPr>
              <a:t>A=                 </a:t>
            </a:r>
            <a:r>
              <a:rPr lang="zh-CN" altLang="en-US" b="1">
                <a:solidFill>
                  <a:srgbClr val="003300"/>
                </a:solidFill>
              </a:rPr>
              <a:t>；</a:t>
            </a:r>
          </a:p>
          <a:p>
            <a:pPr eaLnBrk="1" hangingPunct="1">
              <a:spcBef>
                <a:spcPct val="50000"/>
              </a:spcBef>
              <a:buFontTx/>
              <a:buNone/>
            </a:pPr>
            <a:r>
              <a:rPr lang="en-US" altLang="zh-CN" b="1">
                <a:solidFill>
                  <a:srgbClr val="003300"/>
                </a:solidFill>
              </a:rPr>
              <a:t>B =                  </a:t>
            </a:r>
            <a:r>
              <a:rPr lang="zh-CN" altLang="en-US" b="1">
                <a:solidFill>
                  <a:srgbClr val="003300"/>
                </a:solidFill>
              </a:rPr>
              <a:t>。</a:t>
            </a:r>
          </a:p>
        </p:txBody>
      </p:sp>
      <p:graphicFrame>
        <p:nvGraphicFramePr>
          <p:cNvPr id="13316" name="Object 5">
            <a:extLst>
              <a:ext uri="{FF2B5EF4-FFF2-40B4-BE49-F238E27FC236}">
                <a16:creationId xmlns:a16="http://schemas.microsoft.com/office/drawing/2014/main" id="{76B3F3B0-8E60-C086-642A-19B4115DB4D1}"/>
              </a:ext>
            </a:extLst>
          </p:cNvPr>
          <p:cNvGraphicFramePr>
            <a:graphicFrameLocks noChangeAspect="1"/>
          </p:cNvGraphicFramePr>
          <p:nvPr/>
        </p:nvGraphicFramePr>
        <p:xfrm>
          <a:off x="1476375" y="1435100"/>
          <a:ext cx="1555750" cy="1273175"/>
        </p:xfrm>
        <a:graphic>
          <a:graphicData uri="http://schemas.openxmlformats.org/presentationml/2006/ole">
            <mc:AlternateContent xmlns:mc="http://schemas.openxmlformats.org/markup-compatibility/2006">
              <mc:Choice xmlns:v="urn:schemas-microsoft-com:vml" Requires="v">
                <p:oleObj name="公式" r:id="rId6" imgW="660400" imgH="533400" progId="Equation.3">
                  <p:embed/>
                </p:oleObj>
              </mc:Choice>
              <mc:Fallback>
                <p:oleObj name="公式" r:id="rId6" imgW="660400" imgH="5334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76375" y="1435100"/>
                        <a:ext cx="1555750" cy="1273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7" name="Rectangle 5">
            <a:extLst>
              <a:ext uri="{FF2B5EF4-FFF2-40B4-BE49-F238E27FC236}">
                <a16:creationId xmlns:a16="http://schemas.microsoft.com/office/drawing/2014/main" id="{C6756D23-D8CA-AD0E-19B8-2576D23E37B8}"/>
              </a:ext>
            </a:extLst>
          </p:cNvPr>
          <p:cNvSpPr>
            <a:spLocks noChangeArrowheads="1"/>
          </p:cNvSpPr>
          <p:nvPr/>
        </p:nvSpPr>
        <p:spPr bwMode="auto">
          <a:xfrm>
            <a:off x="827088" y="2728913"/>
            <a:ext cx="48244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solidFill>
                  <a:srgbClr val="003300"/>
                </a:solidFill>
              </a:rPr>
              <a:t>解  </a:t>
            </a:r>
            <a:r>
              <a:rPr lang="en-US" altLang="zh-CN" sz="3200" b="1">
                <a:solidFill>
                  <a:srgbClr val="003300"/>
                </a:solidFill>
              </a:rPr>
              <a:t>(1) </a:t>
            </a:r>
            <a:r>
              <a:rPr lang="zh-CN" altLang="en-US" sz="3200" b="1">
                <a:solidFill>
                  <a:srgbClr val="003300"/>
                </a:solidFill>
              </a:rPr>
              <a:t>求</a:t>
            </a:r>
            <a:r>
              <a:rPr lang="en-US" altLang="zh-CN" sz="3200" b="1">
                <a:solidFill>
                  <a:srgbClr val="003300"/>
                </a:solidFill>
              </a:rPr>
              <a:t>A</a:t>
            </a:r>
            <a:r>
              <a:rPr lang="en-US" altLang="zh-CN" sz="3200" b="1" baseline="30000">
                <a:solidFill>
                  <a:srgbClr val="003300"/>
                </a:solidFill>
              </a:rPr>
              <a:t>H</a:t>
            </a:r>
            <a:r>
              <a:rPr lang="en-US" altLang="zh-CN" sz="3200" b="1">
                <a:solidFill>
                  <a:srgbClr val="003300"/>
                </a:solidFill>
              </a:rPr>
              <a:t>A</a:t>
            </a:r>
            <a:r>
              <a:rPr lang="zh-CN" altLang="en-US" sz="3200" b="1">
                <a:solidFill>
                  <a:srgbClr val="003300"/>
                </a:solidFill>
              </a:rPr>
              <a:t>的特征值：</a:t>
            </a:r>
          </a:p>
        </p:txBody>
      </p:sp>
      <p:graphicFrame>
        <p:nvGraphicFramePr>
          <p:cNvPr id="13318" name="Object 5">
            <a:extLst>
              <a:ext uri="{FF2B5EF4-FFF2-40B4-BE49-F238E27FC236}">
                <a16:creationId xmlns:a16="http://schemas.microsoft.com/office/drawing/2014/main" id="{3B6A247D-3454-3C13-EB62-7BC9FE6F0739}"/>
              </a:ext>
            </a:extLst>
          </p:cNvPr>
          <p:cNvGraphicFramePr>
            <a:graphicFrameLocks noChangeAspect="1"/>
          </p:cNvGraphicFramePr>
          <p:nvPr/>
        </p:nvGraphicFramePr>
        <p:xfrm>
          <a:off x="2687638" y="3284538"/>
          <a:ext cx="3252787" cy="671512"/>
        </p:xfrm>
        <a:graphic>
          <a:graphicData uri="http://schemas.openxmlformats.org/presentationml/2006/ole">
            <mc:AlternateContent xmlns:mc="http://schemas.openxmlformats.org/markup-compatibility/2006">
              <mc:Choice xmlns:v="urn:schemas-microsoft-com:vml" Requires="v">
                <p:oleObj name="公式" r:id="rId8" imgW="1384300" imgH="279400" progId="Equation.3">
                  <p:embed/>
                </p:oleObj>
              </mc:Choice>
              <mc:Fallback>
                <p:oleObj name="公式" r:id="rId8" imgW="1384300" imgH="2794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87638" y="3284538"/>
                        <a:ext cx="3252787" cy="671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9" name="Object 5">
            <a:extLst>
              <a:ext uri="{FF2B5EF4-FFF2-40B4-BE49-F238E27FC236}">
                <a16:creationId xmlns:a16="http://schemas.microsoft.com/office/drawing/2014/main" id="{C4E171FD-1AFB-F1F0-07A9-CB866306707A}"/>
              </a:ext>
            </a:extLst>
          </p:cNvPr>
          <p:cNvGraphicFramePr>
            <a:graphicFrameLocks noChangeAspect="1"/>
          </p:cNvGraphicFramePr>
          <p:nvPr/>
        </p:nvGraphicFramePr>
        <p:xfrm>
          <a:off x="5292725" y="2708275"/>
          <a:ext cx="3359150" cy="636588"/>
        </p:xfrm>
        <a:graphic>
          <a:graphicData uri="http://schemas.openxmlformats.org/presentationml/2006/ole">
            <mc:AlternateContent xmlns:mc="http://schemas.openxmlformats.org/markup-compatibility/2006">
              <mc:Choice xmlns:v="urn:schemas-microsoft-com:vml" Requires="v">
                <p:oleObj name="公式" r:id="rId10" imgW="1422400" imgH="266700" progId="Equation.3">
                  <p:embed/>
                </p:oleObj>
              </mc:Choice>
              <mc:Fallback>
                <p:oleObj name="公式" r:id="rId10" imgW="1422400" imgH="266700"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92725" y="2708275"/>
                        <a:ext cx="3359150" cy="636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20" name="Rectangle 8">
            <a:extLst>
              <a:ext uri="{FF2B5EF4-FFF2-40B4-BE49-F238E27FC236}">
                <a16:creationId xmlns:a16="http://schemas.microsoft.com/office/drawing/2014/main" id="{258808B9-4B8E-816E-1542-B4785AA56EEE}"/>
              </a:ext>
            </a:extLst>
          </p:cNvPr>
          <p:cNvSpPr>
            <a:spLocks noChangeArrowheads="1"/>
          </p:cNvSpPr>
          <p:nvPr/>
        </p:nvSpPr>
        <p:spPr bwMode="auto">
          <a:xfrm>
            <a:off x="900113" y="3932238"/>
            <a:ext cx="76327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solidFill>
                  <a:srgbClr val="003300"/>
                </a:solidFill>
              </a:rPr>
              <a:t>求</a:t>
            </a:r>
            <a:r>
              <a:rPr lang="el-GR" altLang="zh-CN" sz="3200" b="1">
                <a:solidFill>
                  <a:srgbClr val="003300"/>
                </a:solidFill>
              </a:rPr>
              <a:t>λ</a:t>
            </a:r>
            <a:r>
              <a:rPr lang="en-US" altLang="zh-CN" sz="3200" i="1" baseline="-25000">
                <a:solidFill>
                  <a:srgbClr val="003300"/>
                </a:solidFill>
              </a:rPr>
              <a:t>i </a:t>
            </a:r>
            <a:r>
              <a:rPr lang="zh-CN" altLang="en-US" sz="3200" b="1">
                <a:solidFill>
                  <a:srgbClr val="003300"/>
                </a:solidFill>
              </a:rPr>
              <a:t>的特征向量</a:t>
            </a:r>
            <a:r>
              <a:rPr lang="en-US" altLang="zh-CN" sz="3200" b="1">
                <a:solidFill>
                  <a:srgbClr val="003300"/>
                </a:solidFill>
              </a:rPr>
              <a:t>(</a:t>
            </a:r>
            <a:r>
              <a:rPr lang="zh-CN" altLang="en-US" sz="3200" b="1">
                <a:solidFill>
                  <a:srgbClr val="0000FF"/>
                </a:solidFill>
              </a:rPr>
              <a:t>已正交</a:t>
            </a:r>
            <a:r>
              <a:rPr lang="en-US" altLang="zh-CN" sz="3200" b="1">
                <a:solidFill>
                  <a:srgbClr val="003300"/>
                </a:solidFill>
              </a:rPr>
              <a:t>), </a:t>
            </a:r>
            <a:r>
              <a:rPr lang="zh-CN" altLang="en-US" sz="3200" b="1">
                <a:solidFill>
                  <a:srgbClr val="0000FF"/>
                </a:solidFill>
              </a:rPr>
              <a:t>正交化定出</a:t>
            </a:r>
            <a:r>
              <a:rPr lang="en-US" altLang="zh-CN" sz="3200" b="1">
                <a:solidFill>
                  <a:srgbClr val="0000FF"/>
                </a:solidFill>
              </a:rPr>
              <a:t>V</a:t>
            </a:r>
            <a:r>
              <a:rPr lang="zh-CN" altLang="en-US" sz="3200" b="1">
                <a:solidFill>
                  <a:srgbClr val="003300"/>
                </a:solidFill>
              </a:rPr>
              <a:t>：</a:t>
            </a:r>
          </a:p>
        </p:txBody>
      </p:sp>
      <p:graphicFrame>
        <p:nvGraphicFramePr>
          <p:cNvPr id="5" name="Object 5">
            <a:extLst>
              <a:ext uri="{FF2B5EF4-FFF2-40B4-BE49-F238E27FC236}">
                <a16:creationId xmlns:a16="http://schemas.microsoft.com/office/drawing/2014/main" id="{4B85DC95-260E-7322-7B87-F178FCB9CDE6}"/>
              </a:ext>
            </a:extLst>
          </p:cNvPr>
          <p:cNvGraphicFramePr>
            <a:graphicFrameLocks noChangeAspect="1"/>
          </p:cNvGraphicFramePr>
          <p:nvPr/>
        </p:nvGraphicFramePr>
        <p:xfrm>
          <a:off x="541338" y="4579938"/>
          <a:ext cx="7985125" cy="614362"/>
        </p:xfrm>
        <a:graphic>
          <a:graphicData uri="http://schemas.openxmlformats.org/presentationml/2006/ole">
            <mc:AlternateContent xmlns:mc="http://schemas.openxmlformats.org/markup-compatibility/2006">
              <mc:Choice xmlns:v="urn:schemas-microsoft-com:vml" Requires="v">
                <p:oleObj name="公式" r:id="rId12" imgW="3886200" imgH="304800" progId="Equation.3">
                  <p:embed/>
                </p:oleObj>
              </mc:Choice>
              <mc:Fallback>
                <p:oleObj name="公式" r:id="rId12" imgW="3886200" imgH="304800" progId="Equation.3">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1338" y="4579938"/>
                        <a:ext cx="7985125" cy="614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5">
            <a:extLst>
              <a:ext uri="{FF2B5EF4-FFF2-40B4-BE49-F238E27FC236}">
                <a16:creationId xmlns:a16="http://schemas.microsoft.com/office/drawing/2014/main" id="{7B9E0855-CDD2-EAA6-68E0-C4B397D6CC1A}"/>
              </a:ext>
            </a:extLst>
          </p:cNvPr>
          <p:cNvGraphicFramePr>
            <a:graphicFrameLocks noChangeAspect="1"/>
          </p:cNvGraphicFramePr>
          <p:nvPr/>
        </p:nvGraphicFramePr>
        <p:xfrm>
          <a:off x="6732588" y="5227638"/>
          <a:ext cx="614362" cy="552450"/>
        </p:xfrm>
        <a:graphic>
          <a:graphicData uri="http://schemas.openxmlformats.org/presentationml/2006/ole">
            <mc:AlternateContent xmlns:mc="http://schemas.openxmlformats.org/markup-compatibility/2006">
              <mc:Choice xmlns:v="urn:schemas-microsoft-com:vml" Requires="v">
                <p:oleObj name="公式" r:id="rId14" imgW="304800" imgH="266700" progId="Equation.3">
                  <p:embed/>
                </p:oleObj>
              </mc:Choice>
              <mc:Fallback>
                <p:oleObj name="公式" r:id="rId14" imgW="304800" imgH="266700" progId="Equation.3">
                  <p:embed/>
                  <p:pic>
                    <p:nvPicPr>
                      <p:cNvPr id="0" name="Object 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732588" y="5227638"/>
                        <a:ext cx="614362"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5">
            <a:extLst>
              <a:ext uri="{FF2B5EF4-FFF2-40B4-BE49-F238E27FC236}">
                <a16:creationId xmlns:a16="http://schemas.microsoft.com/office/drawing/2014/main" id="{41856570-90FB-51BD-74A9-A7BE8E912BFF}"/>
              </a:ext>
            </a:extLst>
          </p:cNvPr>
          <p:cNvGraphicFramePr>
            <a:graphicFrameLocks noChangeAspect="1"/>
          </p:cNvGraphicFramePr>
          <p:nvPr/>
        </p:nvGraphicFramePr>
        <p:xfrm>
          <a:off x="1954213" y="5803900"/>
          <a:ext cx="3870325" cy="582613"/>
        </p:xfrm>
        <a:graphic>
          <a:graphicData uri="http://schemas.openxmlformats.org/presentationml/2006/ole">
            <mc:AlternateContent xmlns:mc="http://schemas.openxmlformats.org/markup-compatibility/2006">
              <mc:Choice xmlns:v="urn:schemas-microsoft-com:vml" Requires="v">
                <p:oleObj name="公式" r:id="rId16" imgW="1879600" imgH="279400" progId="Equation.3">
                  <p:embed/>
                </p:oleObj>
              </mc:Choice>
              <mc:Fallback>
                <p:oleObj name="公式" r:id="rId16" imgW="1879600" imgH="279400" progId="Equation.3">
                  <p:embed/>
                  <p:pic>
                    <p:nvPicPr>
                      <p:cNvPr id="0" name="Object 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54213" y="5803900"/>
                        <a:ext cx="3870325"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5">
            <a:extLst>
              <a:ext uri="{FF2B5EF4-FFF2-40B4-BE49-F238E27FC236}">
                <a16:creationId xmlns:a16="http://schemas.microsoft.com/office/drawing/2014/main" id="{A3541A37-BCA6-8C05-01BB-6DC8FCCDE30D}"/>
              </a:ext>
            </a:extLst>
          </p:cNvPr>
          <p:cNvGraphicFramePr>
            <a:graphicFrameLocks noChangeAspect="1"/>
          </p:cNvGraphicFramePr>
          <p:nvPr/>
        </p:nvGraphicFramePr>
        <p:xfrm>
          <a:off x="469900" y="5227638"/>
          <a:ext cx="5805488" cy="584200"/>
        </p:xfrm>
        <a:graphic>
          <a:graphicData uri="http://schemas.openxmlformats.org/presentationml/2006/ole">
            <mc:AlternateContent xmlns:mc="http://schemas.openxmlformats.org/markup-compatibility/2006">
              <mc:Choice xmlns:v="urn:schemas-microsoft-com:vml" Requires="v">
                <p:oleObj name="公式" r:id="rId18" imgW="2819400" imgH="279400" progId="Equation.3">
                  <p:embed/>
                </p:oleObj>
              </mc:Choice>
              <mc:Fallback>
                <p:oleObj name="公式" r:id="rId18" imgW="2819400" imgH="279400" progId="Equation.3">
                  <p:embed/>
                  <p:pic>
                    <p:nvPicPr>
                      <p:cNvPr id="0" name="Object 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69900" y="5227638"/>
                        <a:ext cx="5805488"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27" name="Rectangle 15">
            <a:extLst>
              <a:ext uri="{FF2B5EF4-FFF2-40B4-BE49-F238E27FC236}">
                <a16:creationId xmlns:a16="http://schemas.microsoft.com/office/drawing/2014/main" id="{862BF92F-6367-5377-A1E5-CC5019E2511A}"/>
              </a:ext>
            </a:extLst>
          </p:cNvPr>
          <p:cNvSpPr>
            <a:spLocks noChangeArrowheads="1"/>
          </p:cNvSpPr>
          <p:nvPr/>
        </p:nvSpPr>
        <p:spPr bwMode="auto">
          <a:xfrm>
            <a:off x="900113" y="5803900"/>
            <a:ext cx="898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solidFill>
                  <a:srgbClr val="003300"/>
                </a:solidFill>
              </a:rPr>
              <a:t>扩充</a:t>
            </a:r>
          </a:p>
        </p:txBody>
      </p:sp>
      <p:graphicFrame>
        <p:nvGraphicFramePr>
          <p:cNvPr id="9" name="Object 5">
            <a:extLst>
              <a:ext uri="{FF2B5EF4-FFF2-40B4-BE49-F238E27FC236}">
                <a16:creationId xmlns:a16="http://schemas.microsoft.com/office/drawing/2014/main" id="{C02CA816-B441-D281-6B8F-4CE67D228A89}"/>
              </a:ext>
            </a:extLst>
          </p:cNvPr>
          <p:cNvGraphicFramePr>
            <a:graphicFrameLocks noChangeAspect="1"/>
          </p:cNvGraphicFramePr>
          <p:nvPr/>
        </p:nvGraphicFramePr>
        <p:xfrm>
          <a:off x="6011863" y="5743575"/>
          <a:ext cx="2439987" cy="565150"/>
        </p:xfrm>
        <a:graphic>
          <a:graphicData uri="http://schemas.openxmlformats.org/presentationml/2006/ole">
            <mc:AlternateContent xmlns:mc="http://schemas.openxmlformats.org/markup-compatibility/2006">
              <mc:Choice xmlns:v="urn:schemas-microsoft-com:vml" Requires="v">
                <p:oleObj name="公式" r:id="rId20" imgW="1028700" imgH="241300" progId="Equation.3">
                  <p:embed/>
                </p:oleObj>
              </mc:Choice>
              <mc:Fallback>
                <p:oleObj name="公式" r:id="rId20" imgW="1028700" imgH="241300" progId="Equation.3">
                  <p:embed/>
                  <p:pic>
                    <p:nvPicPr>
                      <p:cNvPr id="0" name="Object 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011863" y="5743575"/>
                        <a:ext cx="2439987"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linds(horizontal)">
                                      <p:cBhvr>
                                        <p:cTn id="19" dur="500"/>
                                        <p:tgtEl>
                                          <p:spTgt spid="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38927"/>
                                        </p:tgtEl>
                                        <p:attrNameLst>
                                          <p:attrName>style.visibility</p:attrName>
                                        </p:attrNameLst>
                                      </p:cBhvr>
                                      <p:to>
                                        <p:strVal val="visible"/>
                                      </p:to>
                                    </p:set>
                                    <p:animEffect transition="in" filter="blinds(horizontal)">
                                      <p:cBhvr>
                                        <p:cTn id="24" dur="500"/>
                                        <p:tgtEl>
                                          <p:spTgt spid="3892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blinds(horizontal)">
                                      <p:cBhvr>
                                        <p:cTn id="29" dur="500"/>
                                        <p:tgtEl>
                                          <p:spTgt spid="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8" fill="hold" nodeType="click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0-#ppt_w/2"/>
                                          </p:val>
                                        </p:tav>
                                        <p:tav tm="100000">
                                          <p:val>
                                            <p:strVal val="#ppt_x"/>
                                          </p:val>
                                        </p:tav>
                                      </p:tavLst>
                                    </p:anim>
                                    <p:anim calcmode="lin" valueType="num">
                                      <p:cBhvr additive="base">
                                        <p:cTn id="35"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27"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graphicFrame>
        <p:nvGraphicFramePr>
          <p:cNvPr id="14338" name="Object 5">
            <a:extLst>
              <a:ext uri="{FF2B5EF4-FFF2-40B4-BE49-F238E27FC236}">
                <a16:creationId xmlns:a16="http://schemas.microsoft.com/office/drawing/2014/main" id="{81FC1270-11A7-AED4-BB69-53DC23921293}"/>
              </a:ext>
            </a:extLst>
          </p:cNvPr>
          <p:cNvGraphicFramePr>
            <a:graphicFrameLocks noChangeAspect="1"/>
          </p:cNvGraphicFramePr>
          <p:nvPr/>
        </p:nvGraphicFramePr>
        <p:xfrm>
          <a:off x="6372225" y="333375"/>
          <a:ext cx="1555750" cy="1981200"/>
        </p:xfrm>
        <a:graphic>
          <a:graphicData uri="http://schemas.openxmlformats.org/presentationml/2006/ole">
            <mc:AlternateContent xmlns:mc="http://schemas.openxmlformats.org/markup-compatibility/2006">
              <mc:Choice xmlns:v="urn:schemas-microsoft-com:vml" Requires="v">
                <p:oleObj name="公式" r:id="rId2" imgW="660400" imgH="838200" progId="Equation.3">
                  <p:embed/>
                </p:oleObj>
              </mc:Choice>
              <mc:Fallback>
                <p:oleObj name="公式" r:id="rId2" imgW="660400" imgH="8382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225" y="333375"/>
                        <a:ext cx="1555750" cy="198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6" name="Rectangle 6">
            <a:extLst>
              <a:ext uri="{FF2B5EF4-FFF2-40B4-BE49-F238E27FC236}">
                <a16:creationId xmlns:a16="http://schemas.microsoft.com/office/drawing/2014/main" id="{0EED990A-21BC-41F1-AD46-C31804762815}"/>
              </a:ext>
            </a:extLst>
          </p:cNvPr>
          <p:cNvSpPr>
            <a:spLocks noChangeArrowheads="1"/>
          </p:cNvSpPr>
          <p:nvPr/>
        </p:nvSpPr>
        <p:spPr bwMode="auto">
          <a:xfrm>
            <a:off x="611188" y="260350"/>
            <a:ext cx="8137525" cy="1944688"/>
          </a:xfrm>
          <a:prstGeom prst="rect">
            <a:avLst/>
          </a:prstGeom>
          <a:noFill/>
          <a:ln w="9525">
            <a:noFill/>
            <a:miter lim="800000"/>
            <a:headEnd/>
            <a:tailEnd/>
          </a:ln>
          <a:effectLst/>
        </p:spPr>
        <p:txBody>
          <a:bodyPr>
            <a:spAutoFit/>
          </a:bodyPr>
          <a:lstStyle>
            <a:lvl1pPr>
              <a:spcBef>
                <a:spcPct val="20000"/>
              </a:spcBef>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itchFamily="2" charset="2"/>
              <a:buBlip>
                <a:blip r:embed="rId5"/>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solidFill>
                  <a:srgbClr val="CC6600"/>
                </a:solidFill>
                <a:effectLst>
                  <a:outerShdw blurRad="38100" dist="38100" dir="2700000" algn="tl">
                    <a:srgbClr val="C0C0C0"/>
                  </a:outerShdw>
                </a:effectLst>
              </a:rPr>
              <a:t> </a:t>
            </a:r>
            <a:r>
              <a:rPr lang="zh-CN" altLang="en-US" b="1">
                <a:solidFill>
                  <a:srgbClr val="CC6600"/>
                </a:solidFill>
              </a:rPr>
              <a:t>例题2</a:t>
            </a:r>
            <a:r>
              <a:rPr lang="zh-CN" altLang="en-US" b="1">
                <a:solidFill>
                  <a:srgbClr val="003300"/>
                </a:solidFill>
              </a:rPr>
              <a:t>（</a:t>
            </a:r>
            <a:r>
              <a:rPr lang="en-US" altLang="zh-CN">
                <a:solidFill>
                  <a:srgbClr val="003300"/>
                </a:solidFill>
              </a:rPr>
              <a:t>P</a:t>
            </a:r>
            <a:r>
              <a:rPr lang="en-US" altLang="zh-CN">
                <a:solidFill>
                  <a:srgbClr val="003300"/>
                </a:solidFill>
                <a:sym typeface="Symbol" pitchFamily="2" charset="2"/>
              </a:rPr>
              <a:t></a:t>
            </a:r>
            <a:r>
              <a:rPr lang="en-US" altLang="zh-CN">
                <a:solidFill>
                  <a:srgbClr val="003300"/>
                </a:solidFill>
              </a:rPr>
              <a:t>84，eg13</a:t>
            </a:r>
            <a:r>
              <a:rPr lang="en-US" altLang="zh-CN" b="1">
                <a:solidFill>
                  <a:srgbClr val="003300"/>
                </a:solidFill>
              </a:rPr>
              <a:t>）</a:t>
            </a:r>
          </a:p>
          <a:p>
            <a:pPr eaLnBrk="1" hangingPunct="1">
              <a:spcBef>
                <a:spcPct val="30000"/>
              </a:spcBef>
              <a:buFontTx/>
              <a:buNone/>
            </a:pPr>
            <a:r>
              <a:rPr lang="zh-CN" altLang="en-US" b="1">
                <a:solidFill>
                  <a:srgbClr val="003300"/>
                </a:solidFill>
              </a:rPr>
              <a:t>求矩阵</a:t>
            </a:r>
            <a:r>
              <a:rPr lang="en-US" altLang="zh-CN" b="1">
                <a:solidFill>
                  <a:srgbClr val="003300"/>
                </a:solidFill>
              </a:rPr>
              <a:t>A</a:t>
            </a:r>
            <a:r>
              <a:rPr lang="zh-CN" altLang="en-US" b="1">
                <a:solidFill>
                  <a:srgbClr val="003300"/>
                </a:solidFill>
              </a:rPr>
              <a:t>和</a:t>
            </a:r>
            <a:r>
              <a:rPr lang="en-US" altLang="zh-CN" b="1">
                <a:solidFill>
                  <a:srgbClr val="003300"/>
                </a:solidFill>
              </a:rPr>
              <a:t>B</a:t>
            </a:r>
            <a:r>
              <a:rPr lang="zh-CN" altLang="en-US" b="1">
                <a:solidFill>
                  <a:srgbClr val="003300"/>
                </a:solidFill>
              </a:rPr>
              <a:t>的奇异值分解，</a:t>
            </a:r>
            <a:r>
              <a:rPr lang="en-US" altLang="zh-CN" b="1">
                <a:solidFill>
                  <a:srgbClr val="003300"/>
                </a:solidFill>
              </a:rPr>
              <a:t>A=                 </a:t>
            </a:r>
            <a:r>
              <a:rPr lang="zh-CN" altLang="en-US" b="1">
                <a:solidFill>
                  <a:srgbClr val="003300"/>
                </a:solidFill>
              </a:rPr>
              <a:t>；</a:t>
            </a:r>
          </a:p>
          <a:p>
            <a:pPr eaLnBrk="1" hangingPunct="1">
              <a:spcBef>
                <a:spcPct val="50000"/>
              </a:spcBef>
              <a:buFontTx/>
              <a:buNone/>
            </a:pPr>
            <a:r>
              <a:rPr lang="en-US" altLang="zh-CN" b="1">
                <a:solidFill>
                  <a:srgbClr val="003300"/>
                </a:solidFill>
              </a:rPr>
              <a:t>B =                  </a:t>
            </a:r>
            <a:r>
              <a:rPr lang="zh-CN" altLang="en-US" b="1">
                <a:solidFill>
                  <a:srgbClr val="003300"/>
                </a:solidFill>
              </a:rPr>
              <a:t>。</a:t>
            </a:r>
          </a:p>
        </p:txBody>
      </p:sp>
      <p:graphicFrame>
        <p:nvGraphicFramePr>
          <p:cNvPr id="14340" name="Object 5">
            <a:extLst>
              <a:ext uri="{FF2B5EF4-FFF2-40B4-BE49-F238E27FC236}">
                <a16:creationId xmlns:a16="http://schemas.microsoft.com/office/drawing/2014/main" id="{D9EB4B04-1811-0505-124F-F0970EA0E8B2}"/>
              </a:ext>
            </a:extLst>
          </p:cNvPr>
          <p:cNvGraphicFramePr>
            <a:graphicFrameLocks noChangeAspect="1"/>
          </p:cNvGraphicFramePr>
          <p:nvPr/>
        </p:nvGraphicFramePr>
        <p:xfrm>
          <a:off x="1476375" y="1435100"/>
          <a:ext cx="1555750" cy="1273175"/>
        </p:xfrm>
        <a:graphic>
          <a:graphicData uri="http://schemas.openxmlformats.org/presentationml/2006/ole">
            <mc:AlternateContent xmlns:mc="http://schemas.openxmlformats.org/markup-compatibility/2006">
              <mc:Choice xmlns:v="urn:schemas-microsoft-com:vml" Requires="v">
                <p:oleObj name="公式" r:id="rId6" imgW="660400" imgH="533400" progId="Equation.3">
                  <p:embed/>
                </p:oleObj>
              </mc:Choice>
              <mc:Fallback>
                <p:oleObj name="公式" r:id="rId6" imgW="660400" imgH="5334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76375" y="1435100"/>
                        <a:ext cx="1555750" cy="1273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1" name="Rectangle 5">
            <a:extLst>
              <a:ext uri="{FF2B5EF4-FFF2-40B4-BE49-F238E27FC236}">
                <a16:creationId xmlns:a16="http://schemas.microsoft.com/office/drawing/2014/main" id="{2DD0CBA4-77CC-1D42-0509-2C530A7DBEC2}"/>
              </a:ext>
            </a:extLst>
          </p:cNvPr>
          <p:cNvSpPr>
            <a:spLocks noChangeArrowheads="1"/>
          </p:cNvSpPr>
          <p:nvPr/>
        </p:nvSpPr>
        <p:spPr bwMode="auto">
          <a:xfrm>
            <a:off x="827088" y="2728913"/>
            <a:ext cx="48244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solidFill>
                  <a:srgbClr val="003300"/>
                </a:solidFill>
              </a:rPr>
              <a:t>解  </a:t>
            </a:r>
            <a:r>
              <a:rPr lang="en-US" altLang="zh-CN" sz="3200" b="1">
                <a:solidFill>
                  <a:srgbClr val="003300"/>
                </a:solidFill>
              </a:rPr>
              <a:t>(2) </a:t>
            </a:r>
            <a:r>
              <a:rPr lang="zh-CN" altLang="en-US" sz="3200" b="1">
                <a:solidFill>
                  <a:srgbClr val="003300"/>
                </a:solidFill>
              </a:rPr>
              <a:t>求</a:t>
            </a:r>
            <a:r>
              <a:rPr lang="en-US" altLang="zh-CN" sz="3200" b="1">
                <a:solidFill>
                  <a:srgbClr val="003300"/>
                </a:solidFill>
              </a:rPr>
              <a:t>B</a:t>
            </a:r>
            <a:r>
              <a:rPr lang="en-US" altLang="zh-CN" sz="3200" b="1" baseline="30000">
                <a:solidFill>
                  <a:srgbClr val="003300"/>
                </a:solidFill>
              </a:rPr>
              <a:t>H</a:t>
            </a:r>
            <a:r>
              <a:rPr lang="en-US" altLang="zh-CN" sz="3200" b="1">
                <a:solidFill>
                  <a:srgbClr val="003300"/>
                </a:solidFill>
              </a:rPr>
              <a:t>B</a:t>
            </a:r>
            <a:r>
              <a:rPr lang="zh-CN" altLang="en-US" sz="3200" b="1">
                <a:solidFill>
                  <a:srgbClr val="003300"/>
                </a:solidFill>
              </a:rPr>
              <a:t>的特征值：</a:t>
            </a:r>
          </a:p>
        </p:txBody>
      </p:sp>
      <p:graphicFrame>
        <p:nvGraphicFramePr>
          <p:cNvPr id="3" name="Object 5">
            <a:extLst>
              <a:ext uri="{FF2B5EF4-FFF2-40B4-BE49-F238E27FC236}">
                <a16:creationId xmlns:a16="http://schemas.microsoft.com/office/drawing/2014/main" id="{0AF8EA04-09B3-88A1-1040-EE8D6A02C826}"/>
              </a:ext>
            </a:extLst>
          </p:cNvPr>
          <p:cNvGraphicFramePr>
            <a:graphicFrameLocks noChangeAspect="1"/>
          </p:cNvGraphicFramePr>
          <p:nvPr/>
        </p:nvGraphicFramePr>
        <p:xfrm>
          <a:off x="2670175" y="3284538"/>
          <a:ext cx="3289300" cy="671512"/>
        </p:xfrm>
        <a:graphic>
          <a:graphicData uri="http://schemas.openxmlformats.org/presentationml/2006/ole">
            <mc:AlternateContent xmlns:mc="http://schemas.openxmlformats.org/markup-compatibility/2006">
              <mc:Choice xmlns:v="urn:schemas-microsoft-com:vml" Requires="v">
                <p:oleObj name="公式" r:id="rId8" imgW="1384300" imgH="279400" progId="Equation.3">
                  <p:embed/>
                </p:oleObj>
              </mc:Choice>
              <mc:Fallback>
                <p:oleObj name="公式" r:id="rId8" imgW="1384300" imgH="2794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70175" y="3284538"/>
                        <a:ext cx="3289300" cy="671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5">
            <a:extLst>
              <a:ext uri="{FF2B5EF4-FFF2-40B4-BE49-F238E27FC236}">
                <a16:creationId xmlns:a16="http://schemas.microsoft.com/office/drawing/2014/main" id="{06629E0C-3DEF-C231-C03F-AC0189AC93FF}"/>
              </a:ext>
            </a:extLst>
          </p:cNvPr>
          <p:cNvGraphicFramePr>
            <a:graphicFrameLocks noChangeAspect="1"/>
          </p:cNvGraphicFramePr>
          <p:nvPr/>
        </p:nvGraphicFramePr>
        <p:xfrm>
          <a:off x="5275263" y="2708275"/>
          <a:ext cx="3394075" cy="636588"/>
        </p:xfrm>
        <a:graphic>
          <a:graphicData uri="http://schemas.openxmlformats.org/presentationml/2006/ole">
            <mc:AlternateContent xmlns:mc="http://schemas.openxmlformats.org/markup-compatibility/2006">
              <mc:Choice xmlns:v="urn:schemas-microsoft-com:vml" Requires="v">
                <p:oleObj name="公式" r:id="rId10" imgW="1435100" imgH="266700" progId="Equation.3">
                  <p:embed/>
                </p:oleObj>
              </mc:Choice>
              <mc:Fallback>
                <p:oleObj name="公式" r:id="rId10" imgW="1435100" imgH="266700"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75263" y="2708275"/>
                        <a:ext cx="3394075" cy="636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4" name="Rectangle 8">
            <a:extLst>
              <a:ext uri="{FF2B5EF4-FFF2-40B4-BE49-F238E27FC236}">
                <a16:creationId xmlns:a16="http://schemas.microsoft.com/office/drawing/2014/main" id="{A1261F61-E773-2123-AB37-30126B9D4F31}"/>
              </a:ext>
            </a:extLst>
          </p:cNvPr>
          <p:cNvSpPr>
            <a:spLocks noChangeArrowheads="1"/>
          </p:cNvSpPr>
          <p:nvPr/>
        </p:nvSpPr>
        <p:spPr bwMode="auto">
          <a:xfrm>
            <a:off x="900113" y="3932238"/>
            <a:ext cx="76327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solidFill>
                  <a:srgbClr val="003300"/>
                </a:solidFill>
              </a:rPr>
              <a:t>求</a:t>
            </a:r>
            <a:r>
              <a:rPr lang="el-GR" altLang="zh-CN" sz="3200" b="1">
                <a:solidFill>
                  <a:srgbClr val="003300"/>
                </a:solidFill>
              </a:rPr>
              <a:t>λ</a:t>
            </a:r>
            <a:r>
              <a:rPr lang="en-US" altLang="zh-CN" sz="3200" i="1" baseline="-25000">
                <a:solidFill>
                  <a:srgbClr val="003300"/>
                </a:solidFill>
              </a:rPr>
              <a:t>i </a:t>
            </a:r>
            <a:r>
              <a:rPr lang="zh-CN" altLang="en-US" sz="3200" b="1">
                <a:solidFill>
                  <a:srgbClr val="003300"/>
                </a:solidFill>
              </a:rPr>
              <a:t>的特征向量</a:t>
            </a:r>
            <a:r>
              <a:rPr lang="en-US" altLang="zh-CN" sz="3200" b="1">
                <a:solidFill>
                  <a:srgbClr val="003300"/>
                </a:solidFill>
              </a:rPr>
              <a:t>(</a:t>
            </a:r>
            <a:r>
              <a:rPr lang="zh-CN" altLang="en-US" sz="3200" b="1">
                <a:solidFill>
                  <a:srgbClr val="0000FF"/>
                </a:solidFill>
              </a:rPr>
              <a:t>已正交</a:t>
            </a:r>
            <a:r>
              <a:rPr lang="en-US" altLang="zh-CN" sz="3200" b="1">
                <a:solidFill>
                  <a:srgbClr val="003300"/>
                </a:solidFill>
              </a:rPr>
              <a:t>), </a:t>
            </a:r>
            <a:r>
              <a:rPr lang="zh-CN" altLang="en-US" sz="3200" b="1">
                <a:solidFill>
                  <a:srgbClr val="0000FF"/>
                </a:solidFill>
              </a:rPr>
              <a:t>正交化定出</a:t>
            </a:r>
            <a:r>
              <a:rPr lang="en-US" altLang="zh-CN" sz="3200" b="1">
                <a:solidFill>
                  <a:srgbClr val="0000FF"/>
                </a:solidFill>
              </a:rPr>
              <a:t>V</a:t>
            </a:r>
            <a:r>
              <a:rPr lang="zh-CN" altLang="en-US" sz="3200" b="1">
                <a:solidFill>
                  <a:srgbClr val="003300"/>
                </a:solidFill>
              </a:rPr>
              <a:t>：</a:t>
            </a:r>
          </a:p>
        </p:txBody>
      </p:sp>
      <p:graphicFrame>
        <p:nvGraphicFramePr>
          <p:cNvPr id="5" name="Object 5">
            <a:extLst>
              <a:ext uri="{FF2B5EF4-FFF2-40B4-BE49-F238E27FC236}">
                <a16:creationId xmlns:a16="http://schemas.microsoft.com/office/drawing/2014/main" id="{DBB6E273-B8BC-662C-7E4A-07928B625EDA}"/>
              </a:ext>
            </a:extLst>
          </p:cNvPr>
          <p:cNvGraphicFramePr>
            <a:graphicFrameLocks noChangeAspect="1"/>
          </p:cNvGraphicFramePr>
          <p:nvPr/>
        </p:nvGraphicFramePr>
        <p:xfrm>
          <a:off x="939800" y="4579938"/>
          <a:ext cx="7186613" cy="614362"/>
        </p:xfrm>
        <a:graphic>
          <a:graphicData uri="http://schemas.openxmlformats.org/presentationml/2006/ole">
            <mc:AlternateContent xmlns:mc="http://schemas.openxmlformats.org/markup-compatibility/2006">
              <mc:Choice xmlns:v="urn:schemas-microsoft-com:vml" Requires="v">
                <p:oleObj name="公式" r:id="rId12" imgW="3492500" imgH="304800" progId="Equation.3">
                  <p:embed/>
                </p:oleObj>
              </mc:Choice>
              <mc:Fallback>
                <p:oleObj name="公式" r:id="rId12" imgW="3492500" imgH="304800" progId="Equation.3">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39800" y="4579938"/>
                        <a:ext cx="7186613" cy="614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5">
            <a:extLst>
              <a:ext uri="{FF2B5EF4-FFF2-40B4-BE49-F238E27FC236}">
                <a16:creationId xmlns:a16="http://schemas.microsoft.com/office/drawing/2014/main" id="{C5BD8A66-177C-B5BE-1DFC-44CB8D97E5E6}"/>
              </a:ext>
            </a:extLst>
          </p:cNvPr>
          <p:cNvGraphicFramePr>
            <a:graphicFrameLocks noChangeAspect="1"/>
          </p:cNvGraphicFramePr>
          <p:nvPr/>
        </p:nvGraphicFramePr>
        <p:xfrm>
          <a:off x="263525" y="5241925"/>
          <a:ext cx="6756400" cy="554038"/>
        </p:xfrm>
        <a:graphic>
          <a:graphicData uri="http://schemas.openxmlformats.org/presentationml/2006/ole">
            <mc:AlternateContent xmlns:mc="http://schemas.openxmlformats.org/markup-compatibility/2006">
              <mc:Choice xmlns:v="urn:schemas-microsoft-com:vml" Requires="v">
                <p:oleObj name="公式" r:id="rId14" imgW="3289300" imgH="266700" progId="Equation.3">
                  <p:embed/>
                </p:oleObj>
              </mc:Choice>
              <mc:Fallback>
                <p:oleObj name="公式" r:id="rId14" imgW="3289300" imgH="266700" progId="Equation.3">
                  <p:embed/>
                  <p:pic>
                    <p:nvPicPr>
                      <p:cNvPr id="0" name="Object 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3525" y="5241925"/>
                        <a:ext cx="6756400" cy="554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9" name="Rectangle 13">
            <a:extLst>
              <a:ext uri="{FF2B5EF4-FFF2-40B4-BE49-F238E27FC236}">
                <a16:creationId xmlns:a16="http://schemas.microsoft.com/office/drawing/2014/main" id="{DA63DAE9-7D46-3771-F33C-2E9BD0AEFDE8}"/>
              </a:ext>
            </a:extLst>
          </p:cNvPr>
          <p:cNvSpPr>
            <a:spLocks noChangeArrowheads="1"/>
          </p:cNvSpPr>
          <p:nvPr/>
        </p:nvSpPr>
        <p:spPr bwMode="auto">
          <a:xfrm>
            <a:off x="7046913" y="5253038"/>
            <a:ext cx="1701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solidFill>
                  <a:srgbClr val="0000FF"/>
                </a:solidFill>
              </a:rPr>
              <a:t>已得</a:t>
            </a:r>
            <a:r>
              <a:rPr lang="en-US" altLang="zh-CN" sz="3200" b="1">
                <a:solidFill>
                  <a:srgbClr val="0000FF"/>
                </a:solidFill>
              </a:rPr>
              <a:t>U</a:t>
            </a:r>
            <a:r>
              <a:rPr lang="zh-CN" altLang="en-US" sz="3200" b="1">
                <a:solidFill>
                  <a:srgbClr val="0000FF"/>
                </a:solidFill>
              </a:rPr>
              <a:t>！</a:t>
            </a:r>
          </a:p>
        </p:txBody>
      </p:sp>
      <p:graphicFrame>
        <p:nvGraphicFramePr>
          <p:cNvPr id="7" name="Object 5">
            <a:extLst>
              <a:ext uri="{FF2B5EF4-FFF2-40B4-BE49-F238E27FC236}">
                <a16:creationId xmlns:a16="http://schemas.microsoft.com/office/drawing/2014/main" id="{CB5B56C9-4D3B-4956-99EF-F4DF0F9FF645}"/>
              </a:ext>
            </a:extLst>
          </p:cNvPr>
          <p:cNvGraphicFramePr>
            <a:graphicFrameLocks noChangeAspect="1"/>
          </p:cNvGraphicFramePr>
          <p:nvPr/>
        </p:nvGraphicFramePr>
        <p:xfrm>
          <a:off x="2924175" y="5803900"/>
          <a:ext cx="2439988" cy="565150"/>
        </p:xfrm>
        <a:graphic>
          <a:graphicData uri="http://schemas.openxmlformats.org/presentationml/2006/ole">
            <mc:AlternateContent xmlns:mc="http://schemas.openxmlformats.org/markup-compatibility/2006">
              <mc:Choice xmlns:v="urn:schemas-microsoft-com:vml" Requires="v">
                <p:oleObj name="公式" r:id="rId16" imgW="1028700" imgH="241300" progId="Equation.3">
                  <p:embed/>
                </p:oleObj>
              </mc:Choice>
              <mc:Fallback>
                <p:oleObj name="公式" r:id="rId16" imgW="1028700" imgH="241300" progId="Equation.3">
                  <p:embed/>
                  <p:pic>
                    <p:nvPicPr>
                      <p:cNvPr id="0" name="Object 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924175" y="5803900"/>
                        <a:ext cx="2439988"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9944"/>
                                        </p:tgtEl>
                                        <p:attrNameLst>
                                          <p:attrName>style.visibility</p:attrName>
                                        </p:attrNameLst>
                                      </p:cBhvr>
                                      <p:to>
                                        <p:strVal val="visible"/>
                                      </p:to>
                                    </p:set>
                                    <p:animEffect transition="in" filter="blinds(horizontal)">
                                      <p:cBhvr>
                                        <p:cTn id="17" dur="500"/>
                                        <p:tgtEl>
                                          <p:spTgt spid="3994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8"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500" fill="hold"/>
                                        <p:tgtEl>
                                          <p:spTgt spid="6"/>
                                        </p:tgtEl>
                                        <p:attrNameLst>
                                          <p:attrName>ppt_x</p:attrName>
                                        </p:attrNameLst>
                                      </p:cBhvr>
                                      <p:tavLst>
                                        <p:tav tm="0">
                                          <p:val>
                                            <p:strVal val="0-#ppt_w/2"/>
                                          </p:val>
                                        </p:tav>
                                        <p:tav tm="100000">
                                          <p:val>
                                            <p:strVal val="#ppt_x"/>
                                          </p:val>
                                        </p:tav>
                                      </p:tavLst>
                                    </p:anim>
                                    <p:anim calcmode="lin" valueType="num">
                                      <p:cBhvr additive="base">
                                        <p:cTn id="29"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39949"/>
                                        </p:tgtEl>
                                        <p:attrNameLst>
                                          <p:attrName>style.visibility</p:attrName>
                                        </p:attrNameLst>
                                      </p:cBhvr>
                                      <p:to>
                                        <p:strVal val="visible"/>
                                      </p:to>
                                    </p:set>
                                    <p:animEffect transition="in" filter="blinds(horizontal)">
                                      <p:cBhvr>
                                        <p:cTn id="34" dur="500"/>
                                        <p:tgtEl>
                                          <p:spTgt spid="3994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additive="base">
                                        <p:cTn id="39" dur="500" fill="hold"/>
                                        <p:tgtEl>
                                          <p:spTgt spid="7"/>
                                        </p:tgtEl>
                                        <p:attrNameLst>
                                          <p:attrName>ppt_x</p:attrName>
                                        </p:attrNameLst>
                                      </p:cBhvr>
                                      <p:tavLst>
                                        <p:tav tm="0">
                                          <p:val>
                                            <p:strVal val="0-#ppt_w/2"/>
                                          </p:val>
                                        </p:tav>
                                        <p:tav tm="100000">
                                          <p:val>
                                            <p:strVal val="#ppt_x"/>
                                          </p:val>
                                        </p:tav>
                                      </p:tavLst>
                                    </p:anim>
                                    <p:anim calcmode="lin" valueType="num">
                                      <p:cBhvr additive="base">
                                        <p:cTn id="4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4" grpId="0"/>
      <p:bldP spid="39949"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6627" name="Rectangle 3">
            <a:extLst>
              <a:ext uri="{FF2B5EF4-FFF2-40B4-BE49-F238E27FC236}">
                <a16:creationId xmlns:a16="http://schemas.microsoft.com/office/drawing/2014/main" id="{59554ACA-EB05-44DA-B073-63374E8CCAAA}"/>
              </a:ext>
            </a:extLst>
          </p:cNvPr>
          <p:cNvSpPr>
            <a:spLocks noGrp="1" noChangeArrowheads="1"/>
          </p:cNvSpPr>
          <p:nvPr>
            <p:ph type="body" idx="1"/>
          </p:nvPr>
        </p:nvSpPr>
        <p:spPr>
          <a:xfrm>
            <a:off x="130175" y="533400"/>
            <a:ext cx="8763000" cy="4840288"/>
          </a:xfrm>
        </p:spPr>
        <p:txBody>
          <a:bodyPr/>
          <a:lstStyle/>
          <a:p>
            <a:pPr eaLnBrk="1" hangingPunct="1">
              <a:lnSpc>
                <a:spcPct val="80000"/>
              </a:lnSpc>
            </a:pPr>
            <a:r>
              <a:rPr lang="zh-CN" altLang="en-US" b="1">
                <a:solidFill>
                  <a:srgbClr val="CC6600"/>
                </a:solidFill>
                <a:effectLst>
                  <a:outerShdw blurRad="38100" dist="38100" dir="2700000" algn="tl">
                    <a:srgbClr val="C0C0C0"/>
                  </a:outerShdw>
                </a:effectLst>
              </a:rPr>
              <a:t>2、矩阵</a:t>
            </a:r>
            <a:r>
              <a:rPr lang="en-US" altLang="zh-CN" b="1">
                <a:solidFill>
                  <a:srgbClr val="CC6600"/>
                </a:solidFill>
                <a:effectLst>
                  <a:outerShdw blurRad="38100" dist="38100" dir="2700000" algn="tl">
                    <a:srgbClr val="C0C0C0"/>
                  </a:outerShdw>
                </a:effectLst>
              </a:rPr>
              <a:t>U，V</a:t>
            </a:r>
            <a:r>
              <a:rPr lang="zh-CN" altLang="en-US" b="1">
                <a:solidFill>
                  <a:srgbClr val="CC6600"/>
                </a:solidFill>
                <a:effectLst>
                  <a:outerShdw blurRad="38100" dist="38100" dir="2700000" algn="tl">
                    <a:srgbClr val="C0C0C0"/>
                  </a:outerShdw>
                </a:effectLst>
              </a:rPr>
              <a:t>的空间性质</a:t>
            </a:r>
            <a:r>
              <a:rPr lang="zh-CN" altLang="en-US">
                <a:solidFill>
                  <a:srgbClr val="CC6600"/>
                </a:solidFill>
              </a:rPr>
              <a:t>：</a:t>
            </a:r>
          </a:p>
          <a:p>
            <a:pPr eaLnBrk="1" hangingPunct="1">
              <a:buClr>
                <a:srgbClr val="CC6600"/>
              </a:buClr>
              <a:buFont typeface="Wingdings" pitchFamily="2" charset="2"/>
              <a:buChar char="Ø"/>
            </a:pPr>
            <a:r>
              <a:rPr lang="en-US" altLang="zh-CN" sz="2800" b="1">
                <a:solidFill>
                  <a:srgbClr val="003300"/>
                </a:solidFill>
              </a:rPr>
              <a:t>V=[v </a:t>
            </a:r>
            <a:r>
              <a:rPr lang="zh-CN" altLang="en-US" sz="2000" b="1" baseline="-25000">
                <a:solidFill>
                  <a:srgbClr val="003300"/>
                </a:solidFill>
                <a:sym typeface="Symbol" pitchFamily="2" charset="2"/>
              </a:rPr>
              <a:t>1</a:t>
            </a:r>
            <a:r>
              <a:rPr lang="en-US" altLang="zh-CN" sz="2800" b="1">
                <a:solidFill>
                  <a:srgbClr val="003300"/>
                </a:solidFill>
              </a:rPr>
              <a:t>，v</a:t>
            </a:r>
            <a:r>
              <a:rPr lang="zh-CN" altLang="en-US" sz="2000" b="1" baseline="-25000">
                <a:solidFill>
                  <a:srgbClr val="003300"/>
                </a:solidFill>
                <a:sym typeface="Symbol" pitchFamily="2" charset="2"/>
              </a:rPr>
              <a:t>2</a:t>
            </a:r>
            <a:r>
              <a:rPr lang="en-US" altLang="zh-CN" sz="2800" b="1">
                <a:solidFill>
                  <a:srgbClr val="003300"/>
                </a:solidFill>
              </a:rPr>
              <a:t>，</a:t>
            </a:r>
            <a:r>
              <a:rPr lang="zh-CN" altLang="en-US" sz="2800" b="1">
                <a:solidFill>
                  <a:srgbClr val="003300"/>
                </a:solidFill>
                <a:sym typeface="Symbol" pitchFamily="2" charset="2"/>
              </a:rPr>
              <a:t>，</a:t>
            </a:r>
            <a:r>
              <a:rPr lang="en-US" altLang="zh-CN" sz="2800" b="1">
                <a:solidFill>
                  <a:srgbClr val="003300"/>
                </a:solidFill>
              </a:rPr>
              <a:t>v</a:t>
            </a:r>
            <a:r>
              <a:rPr lang="en-US" altLang="zh-CN" sz="2000" b="1" baseline="-25000">
                <a:solidFill>
                  <a:srgbClr val="003300"/>
                </a:solidFill>
                <a:sym typeface="Symbol" pitchFamily="2" charset="2"/>
              </a:rPr>
              <a:t>r</a:t>
            </a:r>
            <a:r>
              <a:rPr lang="en-US" altLang="zh-CN" sz="2800" b="1">
                <a:solidFill>
                  <a:srgbClr val="003300"/>
                </a:solidFill>
              </a:rPr>
              <a:t> ，</a:t>
            </a:r>
            <a:r>
              <a:rPr lang="zh-CN" altLang="en-US" sz="2000" b="1">
                <a:solidFill>
                  <a:srgbClr val="003300"/>
                </a:solidFill>
                <a:sym typeface="Symbol" pitchFamily="2" charset="2"/>
              </a:rPr>
              <a:t></a:t>
            </a:r>
            <a:r>
              <a:rPr lang="en-US" altLang="zh-CN" sz="2800" b="1">
                <a:solidFill>
                  <a:srgbClr val="003300"/>
                </a:solidFill>
              </a:rPr>
              <a:t> ，v</a:t>
            </a:r>
            <a:r>
              <a:rPr lang="zh-CN" altLang="en-US" sz="2000" b="1" baseline="-25000">
                <a:solidFill>
                  <a:srgbClr val="003300"/>
                </a:solidFill>
                <a:sym typeface="Symbol" pitchFamily="2" charset="2"/>
              </a:rPr>
              <a:t> </a:t>
            </a:r>
            <a:r>
              <a:rPr lang="en-US" altLang="zh-CN" sz="2000" b="1" baseline="-25000">
                <a:solidFill>
                  <a:srgbClr val="003300"/>
                </a:solidFill>
                <a:sym typeface="Symbol" pitchFamily="2" charset="2"/>
              </a:rPr>
              <a:t>n</a:t>
            </a:r>
            <a:r>
              <a:rPr lang="en-US" altLang="zh-CN" sz="2800" b="1">
                <a:solidFill>
                  <a:srgbClr val="003300"/>
                </a:solidFill>
              </a:rPr>
              <a:t>] =[V</a:t>
            </a:r>
            <a:r>
              <a:rPr lang="zh-CN" altLang="en-US" sz="2800" b="1" baseline="-25000">
                <a:solidFill>
                  <a:srgbClr val="003300"/>
                </a:solidFill>
              </a:rPr>
              <a:t>1   </a:t>
            </a:r>
            <a:r>
              <a:rPr lang="en-US" altLang="zh-CN" sz="2800" b="1">
                <a:solidFill>
                  <a:srgbClr val="003300"/>
                </a:solidFill>
              </a:rPr>
              <a:t>V</a:t>
            </a:r>
            <a:r>
              <a:rPr lang="zh-CN" altLang="en-US" sz="2800" b="1" baseline="-25000">
                <a:solidFill>
                  <a:srgbClr val="003300"/>
                </a:solidFill>
              </a:rPr>
              <a:t>2</a:t>
            </a:r>
            <a:r>
              <a:rPr lang="en-US" altLang="zh-CN" sz="2800" b="1">
                <a:solidFill>
                  <a:srgbClr val="003300"/>
                </a:solidFill>
              </a:rPr>
              <a:t>]</a:t>
            </a:r>
            <a:r>
              <a:rPr lang="en-US" altLang="zh-CN" sz="2800" b="1">
                <a:solidFill>
                  <a:srgbClr val="003300"/>
                </a:solidFill>
                <a:sym typeface="Symbol" pitchFamily="2" charset="2"/>
              </a:rPr>
              <a:t></a:t>
            </a:r>
            <a:r>
              <a:rPr lang="en-US" altLang="zh-CN" sz="2800" b="1">
                <a:solidFill>
                  <a:srgbClr val="003300"/>
                </a:solidFill>
              </a:rPr>
              <a:t>C </a:t>
            </a:r>
            <a:r>
              <a:rPr lang="en-US" altLang="zh-CN" sz="2800" b="1" baseline="30000">
                <a:solidFill>
                  <a:srgbClr val="003300"/>
                </a:solidFill>
              </a:rPr>
              <a:t>n</a:t>
            </a:r>
            <a:r>
              <a:rPr lang="en-US" altLang="zh-CN" sz="2800" b="1" baseline="30000">
                <a:solidFill>
                  <a:srgbClr val="003300"/>
                </a:solidFill>
                <a:cs typeface="Times New Roman" panose="02020603050405020304" pitchFamily="18" charset="0"/>
              </a:rPr>
              <a:t>×</a:t>
            </a:r>
            <a:r>
              <a:rPr lang="en-US" altLang="zh-CN" sz="2800" b="1" baseline="30000">
                <a:solidFill>
                  <a:srgbClr val="003300"/>
                </a:solidFill>
              </a:rPr>
              <a:t>n</a:t>
            </a:r>
            <a:r>
              <a:rPr lang="zh-CN" altLang="en-US" sz="2800" b="1">
                <a:solidFill>
                  <a:srgbClr val="003300"/>
                </a:solidFill>
              </a:rPr>
              <a:t>的列向量是空间</a:t>
            </a:r>
            <a:r>
              <a:rPr lang="en-US" altLang="zh-CN" sz="2800" b="1">
                <a:solidFill>
                  <a:srgbClr val="003300"/>
                </a:solidFill>
              </a:rPr>
              <a:t>C </a:t>
            </a:r>
            <a:r>
              <a:rPr lang="en-US" altLang="zh-CN" sz="2800" b="1" baseline="30000">
                <a:solidFill>
                  <a:srgbClr val="003300"/>
                </a:solidFill>
              </a:rPr>
              <a:t>n</a:t>
            </a:r>
            <a:r>
              <a:rPr lang="zh-CN" altLang="en-US" sz="2800" b="1">
                <a:solidFill>
                  <a:srgbClr val="003300"/>
                </a:solidFill>
              </a:rPr>
              <a:t>的标准正交基。</a:t>
            </a:r>
          </a:p>
          <a:p>
            <a:pPr lvl="1" eaLnBrk="1" hangingPunct="1">
              <a:lnSpc>
                <a:spcPct val="80000"/>
              </a:lnSpc>
              <a:buClr>
                <a:srgbClr val="CC6600"/>
              </a:buClr>
              <a:buFont typeface="Wingdings" pitchFamily="2" charset="2"/>
              <a:buChar char="Ø"/>
            </a:pPr>
            <a:r>
              <a:rPr lang="en-US" altLang="zh-CN" sz="2400" b="1">
                <a:solidFill>
                  <a:srgbClr val="003300"/>
                </a:solidFill>
              </a:rPr>
              <a:t>V</a:t>
            </a:r>
            <a:r>
              <a:rPr lang="en-US" altLang="zh-CN" sz="2400" b="1" baseline="-25000">
                <a:solidFill>
                  <a:srgbClr val="003300"/>
                </a:solidFill>
              </a:rPr>
              <a:t>2</a:t>
            </a:r>
            <a:r>
              <a:rPr lang="zh-CN" altLang="en-US" sz="2400" b="1">
                <a:solidFill>
                  <a:srgbClr val="003300"/>
                </a:solidFill>
              </a:rPr>
              <a:t>的列向量是空间</a:t>
            </a:r>
            <a:r>
              <a:rPr lang="en-US" altLang="zh-CN" sz="2400" b="1">
                <a:solidFill>
                  <a:srgbClr val="003300"/>
                </a:solidFill>
              </a:rPr>
              <a:t>N(A)</a:t>
            </a:r>
            <a:r>
              <a:rPr lang="zh-CN" altLang="en-US" sz="2400" b="1">
                <a:solidFill>
                  <a:srgbClr val="003300"/>
                </a:solidFill>
              </a:rPr>
              <a:t>的标准正交基（</a:t>
            </a:r>
            <a:r>
              <a:rPr lang="en-US" altLang="zh-CN" sz="2400" b="1">
                <a:solidFill>
                  <a:srgbClr val="003300"/>
                </a:solidFill>
              </a:rPr>
              <a:t>AV</a:t>
            </a:r>
            <a:r>
              <a:rPr lang="en-US" altLang="zh-CN" sz="2400" b="1" baseline="-25000">
                <a:solidFill>
                  <a:srgbClr val="003300"/>
                </a:solidFill>
              </a:rPr>
              <a:t>2</a:t>
            </a:r>
            <a:r>
              <a:rPr lang="en-US" altLang="zh-CN" sz="2400" b="1">
                <a:solidFill>
                  <a:srgbClr val="003300"/>
                </a:solidFill>
              </a:rPr>
              <a:t>=0</a:t>
            </a:r>
            <a:r>
              <a:rPr lang="zh-CN" altLang="en-US" sz="2400" b="1">
                <a:solidFill>
                  <a:srgbClr val="003300"/>
                </a:solidFill>
              </a:rPr>
              <a:t>）。</a:t>
            </a:r>
            <a:endParaRPr lang="en-US" altLang="zh-CN" sz="2400" b="1">
              <a:solidFill>
                <a:srgbClr val="003300"/>
              </a:solidFill>
            </a:endParaRPr>
          </a:p>
          <a:p>
            <a:pPr lvl="1" eaLnBrk="1" hangingPunct="1">
              <a:lnSpc>
                <a:spcPct val="80000"/>
              </a:lnSpc>
              <a:buClr>
                <a:srgbClr val="CC6600"/>
              </a:buClr>
              <a:buFont typeface="Wingdings" pitchFamily="2" charset="2"/>
              <a:buChar char="Ø"/>
            </a:pPr>
            <a:endParaRPr lang="zh-CN" altLang="en-US" sz="2400" b="1">
              <a:solidFill>
                <a:srgbClr val="003300"/>
              </a:solidFill>
            </a:endParaRPr>
          </a:p>
          <a:p>
            <a:pPr eaLnBrk="1" hangingPunct="1">
              <a:buClr>
                <a:srgbClr val="CC6600"/>
              </a:buClr>
              <a:buFont typeface="Wingdings" pitchFamily="2" charset="2"/>
              <a:buChar char="Ø"/>
            </a:pPr>
            <a:r>
              <a:rPr lang="en-US" altLang="zh-CN" sz="2800" b="1">
                <a:solidFill>
                  <a:srgbClr val="003300"/>
                </a:solidFill>
              </a:rPr>
              <a:t>U=[u </a:t>
            </a:r>
            <a:r>
              <a:rPr lang="zh-CN" altLang="en-US" sz="2000" b="1" baseline="-25000">
                <a:solidFill>
                  <a:srgbClr val="003300"/>
                </a:solidFill>
                <a:sym typeface="Symbol" pitchFamily="2" charset="2"/>
              </a:rPr>
              <a:t>1</a:t>
            </a:r>
            <a:r>
              <a:rPr lang="en-US" altLang="zh-CN" sz="2800" b="1">
                <a:solidFill>
                  <a:srgbClr val="003300"/>
                </a:solidFill>
              </a:rPr>
              <a:t>，u</a:t>
            </a:r>
            <a:r>
              <a:rPr lang="zh-CN" altLang="en-US" sz="2000" b="1" baseline="-25000">
                <a:solidFill>
                  <a:srgbClr val="003300"/>
                </a:solidFill>
                <a:sym typeface="Symbol" pitchFamily="2" charset="2"/>
              </a:rPr>
              <a:t>2</a:t>
            </a:r>
            <a:r>
              <a:rPr lang="en-US" altLang="zh-CN" sz="2800" b="1">
                <a:solidFill>
                  <a:srgbClr val="003300"/>
                </a:solidFill>
              </a:rPr>
              <a:t>，</a:t>
            </a:r>
            <a:r>
              <a:rPr lang="zh-CN" altLang="en-US" sz="2800" b="1">
                <a:solidFill>
                  <a:srgbClr val="003300"/>
                </a:solidFill>
                <a:sym typeface="Symbol" pitchFamily="2" charset="2"/>
              </a:rPr>
              <a:t>，</a:t>
            </a:r>
            <a:r>
              <a:rPr lang="en-US" altLang="zh-CN" sz="2800" b="1">
                <a:solidFill>
                  <a:srgbClr val="003300"/>
                </a:solidFill>
              </a:rPr>
              <a:t>u</a:t>
            </a:r>
            <a:r>
              <a:rPr lang="en-US" altLang="zh-CN" sz="2000" b="1" baseline="-25000">
                <a:solidFill>
                  <a:srgbClr val="003300"/>
                </a:solidFill>
                <a:sym typeface="Symbol" pitchFamily="2" charset="2"/>
              </a:rPr>
              <a:t>r</a:t>
            </a:r>
            <a:r>
              <a:rPr lang="en-US" altLang="zh-CN" sz="2800" b="1">
                <a:solidFill>
                  <a:srgbClr val="003300"/>
                </a:solidFill>
              </a:rPr>
              <a:t> ，</a:t>
            </a:r>
            <a:r>
              <a:rPr lang="zh-CN" altLang="en-US" sz="2000" b="1">
                <a:solidFill>
                  <a:srgbClr val="003300"/>
                </a:solidFill>
                <a:sym typeface="Symbol" pitchFamily="2" charset="2"/>
              </a:rPr>
              <a:t></a:t>
            </a:r>
            <a:r>
              <a:rPr lang="en-US" altLang="zh-CN" sz="2800" b="1">
                <a:solidFill>
                  <a:srgbClr val="003300"/>
                </a:solidFill>
              </a:rPr>
              <a:t> ，u</a:t>
            </a:r>
            <a:r>
              <a:rPr lang="zh-CN" altLang="en-US" sz="2000" b="1" baseline="-25000">
                <a:solidFill>
                  <a:srgbClr val="003300"/>
                </a:solidFill>
                <a:sym typeface="Symbol" pitchFamily="2" charset="2"/>
              </a:rPr>
              <a:t> </a:t>
            </a:r>
            <a:r>
              <a:rPr lang="en-US" altLang="zh-CN" sz="2000" b="1" baseline="-25000">
                <a:solidFill>
                  <a:srgbClr val="003300"/>
                </a:solidFill>
                <a:sym typeface="Symbol" pitchFamily="2" charset="2"/>
              </a:rPr>
              <a:t>m</a:t>
            </a:r>
            <a:r>
              <a:rPr lang="en-US" altLang="zh-CN" sz="2800" b="1">
                <a:solidFill>
                  <a:srgbClr val="003300"/>
                </a:solidFill>
              </a:rPr>
              <a:t>] =[U</a:t>
            </a:r>
            <a:r>
              <a:rPr lang="zh-CN" altLang="en-US" sz="2800" b="1" baseline="-25000">
                <a:solidFill>
                  <a:srgbClr val="003300"/>
                </a:solidFill>
              </a:rPr>
              <a:t>1   </a:t>
            </a:r>
            <a:r>
              <a:rPr lang="en-US" altLang="zh-CN" sz="2800" b="1">
                <a:solidFill>
                  <a:srgbClr val="003300"/>
                </a:solidFill>
              </a:rPr>
              <a:t>U</a:t>
            </a:r>
            <a:r>
              <a:rPr lang="zh-CN" altLang="en-US" sz="2800" b="1" baseline="-25000">
                <a:solidFill>
                  <a:srgbClr val="003300"/>
                </a:solidFill>
              </a:rPr>
              <a:t>2</a:t>
            </a:r>
            <a:r>
              <a:rPr lang="en-US" altLang="zh-CN" sz="2800" b="1">
                <a:solidFill>
                  <a:srgbClr val="003300"/>
                </a:solidFill>
              </a:rPr>
              <a:t>]</a:t>
            </a:r>
            <a:r>
              <a:rPr lang="en-US" altLang="zh-CN" sz="2800" b="1">
                <a:solidFill>
                  <a:srgbClr val="003300"/>
                </a:solidFill>
                <a:sym typeface="Symbol" pitchFamily="2" charset="2"/>
              </a:rPr>
              <a:t></a:t>
            </a:r>
            <a:r>
              <a:rPr lang="en-US" altLang="zh-CN" sz="2800" b="1">
                <a:solidFill>
                  <a:srgbClr val="003300"/>
                </a:solidFill>
              </a:rPr>
              <a:t>C </a:t>
            </a:r>
            <a:r>
              <a:rPr lang="en-US" altLang="zh-CN" sz="2800" b="1" baseline="30000">
                <a:solidFill>
                  <a:srgbClr val="003300"/>
                </a:solidFill>
              </a:rPr>
              <a:t>m</a:t>
            </a:r>
            <a:r>
              <a:rPr lang="en-US" altLang="zh-CN" sz="2800" b="1" baseline="30000">
                <a:solidFill>
                  <a:srgbClr val="003300"/>
                </a:solidFill>
                <a:cs typeface="Times New Roman" panose="02020603050405020304" pitchFamily="18" charset="0"/>
              </a:rPr>
              <a:t>×</a:t>
            </a:r>
            <a:r>
              <a:rPr lang="en-US" altLang="zh-CN" sz="2800" b="1" baseline="30000">
                <a:solidFill>
                  <a:srgbClr val="003300"/>
                </a:solidFill>
              </a:rPr>
              <a:t>m</a:t>
            </a:r>
            <a:r>
              <a:rPr lang="zh-CN" altLang="en-US" sz="2800" b="1">
                <a:solidFill>
                  <a:srgbClr val="003300"/>
                </a:solidFill>
              </a:rPr>
              <a:t>的列向量是空间</a:t>
            </a:r>
            <a:r>
              <a:rPr lang="en-US" altLang="zh-CN" sz="2800" b="1">
                <a:solidFill>
                  <a:srgbClr val="003300"/>
                </a:solidFill>
              </a:rPr>
              <a:t>C </a:t>
            </a:r>
            <a:r>
              <a:rPr lang="en-US" altLang="zh-CN" sz="2800" b="1" baseline="30000">
                <a:solidFill>
                  <a:srgbClr val="003300"/>
                </a:solidFill>
              </a:rPr>
              <a:t>m</a:t>
            </a:r>
            <a:r>
              <a:rPr lang="zh-CN" altLang="en-US" sz="2800" b="1">
                <a:solidFill>
                  <a:srgbClr val="003300"/>
                </a:solidFill>
              </a:rPr>
              <a:t>的标准正交基。</a:t>
            </a:r>
          </a:p>
          <a:p>
            <a:pPr lvl="1" eaLnBrk="1" hangingPunct="1">
              <a:lnSpc>
                <a:spcPct val="80000"/>
              </a:lnSpc>
              <a:buClr>
                <a:srgbClr val="CC6600"/>
              </a:buClr>
              <a:buFont typeface="Wingdings" pitchFamily="2" charset="2"/>
              <a:buChar char="Ø"/>
            </a:pPr>
            <a:r>
              <a:rPr lang="en-US" altLang="zh-CN" sz="2400" b="1">
                <a:solidFill>
                  <a:srgbClr val="003300"/>
                </a:solidFill>
              </a:rPr>
              <a:t>U</a:t>
            </a:r>
            <a:r>
              <a:rPr lang="zh-CN" altLang="en-US" sz="2400" b="1" baseline="-25000">
                <a:solidFill>
                  <a:srgbClr val="003300"/>
                </a:solidFill>
              </a:rPr>
              <a:t>1 </a:t>
            </a:r>
            <a:r>
              <a:rPr lang="zh-CN" altLang="en-US" sz="2400" b="1">
                <a:solidFill>
                  <a:srgbClr val="003300"/>
                </a:solidFill>
              </a:rPr>
              <a:t>的列向量是</a:t>
            </a:r>
            <a:r>
              <a:rPr lang="en-US" altLang="zh-CN" sz="2400" b="1">
                <a:solidFill>
                  <a:srgbClr val="003300"/>
                </a:solidFill>
              </a:rPr>
              <a:t>R(A)</a:t>
            </a:r>
            <a:r>
              <a:rPr lang="zh-CN" altLang="en-US" sz="2400" b="1">
                <a:solidFill>
                  <a:srgbClr val="003300"/>
                </a:solidFill>
              </a:rPr>
              <a:t>的标准正交基（                         ）。</a:t>
            </a:r>
          </a:p>
          <a:p>
            <a:pPr lvl="1" eaLnBrk="1" hangingPunct="1">
              <a:lnSpc>
                <a:spcPct val="80000"/>
              </a:lnSpc>
              <a:buClr>
                <a:srgbClr val="CC6600"/>
              </a:buClr>
              <a:buFont typeface="Wingdings" pitchFamily="2" charset="2"/>
              <a:buNone/>
            </a:pPr>
            <a:endParaRPr lang="zh-CN" altLang="en-US" sz="2400" b="1">
              <a:solidFill>
                <a:srgbClr val="003300"/>
              </a:solidFill>
            </a:endParaRPr>
          </a:p>
          <a:p>
            <a:pPr eaLnBrk="1" hangingPunct="1">
              <a:lnSpc>
                <a:spcPct val="80000"/>
              </a:lnSpc>
              <a:buClr>
                <a:srgbClr val="CC6600"/>
              </a:buClr>
              <a:buFont typeface="Wingdings" pitchFamily="2" charset="2"/>
              <a:buNone/>
            </a:pPr>
            <a:r>
              <a:rPr lang="zh-CN" altLang="en-US" sz="2800" b="1">
                <a:solidFill>
                  <a:srgbClr val="003300"/>
                </a:solidFill>
              </a:rPr>
              <a:t>3、奇异值分解的展开形式及其应用 </a:t>
            </a:r>
          </a:p>
          <a:p>
            <a:pPr eaLnBrk="1" hangingPunct="1">
              <a:lnSpc>
                <a:spcPct val="80000"/>
              </a:lnSpc>
              <a:buClr>
                <a:srgbClr val="CC6600"/>
              </a:buClr>
              <a:buFont typeface="Wingdings" pitchFamily="2" charset="2"/>
              <a:buChar char="Ø"/>
            </a:pPr>
            <a:r>
              <a:rPr lang="zh-CN" altLang="en-US" sz="2800" b="1">
                <a:solidFill>
                  <a:srgbClr val="CC6600"/>
                </a:solidFill>
              </a:rPr>
              <a:t>定理3</a:t>
            </a:r>
            <a:r>
              <a:rPr lang="en-US" altLang="zh-CN" i="1">
                <a:solidFill>
                  <a:srgbClr val="CC6600"/>
                </a:solidFill>
                <a:sym typeface="Symbol" pitchFamily="2" charset="2"/>
              </a:rPr>
              <a:t></a:t>
            </a:r>
            <a:r>
              <a:rPr lang="zh-CN" altLang="en-US" sz="2800" b="1">
                <a:solidFill>
                  <a:srgbClr val="CC6600"/>
                </a:solidFill>
              </a:rPr>
              <a:t>15</a:t>
            </a:r>
            <a:r>
              <a:rPr lang="zh-CN" altLang="en-US" sz="2800" b="1">
                <a:solidFill>
                  <a:srgbClr val="003300"/>
                </a:solidFill>
              </a:rPr>
              <a:t>（ </a:t>
            </a:r>
            <a:r>
              <a:rPr lang="en-US" altLang="zh-CN">
                <a:solidFill>
                  <a:srgbClr val="003300"/>
                </a:solidFill>
              </a:rPr>
              <a:t>P</a:t>
            </a:r>
            <a:r>
              <a:rPr lang="en-US" altLang="zh-CN">
                <a:solidFill>
                  <a:srgbClr val="003300"/>
                </a:solidFill>
                <a:sym typeface="Symbol" pitchFamily="2" charset="2"/>
              </a:rPr>
              <a:t></a:t>
            </a:r>
            <a:r>
              <a:rPr lang="en-US" altLang="zh-CN">
                <a:solidFill>
                  <a:srgbClr val="003300"/>
                </a:solidFill>
              </a:rPr>
              <a:t>87）</a:t>
            </a:r>
            <a:r>
              <a:rPr lang="zh-CN" altLang="en-US" sz="2800">
                <a:solidFill>
                  <a:srgbClr val="0000FF"/>
                </a:solidFill>
              </a:rPr>
              <a:t>（由奇异值分解展开得到！）</a:t>
            </a:r>
            <a:endParaRPr lang="zh-CN" altLang="en-US" sz="2800" b="1">
              <a:solidFill>
                <a:srgbClr val="0000FF"/>
              </a:solidFill>
              <a:effectLst>
                <a:outerShdw blurRad="38100" dist="38100" dir="2700000" algn="tl">
                  <a:srgbClr val="C0C0C0"/>
                </a:outerShdw>
              </a:effectLst>
            </a:endParaRPr>
          </a:p>
        </p:txBody>
      </p:sp>
      <p:graphicFrame>
        <p:nvGraphicFramePr>
          <p:cNvPr id="37888" name="Object 0">
            <a:extLst>
              <a:ext uri="{FF2B5EF4-FFF2-40B4-BE49-F238E27FC236}">
                <a16:creationId xmlns:a16="http://schemas.microsoft.com/office/drawing/2014/main" id="{0B2DD437-DA02-BB67-1D7A-3ACF70BAFF03}"/>
              </a:ext>
            </a:extLst>
          </p:cNvPr>
          <p:cNvGraphicFramePr>
            <a:graphicFrameLocks noChangeAspect="1"/>
          </p:cNvGraphicFramePr>
          <p:nvPr/>
        </p:nvGraphicFramePr>
        <p:xfrm>
          <a:off x="1042988" y="5373688"/>
          <a:ext cx="6853237" cy="733425"/>
        </p:xfrm>
        <a:graphic>
          <a:graphicData uri="http://schemas.openxmlformats.org/presentationml/2006/ole">
            <mc:AlternateContent xmlns:mc="http://schemas.openxmlformats.org/markup-compatibility/2006">
              <mc:Choice xmlns:v="urn:schemas-microsoft-com:vml" Requires="v">
                <p:oleObj name="公式" r:id="rId2" imgW="2514600" imgH="266700" progId="Equation.3">
                  <p:embed/>
                </p:oleObj>
              </mc:Choice>
              <mc:Fallback>
                <p:oleObj name="公式" r:id="rId2" imgW="2514600" imgH="266700" progId="Equation.3">
                  <p:embed/>
                  <p:pic>
                    <p:nvPicPr>
                      <p:cNvPr id="0" name="Object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5373688"/>
                        <a:ext cx="6853237" cy="733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34" name="AutoShape 10">
            <a:extLst>
              <a:ext uri="{FF2B5EF4-FFF2-40B4-BE49-F238E27FC236}">
                <a16:creationId xmlns:a16="http://schemas.microsoft.com/office/drawing/2014/main" id="{3F004266-CDDD-D65C-6A97-84732E63AFE2}"/>
              </a:ext>
            </a:extLst>
          </p:cNvPr>
          <p:cNvSpPr>
            <a:spLocks noChangeArrowheads="1"/>
          </p:cNvSpPr>
          <p:nvPr/>
        </p:nvSpPr>
        <p:spPr bwMode="auto">
          <a:xfrm>
            <a:off x="5638800" y="304800"/>
            <a:ext cx="2133600" cy="533400"/>
          </a:xfrm>
          <a:prstGeom prst="wedgeRoundRectCallout">
            <a:avLst>
              <a:gd name="adj1" fmla="val -82292"/>
              <a:gd name="adj2" fmla="val 99106"/>
              <a:gd name="adj3" fmla="val 16667"/>
            </a:avLst>
          </a:prstGeom>
          <a:solidFill>
            <a:schemeClr val="accent1"/>
          </a:solidFill>
          <a:ln w="9525">
            <a:solidFill>
              <a:schemeClr val="accent2"/>
            </a:solidFill>
            <a:miter lim="800000"/>
            <a:headEnd/>
            <a:tailEnd/>
          </a:ln>
        </p:spPr>
        <p:txBody>
          <a:bodyPr/>
          <a:lstStyle>
            <a:lvl1pPr>
              <a:spcBef>
                <a:spcPct val="20000"/>
              </a:spcBef>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itchFamily="2" charset="2"/>
              <a:buBlip>
                <a:blip r:embed="rId5"/>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zh-CN" altLang="en-US" sz="2400" b="1"/>
              <a:t>右奇异向量</a:t>
            </a:r>
          </a:p>
        </p:txBody>
      </p:sp>
      <p:sp>
        <p:nvSpPr>
          <p:cNvPr id="26635" name="AutoShape 11">
            <a:extLst>
              <a:ext uri="{FF2B5EF4-FFF2-40B4-BE49-F238E27FC236}">
                <a16:creationId xmlns:a16="http://schemas.microsoft.com/office/drawing/2014/main" id="{0EC4FAEE-FB2B-32E9-848E-E66BB5E72D74}"/>
              </a:ext>
            </a:extLst>
          </p:cNvPr>
          <p:cNvSpPr>
            <a:spLocks noChangeArrowheads="1"/>
          </p:cNvSpPr>
          <p:nvPr/>
        </p:nvSpPr>
        <p:spPr bwMode="auto">
          <a:xfrm>
            <a:off x="6877050" y="3111500"/>
            <a:ext cx="2133600" cy="533400"/>
          </a:xfrm>
          <a:prstGeom prst="wedgeRoundRectCallout">
            <a:avLst>
              <a:gd name="adj1" fmla="val -130134"/>
              <a:gd name="adj2" fmla="val -40181"/>
              <a:gd name="adj3" fmla="val 16667"/>
            </a:avLst>
          </a:prstGeom>
          <a:solidFill>
            <a:schemeClr val="accent1"/>
          </a:solidFill>
          <a:ln w="9525">
            <a:solidFill>
              <a:schemeClr val="accent2"/>
            </a:solidFill>
            <a:miter lim="800000"/>
            <a:headEnd/>
            <a:tailEnd/>
          </a:ln>
        </p:spPr>
        <p:txBody>
          <a:bodyPr/>
          <a:lstStyle>
            <a:lvl1pPr>
              <a:spcBef>
                <a:spcPct val="20000"/>
              </a:spcBef>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itchFamily="2" charset="2"/>
              <a:buBlip>
                <a:blip r:embed="rId5"/>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zh-CN" altLang="en-US" sz="2400" b="1"/>
              <a:t>左奇异向量</a:t>
            </a:r>
          </a:p>
        </p:txBody>
      </p:sp>
      <p:graphicFrame>
        <p:nvGraphicFramePr>
          <p:cNvPr id="25605" name="Object 5">
            <a:extLst>
              <a:ext uri="{FF2B5EF4-FFF2-40B4-BE49-F238E27FC236}">
                <a16:creationId xmlns:a16="http://schemas.microsoft.com/office/drawing/2014/main" id="{8C2B741F-CC12-D19A-A626-2D58E1C97C20}"/>
              </a:ext>
            </a:extLst>
          </p:cNvPr>
          <p:cNvGraphicFramePr>
            <a:graphicFrameLocks noChangeAspect="1"/>
          </p:cNvGraphicFramePr>
          <p:nvPr/>
        </p:nvGraphicFramePr>
        <p:xfrm>
          <a:off x="5651500" y="3440113"/>
          <a:ext cx="1944688" cy="565150"/>
        </p:xfrm>
        <a:graphic>
          <a:graphicData uri="http://schemas.openxmlformats.org/presentationml/2006/ole">
            <mc:AlternateContent xmlns:mc="http://schemas.openxmlformats.org/markup-compatibility/2006">
              <mc:Choice xmlns:v="urn:schemas-microsoft-com:vml" Requires="v">
                <p:oleObj name="公式" r:id="rId6" imgW="927100" imgH="266700" progId="Equation.3">
                  <p:embed/>
                </p:oleObj>
              </mc:Choice>
              <mc:Fallback>
                <p:oleObj name="公式" r:id="rId6" imgW="927100" imgH="2667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51500" y="3440113"/>
                        <a:ext cx="1944688"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Object 5">
            <a:extLst>
              <a:ext uri="{FF2B5EF4-FFF2-40B4-BE49-F238E27FC236}">
                <a16:creationId xmlns:a16="http://schemas.microsoft.com/office/drawing/2014/main" id="{C35C97AB-8926-F858-B72C-7DDEA932C318}"/>
              </a:ext>
            </a:extLst>
          </p:cNvPr>
          <p:cNvGraphicFramePr>
            <a:graphicFrameLocks noChangeAspect="1"/>
          </p:cNvGraphicFramePr>
          <p:nvPr/>
        </p:nvGraphicFramePr>
        <p:xfrm>
          <a:off x="5940425" y="4232275"/>
          <a:ext cx="1944688" cy="565150"/>
        </p:xfrm>
        <a:graphic>
          <a:graphicData uri="http://schemas.openxmlformats.org/presentationml/2006/ole">
            <mc:AlternateContent xmlns:mc="http://schemas.openxmlformats.org/markup-compatibility/2006">
              <mc:Choice xmlns:v="urn:schemas-microsoft-com:vml" Requires="v">
                <p:oleObj name="公式" r:id="rId8" imgW="927100" imgH="266700" progId="Equation.3">
                  <p:embed/>
                </p:oleObj>
              </mc:Choice>
              <mc:Fallback>
                <p:oleObj name="公式" r:id="rId8" imgW="927100" imgH="2667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40425" y="4232275"/>
                        <a:ext cx="1944688"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6627">
                                            <p:txEl>
                                              <p:pRg st="1" end="1"/>
                                            </p:txEl>
                                          </p:spTgt>
                                        </p:tgtEl>
                                        <p:attrNameLst>
                                          <p:attrName>style.visibility</p:attrName>
                                        </p:attrNameLst>
                                      </p:cBhvr>
                                      <p:to>
                                        <p:strVal val="visible"/>
                                      </p:to>
                                    </p:set>
                                    <p:anim calcmode="lin" valueType="num">
                                      <p:cBhvr additive="base">
                                        <p:cTn id="7" dur="500" fill="hold"/>
                                        <p:tgtEl>
                                          <p:spTgt spid="26627">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66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6634"/>
                                        </p:tgtEl>
                                        <p:attrNameLst>
                                          <p:attrName>style.visibility</p:attrName>
                                        </p:attrNameLst>
                                      </p:cBhvr>
                                      <p:to>
                                        <p:strVal val="visible"/>
                                      </p:to>
                                    </p:set>
                                    <p:anim calcmode="lin" valueType="num">
                                      <p:cBhvr additive="base">
                                        <p:cTn id="13" dur="500" fill="hold"/>
                                        <p:tgtEl>
                                          <p:spTgt spid="26634"/>
                                        </p:tgtEl>
                                        <p:attrNameLst>
                                          <p:attrName>ppt_x</p:attrName>
                                        </p:attrNameLst>
                                      </p:cBhvr>
                                      <p:tavLst>
                                        <p:tav tm="0">
                                          <p:val>
                                            <p:strVal val="0-#ppt_w/2"/>
                                          </p:val>
                                        </p:tav>
                                        <p:tav tm="100000">
                                          <p:val>
                                            <p:strVal val="#ppt_x"/>
                                          </p:val>
                                        </p:tav>
                                      </p:tavLst>
                                    </p:anim>
                                    <p:anim calcmode="lin" valueType="num">
                                      <p:cBhvr additive="base">
                                        <p:cTn id="14" dur="500" fill="hold"/>
                                        <p:tgtEl>
                                          <p:spTgt spid="2663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6627">
                                            <p:txEl>
                                              <p:pRg st="2" end="2"/>
                                            </p:txEl>
                                          </p:spTgt>
                                        </p:tgtEl>
                                        <p:attrNameLst>
                                          <p:attrName>style.visibility</p:attrName>
                                        </p:attrNameLst>
                                      </p:cBhvr>
                                      <p:to>
                                        <p:strVal val="visible"/>
                                      </p:to>
                                    </p:set>
                                    <p:anim calcmode="lin" valueType="num">
                                      <p:cBhvr additive="base">
                                        <p:cTn id="19" dur="500" fill="hold"/>
                                        <p:tgtEl>
                                          <p:spTgt spid="2662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662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6627">
                                            <p:txEl>
                                              <p:pRg st="4" end="4"/>
                                            </p:txEl>
                                          </p:spTgt>
                                        </p:tgtEl>
                                        <p:attrNameLst>
                                          <p:attrName>style.visibility</p:attrName>
                                        </p:attrNameLst>
                                      </p:cBhvr>
                                      <p:to>
                                        <p:strVal val="visible"/>
                                      </p:to>
                                    </p:set>
                                    <p:anim calcmode="lin" valueType="num">
                                      <p:cBhvr additive="base">
                                        <p:cTn id="25" dur="500" fill="hold"/>
                                        <p:tgtEl>
                                          <p:spTgt spid="26627">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662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26635"/>
                                        </p:tgtEl>
                                        <p:attrNameLst>
                                          <p:attrName>style.visibility</p:attrName>
                                        </p:attrNameLst>
                                      </p:cBhvr>
                                      <p:to>
                                        <p:strVal val="visible"/>
                                      </p:to>
                                    </p:set>
                                    <p:anim calcmode="lin" valueType="num">
                                      <p:cBhvr additive="base">
                                        <p:cTn id="31" dur="500" fill="hold"/>
                                        <p:tgtEl>
                                          <p:spTgt spid="26635"/>
                                        </p:tgtEl>
                                        <p:attrNameLst>
                                          <p:attrName>ppt_x</p:attrName>
                                        </p:attrNameLst>
                                      </p:cBhvr>
                                      <p:tavLst>
                                        <p:tav tm="0">
                                          <p:val>
                                            <p:strVal val="0-#ppt_w/2"/>
                                          </p:val>
                                        </p:tav>
                                        <p:tav tm="100000">
                                          <p:val>
                                            <p:strVal val="#ppt_x"/>
                                          </p:val>
                                        </p:tav>
                                      </p:tavLst>
                                    </p:anim>
                                    <p:anim calcmode="lin" valueType="num">
                                      <p:cBhvr additive="base">
                                        <p:cTn id="32" dur="500" fill="hold"/>
                                        <p:tgtEl>
                                          <p:spTgt spid="2663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26627">
                                            <p:txEl>
                                              <p:pRg st="5" end="5"/>
                                            </p:txEl>
                                          </p:spTgt>
                                        </p:tgtEl>
                                        <p:attrNameLst>
                                          <p:attrName>style.visibility</p:attrName>
                                        </p:attrNameLst>
                                      </p:cBhvr>
                                      <p:to>
                                        <p:strVal val="visible"/>
                                      </p:to>
                                    </p:set>
                                    <p:anim calcmode="lin" valueType="num">
                                      <p:cBhvr additive="base">
                                        <p:cTn id="37" dur="500" fill="hold"/>
                                        <p:tgtEl>
                                          <p:spTgt spid="2662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6627">
                                            <p:txEl>
                                              <p:pRg st="5" end="5"/>
                                            </p:txEl>
                                          </p:spTgt>
                                        </p:tgtEl>
                                        <p:attrNameLst>
                                          <p:attrName>ppt_y</p:attrName>
                                        </p:attrNameLst>
                                      </p:cBhvr>
                                      <p:tavLst>
                                        <p:tav tm="0">
                                          <p:val>
                                            <p:strVal val="#ppt_y"/>
                                          </p:val>
                                        </p:tav>
                                        <p:tav tm="100000">
                                          <p:val>
                                            <p:strVal val="#ppt_y"/>
                                          </p:val>
                                        </p:tav>
                                      </p:tavLst>
                                    </p:anim>
                                  </p:childTnLst>
                                </p:cTn>
                              </p:par>
                            </p:childTnLst>
                          </p:cTn>
                        </p:par>
                        <p:par>
                          <p:cTn id="39" fill="hold" nodeType="afterGroup">
                            <p:stCondLst>
                              <p:cond delay="500"/>
                            </p:stCondLst>
                            <p:childTnLst>
                              <p:par>
                                <p:cTn id="40" presetID="2" presetClass="entr" presetSubtype="8" fill="hold" nodeType="afterEffect">
                                  <p:stCondLst>
                                    <p:cond delay="0"/>
                                  </p:stCondLst>
                                  <p:childTnLst>
                                    <p:set>
                                      <p:cBhvr>
                                        <p:cTn id="41" dur="1" fill="hold">
                                          <p:stCondLst>
                                            <p:cond delay="0"/>
                                          </p:stCondLst>
                                        </p:cTn>
                                        <p:tgtEl>
                                          <p:spTgt spid="25605"/>
                                        </p:tgtEl>
                                        <p:attrNameLst>
                                          <p:attrName>style.visibility</p:attrName>
                                        </p:attrNameLst>
                                      </p:cBhvr>
                                      <p:to>
                                        <p:strVal val="visible"/>
                                      </p:to>
                                    </p:set>
                                    <p:anim calcmode="lin" valueType="num">
                                      <p:cBhvr additive="base">
                                        <p:cTn id="42" dur="500" fill="hold"/>
                                        <p:tgtEl>
                                          <p:spTgt spid="25605"/>
                                        </p:tgtEl>
                                        <p:attrNameLst>
                                          <p:attrName>ppt_x</p:attrName>
                                        </p:attrNameLst>
                                      </p:cBhvr>
                                      <p:tavLst>
                                        <p:tav tm="0">
                                          <p:val>
                                            <p:strVal val="0-#ppt_w/2"/>
                                          </p:val>
                                        </p:tav>
                                        <p:tav tm="100000">
                                          <p:val>
                                            <p:strVal val="#ppt_x"/>
                                          </p:val>
                                        </p:tav>
                                      </p:tavLst>
                                    </p:anim>
                                    <p:anim calcmode="lin" valueType="num">
                                      <p:cBhvr additive="base">
                                        <p:cTn id="43" dur="500" fill="hold"/>
                                        <p:tgtEl>
                                          <p:spTgt spid="25605"/>
                                        </p:tgtEl>
                                        <p:attrNameLst>
                                          <p:attrName>ppt_y</p:attrName>
                                        </p:attrNameLst>
                                      </p:cBhvr>
                                      <p:tavLst>
                                        <p:tav tm="0">
                                          <p:val>
                                            <p:strVal val="#ppt_y"/>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8" fill="hold" nodeType="clickEffect">
                                  <p:stCondLst>
                                    <p:cond delay="0"/>
                                  </p:stCondLst>
                                  <p:childTnLst>
                                    <p:set>
                                      <p:cBhvr>
                                        <p:cTn id="47" dur="1" fill="hold">
                                          <p:stCondLst>
                                            <p:cond delay="0"/>
                                          </p:stCondLst>
                                        </p:cTn>
                                        <p:tgtEl>
                                          <p:spTgt spid="26627">
                                            <p:txEl>
                                              <p:pRg st="7" end="7"/>
                                            </p:txEl>
                                          </p:spTgt>
                                        </p:tgtEl>
                                        <p:attrNameLst>
                                          <p:attrName>style.visibility</p:attrName>
                                        </p:attrNameLst>
                                      </p:cBhvr>
                                      <p:to>
                                        <p:strVal val="visible"/>
                                      </p:to>
                                    </p:set>
                                    <p:anim calcmode="lin" valueType="num">
                                      <p:cBhvr additive="base">
                                        <p:cTn id="48" dur="500" fill="hold"/>
                                        <p:tgtEl>
                                          <p:spTgt spid="26627">
                                            <p:txEl>
                                              <p:pRg st="7" end="7"/>
                                            </p:txEl>
                                          </p:spTgt>
                                        </p:tgtEl>
                                        <p:attrNameLst>
                                          <p:attrName>ppt_x</p:attrName>
                                        </p:attrNameLst>
                                      </p:cBhvr>
                                      <p:tavLst>
                                        <p:tav tm="0">
                                          <p:val>
                                            <p:strVal val="0-#ppt_w/2"/>
                                          </p:val>
                                        </p:tav>
                                        <p:tav tm="100000">
                                          <p:val>
                                            <p:strVal val="#ppt_x"/>
                                          </p:val>
                                        </p:tav>
                                      </p:tavLst>
                                    </p:anim>
                                    <p:anim calcmode="lin" valueType="num">
                                      <p:cBhvr additive="base">
                                        <p:cTn id="49" dur="500" fill="hold"/>
                                        <p:tgtEl>
                                          <p:spTgt spid="2662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 presetClass="entr" presetSubtype="8" fill="hold" nodeType="clickEffect">
                                  <p:stCondLst>
                                    <p:cond delay="0"/>
                                  </p:stCondLst>
                                  <p:childTnLst>
                                    <p:set>
                                      <p:cBhvr>
                                        <p:cTn id="53" dur="1" fill="hold">
                                          <p:stCondLst>
                                            <p:cond delay="0"/>
                                          </p:stCondLst>
                                        </p:cTn>
                                        <p:tgtEl>
                                          <p:spTgt spid="26627">
                                            <p:txEl>
                                              <p:pRg st="8" end="8"/>
                                            </p:txEl>
                                          </p:spTgt>
                                        </p:tgtEl>
                                        <p:attrNameLst>
                                          <p:attrName>style.visibility</p:attrName>
                                        </p:attrNameLst>
                                      </p:cBhvr>
                                      <p:to>
                                        <p:strVal val="visible"/>
                                      </p:to>
                                    </p:set>
                                    <p:anim calcmode="lin" valueType="num">
                                      <p:cBhvr additive="base">
                                        <p:cTn id="54" dur="500" fill="hold"/>
                                        <p:tgtEl>
                                          <p:spTgt spid="26627">
                                            <p:txEl>
                                              <p:pRg st="8" end="8"/>
                                            </p:txEl>
                                          </p:spTgt>
                                        </p:tgtEl>
                                        <p:attrNameLst>
                                          <p:attrName>ppt_x</p:attrName>
                                        </p:attrNameLst>
                                      </p:cBhvr>
                                      <p:tavLst>
                                        <p:tav tm="0">
                                          <p:val>
                                            <p:strVal val="0-#ppt_w/2"/>
                                          </p:val>
                                        </p:tav>
                                        <p:tav tm="100000">
                                          <p:val>
                                            <p:strVal val="#ppt_x"/>
                                          </p:val>
                                        </p:tav>
                                      </p:tavLst>
                                    </p:anim>
                                    <p:anim calcmode="lin" valueType="num">
                                      <p:cBhvr additive="base">
                                        <p:cTn id="55" dur="500" fill="hold"/>
                                        <p:tgtEl>
                                          <p:spTgt spid="26627">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2" presetClass="entr" presetSubtype="8" fill="hold" nodeType="clickEffect">
                                  <p:stCondLst>
                                    <p:cond delay="0"/>
                                  </p:stCondLst>
                                  <p:childTnLst>
                                    <p:set>
                                      <p:cBhvr>
                                        <p:cTn id="59" dur="1" fill="hold">
                                          <p:stCondLst>
                                            <p:cond delay="0"/>
                                          </p:stCondLst>
                                        </p:cTn>
                                        <p:tgtEl>
                                          <p:spTgt spid="2"/>
                                        </p:tgtEl>
                                        <p:attrNameLst>
                                          <p:attrName>style.visibility</p:attrName>
                                        </p:attrNameLst>
                                      </p:cBhvr>
                                      <p:to>
                                        <p:strVal val="visible"/>
                                      </p:to>
                                    </p:set>
                                    <p:anim calcmode="lin" valueType="num">
                                      <p:cBhvr additive="base">
                                        <p:cTn id="60" dur="500" fill="hold"/>
                                        <p:tgtEl>
                                          <p:spTgt spid="2"/>
                                        </p:tgtEl>
                                        <p:attrNameLst>
                                          <p:attrName>ppt_x</p:attrName>
                                        </p:attrNameLst>
                                      </p:cBhvr>
                                      <p:tavLst>
                                        <p:tav tm="0">
                                          <p:val>
                                            <p:strVal val="0-#ppt_w/2"/>
                                          </p:val>
                                        </p:tav>
                                        <p:tav tm="100000">
                                          <p:val>
                                            <p:strVal val="#ppt_x"/>
                                          </p:val>
                                        </p:tav>
                                      </p:tavLst>
                                    </p:anim>
                                    <p:anim calcmode="lin" valueType="num">
                                      <p:cBhvr additive="base">
                                        <p:cTn id="61"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2" presetClass="entr" presetSubtype="8" fill="hold" nodeType="clickEffect">
                                  <p:stCondLst>
                                    <p:cond delay="0"/>
                                  </p:stCondLst>
                                  <p:childTnLst>
                                    <p:set>
                                      <p:cBhvr>
                                        <p:cTn id="65" dur="1" fill="hold">
                                          <p:stCondLst>
                                            <p:cond delay="0"/>
                                          </p:stCondLst>
                                        </p:cTn>
                                        <p:tgtEl>
                                          <p:spTgt spid="37888"/>
                                        </p:tgtEl>
                                        <p:attrNameLst>
                                          <p:attrName>style.visibility</p:attrName>
                                        </p:attrNameLst>
                                      </p:cBhvr>
                                      <p:to>
                                        <p:strVal val="visible"/>
                                      </p:to>
                                    </p:set>
                                    <p:anim calcmode="lin" valueType="num">
                                      <p:cBhvr additive="base">
                                        <p:cTn id="66" dur="500" fill="hold"/>
                                        <p:tgtEl>
                                          <p:spTgt spid="37888"/>
                                        </p:tgtEl>
                                        <p:attrNameLst>
                                          <p:attrName>ppt_x</p:attrName>
                                        </p:attrNameLst>
                                      </p:cBhvr>
                                      <p:tavLst>
                                        <p:tav tm="0">
                                          <p:val>
                                            <p:strVal val="0-#ppt_w/2"/>
                                          </p:val>
                                        </p:tav>
                                        <p:tav tm="100000">
                                          <p:val>
                                            <p:strVal val="#ppt_x"/>
                                          </p:val>
                                        </p:tav>
                                      </p:tavLst>
                                    </p:anim>
                                    <p:anim calcmode="lin" valueType="num">
                                      <p:cBhvr additive="base">
                                        <p:cTn id="67" dur="500" fill="hold"/>
                                        <p:tgtEl>
                                          <p:spTgt spid="378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uiExpand="1" build="p" bldLvl="3" autoUpdateAnimBg="0"/>
      <p:bldP spid="26634" grpId="0" animBg="1" autoUpdateAnimBg="0"/>
      <p:bldP spid="26635"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1AFF7AF5-9F1A-44C7-9CDB-9CAF2A449826}"/>
              </a:ext>
            </a:extLst>
          </p:cNvPr>
          <p:cNvSpPr>
            <a:spLocks noGrp="1" noChangeArrowheads="1"/>
          </p:cNvSpPr>
          <p:nvPr>
            <p:ph type="title"/>
          </p:nvPr>
        </p:nvSpPr>
        <p:spPr>
          <a:xfrm>
            <a:off x="533400" y="0"/>
            <a:ext cx="8610600" cy="838200"/>
          </a:xfrm>
        </p:spPr>
        <p:txBody>
          <a:bodyPr/>
          <a:lstStyle/>
          <a:p>
            <a:pPr eaLnBrk="1" hangingPunct="1"/>
            <a:r>
              <a:rPr lang="zh-CN" altLang="en-US" sz="3200" b="1">
                <a:solidFill>
                  <a:srgbClr val="429335"/>
                </a:solidFill>
                <a:effectLst>
                  <a:outerShdw blurRad="38100" dist="38100" dir="2700000" algn="tl">
                    <a:srgbClr val="C0C0C0"/>
                  </a:outerShdw>
                </a:effectLst>
              </a:rPr>
              <a:t>例题</a:t>
            </a:r>
            <a:r>
              <a:rPr lang="zh-CN" altLang="en-US" sz="3200">
                <a:solidFill>
                  <a:srgbClr val="429335"/>
                </a:solidFill>
              </a:rPr>
              <a:t>：</a:t>
            </a:r>
            <a:r>
              <a:rPr lang="zh-CN" altLang="en-US" sz="3200" b="1">
                <a:solidFill>
                  <a:srgbClr val="CC6600"/>
                </a:solidFill>
                <a:effectLst>
                  <a:outerShdw blurRad="38100" dist="38100" dir="2700000" algn="tl">
                    <a:srgbClr val="C0C0C0"/>
                  </a:outerShdw>
                </a:effectLst>
              </a:rPr>
              <a:t>图像的数字化技术与矩阵的奇异值分解</a:t>
            </a:r>
            <a:r>
              <a:rPr lang="zh-CN" altLang="en-US"/>
              <a:t> </a:t>
            </a:r>
          </a:p>
        </p:txBody>
      </p:sp>
      <p:sp>
        <p:nvSpPr>
          <p:cNvPr id="30723" name="Rectangle 3">
            <a:extLst>
              <a:ext uri="{FF2B5EF4-FFF2-40B4-BE49-F238E27FC236}">
                <a16:creationId xmlns:a16="http://schemas.microsoft.com/office/drawing/2014/main" id="{D15B8755-D59B-316F-7067-4A19B073EABE}"/>
              </a:ext>
            </a:extLst>
          </p:cNvPr>
          <p:cNvSpPr>
            <a:spLocks noGrp="1" noChangeArrowheads="1"/>
          </p:cNvSpPr>
          <p:nvPr>
            <p:ph type="body" idx="1"/>
          </p:nvPr>
        </p:nvSpPr>
        <p:spPr>
          <a:xfrm>
            <a:off x="533400" y="990600"/>
            <a:ext cx="7921625" cy="5257800"/>
          </a:xfrm>
        </p:spPr>
        <p:txBody>
          <a:bodyPr/>
          <a:lstStyle/>
          <a:p>
            <a:pPr eaLnBrk="1" hangingPunct="1"/>
            <a:r>
              <a:rPr lang="zh-CN" altLang="en-US" sz="2800" b="1">
                <a:solidFill>
                  <a:srgbClr val="003300"/>
                </a:solidFill>
              </a:rPr>
              <a:t>计算机处理图像技术的第一步是图像的数字化存储技术，即将图像转换成矩阵来存储。</a:t>
            </a:r>
          </a:p>
          <a:p>
            <a:pPr eaLnBrk="1" hangingPunct="1"/>
            <a:r>
              <a:rPr lang="zh-CN" altLang="en-US" sz="2800" b="1">
                <a:solidFill>
                  <a:srgbClr val="003300"/>
                </a:solidFill>
              </a:rPr>
              <a:t>转换的原理是将图形分解成象素（</a:t>
            </a:r>
            <a:r>
              <a:rPr lang="en-US" altLang="zh-CN" sz="2800" b="1">
                <a:solidFill>
                  <a:srgbClr val="003300"/>
                </a:solidFill>
              </a:rPr>
              <a:t>pixels）</a:t>
            </a:r>
            <a:r>
              <a:rPr lang="zh-CN" altLang="en-US" sz="2800" b="1">
                <a:solidFill>
                  <a:srgbClr val="003300"/>
                </a:solidFill>
              </a:rPr>
              <a:t>的一个矩形的数阵，其中的信息就可以用一个矩阵</a:t>
            </a:r>
            <a:r>
              <a:rPr lang="en-US" altLang="zh-CN" sz="2800" b="1">
                <a:solidFill>
                  <a:srgbClr val="003300"/>
                </a:solidFill>
              </a:rPr>
              <a:t>A = (</a:t>
            </a:r>
            <a:r>
              <a:rPr lang="en-US" altLang="zh-CN" sz="2800" b="1" i="1">
                <a:solidFill>
                  <a:srgbClr val="003300"/>
                </a:solidFill>
              </a:rPr>
              <a:t>a</a:t>
            </a:r>
            <a:r>
              <a:rPr lang="en-US" altLang="zh-CN" sz="2800" b="1" i="1" baseline="-30000">
                <a:solidFill>
                  <a:srgbClr val="003300"/>
                </a:solidFill>
              </a:rPr>
              <a:t>ij</a:t>
            </a:r>
            <a:r>
              <a:rPr lang="en-US" altLang="zh-CN" sz="2800" b="1">
                <a:solidFill>
                  <a:srgbClr val="003300"/>
                </a:solidFill>
              </a:rPr>
              <a:t>)</a:t>
            </a:r>
            <a:r>
              <a:rPr lang="en-US" altLang="zh-CN" sz="2800" b="1" baseline="-30000">
                <a:solidFill>
                  <a:srgbClr val="003300"/>
                </a:solidFill>
              </a:rPr>
              <a:t>m×n</a:t>
            </a:r>
            <a:r>
              <a:rPr lang="zh-CN" altLang="en-US" sz="2800" b="1">
                <a:solidFill>
                  <a:srgbClr val="003300"/>
                </a:solidFill>
              </a:rPr>
              <a:t>来存储。矩阵</a:t>
            </a:r>
            <a:r>
              <a:rPr lang="en-US" altLang="zh-CN" sz="2800" b="1">
                <a:solidFill>
                  <a:srgbClr val="003300"/>
                </a:solidFill>
              </a:rPr>
              <a:t>A</a:t>
            </a:r>
            <a:r>
              <a:rPr lang="zh-CN" altLang="en-US" sz="2800" b="1">
                <a:solidFill>
                  <a:srgbClr val="003300"/>
                </a:solidFill>
              </a:rPr>
              <a:t>的元素</a:t>
            </a:r>
            <a:r>
              <a:rPr lang="en-US" altLang="zh-CN" sz="2800" b="1" i="1">
                <a:solidFill>
                  <a:srgbClr val="003300"/>
                </a:solidFill>
              </a:rPr>
              <a:t>a</a:t>
            </a:r>
            <a:r>
              <a:rPr lang="en-US" altLang="zh-CN" sz="2800" b="1" i="1" baseline="-30000">
                <a:solidFill>
                  <a:srgbClr val="003300"/>
                </a:solidFill>
              </a:rPr>
              <a:t>ij</a:t>
            </a:r>
            <a:r>
              <a:rPr lang="zh-CN" altLang="en-US" sz="2800" b="1">
                <a:solidFill>
                  <a:srgbClr val="003300"/>
                </a:solidFill>
              </a:rPr>
              <a:t>是一个正的数，它相应于象素的灰度水平（</a:t>
            </a:r>
            <a:r>
              <a:rPr lang="en-US" altLang="zh-CN" sz="2800" b="1">
                <a:solidFill>
                  <a:srgbClr val="003300"/>
                </a:solidFill>
              </a:rPr>
              <a:t>gray level） </a:t>
            </a:r>
            <a:r>
              <a:rPr lang="zh-CN" altLang="en-US" sz="2800" b="1">
                <a:solidFill>
                  <a:srgbClr val="003300"/>
                </a:solidFill>
              </a:rPr>
              <a:t>的度量值。</a:t>
            </a:r>
          </a:p>
          <a:p>
            <a:pPr eaLnBrk="1" hangingPunct="1"/>
            <a:r>
              <a:rPr lang="zh-CN" altLang="en-US" sz="2800" b="1">
                <a:solidFill>
                  <a:srgbClr val="003300"/>
                </a:solidFill>
              </a:rPr>
              <a:t>由于一般来讲，相邻的象素会产生相近的灰度水平值，因此有可能在满足图像清晰度要求的条件下，将存储一个</a:t>
            </a:r>
            <a:r>
              <a:rPr lang="en-US" altLang="zh-CN" sz="2800" b="1">
                <a:solidFill>
                  <a:srgbClr val="003300"/>
                </a:solidFill>
              </a:rPr>
              <a:t>m×n</a:t>
            </a:r>
            <a:r>
              <a:rPr lang="zh-CN" altLang="en-US" sz="2800" b="1">
                <a:solidFill>
                  <a:srgbClr val="003300"/>
                </a:solidFill>
              </a:rPr>
              <a:t>阶矩阵需要存储的</a:t>
            </a:r>
            <a:r>
              <a:rPr lang="en-US" altLang="zh-CN" sz="2800" b="1">
                <a:solidFill>
                  <a:srgbClr val="003300"/>
                </a:solidFill>
              </a:rPr>
              <a:t>m×n</a:t>
            </a:r>
            <a:r>
              <a:rPr lang="zh-CN" altLang="en-US" sz="2800" b="1">
                <a:solidFill>
                  <a:srgbClr val="003300"/>
                </a:solidFill>
              </a:rPr>
              <a:t>个数减少到</a:t>
            </a:r>
            <a:r>
              <a:rPr lang="en-US" altLang="zh-CN" sz="2800" b="1">
                <a:solidFill>
                  <a:srgbClr val="003300"/>
                </a:solidFill>
              </a:rPr>
              <a:t>n+m+1</a:t>
            </a:r>
            <a:r>
              <a:rPr lang="zh-CN" altLang="en-US" sz="2800" b="1">
                <a:solidFill>
                  <a:srgbClr val="003300"/>
                </a:solidFill>
              </a:rPr>
              <a:t>的一个倍数。</a:t>
            </a:r>
            <a:r>
              <a:rPr lang="zh-CN" altLang="en-US" sz="28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 calcmode="lin" valueType="num">
                                      <p:cBhvr additive="base">
                                        <p:cTn id="7" dur="500" fill="hold"/>
                                        <p:tgtEl>
                                          <p:spTgt spid="307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7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0723">
                                            <p:txEl>
                                              <p:pRg st="1" end="1"/>
                                            </p:txEl>
                                          </p:spTgt>
                                        </p:tgtEl>
                                        <p:attrNameLst>
                                          <p:attrName>style.visibility</p:attrName>
                                        </p:attrNameLst>
                                      </p:cBhvr>
                                      <p:to>
                                        <p:strVal val="visible"/>
                                      </p:to>
                                    </p:set>
                                    <p:anim calcmode="lin" valueType="num">
                                      <p:cBhvr additive="base">
                                        <p:cTn id="13" dur="500" fill="hold"/>
                                        <p:tgtEl>
                                          <p:spTgt spid="307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07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0723">
                                            <p:txEl>
                                              <p:pRg st="2" end="2"/>
                                            </p:txEl>
                                          </p:spTgt>
                                        </p:tgtEl>
                                        <p:attrNameLst>
                                          <p:attrName>style.visibility</p:attrName>
                                        </p:attrNameLst>
                                      </p:cBhvr>
                                      <p:to>
                                        <p:strVal val="visible"/>
                                      </p:to>
                                    </p:set>
                                    <p:anim calcmode="lin" valueType="num">
                                      <p:cBhvr additive="base">
                                        <p:cTn id="19" dur="500" fill="hold"/>
                                        <p:tgtEl>
                                          <p:spTgt spid="3072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072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9699" name="Rectangle 3">
            <a:extLst>
              <a:ext uri="{FF2B5EF4-FFF2-40B4-BE49-F238E27FC236}">
                <a16:creationId xmlns:a16="http://schemas.microsoft.com/office/drawing/2014/main" id="{CE7179F9-6BD1-E1A8-1072-6C424987F531}"/>
              </a:ext>
            </a:extLst>
          </p:cNvPr>
          <p:cNvSpPr>
            <a:spLocks noGrp="1" noChangeArrowheads="1"/>
          </p:cNvSpPr>
          <p:nvPr>
            <p:ph type="body" idx="1"/>
          </p:nvPr>
        </p:nvSpPr>
        <p:spPr>
          <a:xfrm>
            <a:off x="457200" y="371475"/>
            <a:ext cx="8153400" cy="1752600"/>
          </a:xfrm>
        </p:spPr>
        <p:txBody>
          <a:bodyPr/>
          <a:lstStyle/>
          <a:p>
            <a:pPr algn="just" eaLnBrk="1" hangingPunct="1"/>
            <a:r>
              <a:rPr lang="zh-CN" altLang="en-US" sz="2800" b="1">
                <a:solidFill>
                  <a:srgbClr val="003300"/>
                </a:solidFill>
              </a:rPr>
              <a:t>压缩数字化图形存储量的方法主要是应用矩阵的奇异值分解和矩阵范数下的逼近。如果图象的数字矩阵</a:t>
            </a:r>
            <a:r>
              <a:rPr lang="en-US" altLang="zh-CN" sz="2800" b="1">
                <a:solidFill>
                  <a:srgbClr val="003300"/>
                </a:solidFill>
              </a:rPr>
              <a:t>A</a:t>
            </a:r>
            <a:r>
              <a:rPr lang="zh-CN" altLang="en-US" sz="2800" b="1">
                <a:solidFill>
                  <a:srgbClr val="003300"/>
                </a:solidFill>
              </a:rPr>
              <a:t>的奇异值分解为：</a:t>
            </a:r>
            <a:r>
              <a:rPr lang="en-US" altLang="zh-CN" sz="2800" b="1">
                <a:solidFill>
                  <a:srgbClr val="003300"/>
                </a:solidFill>
              </a:rPr>
              <a:t>A=U</a:t>
            </a:r>
            <a:r>
              <a:rPr lang="en-US" altLang="zh-CN" sz="2800" b="1">
                <a:solidFill>
                  <a:srgbClr val="003300"/>
                </a:solidFill>
                <a:sym typeface="Symbol" pitchFamily="2" charset="2"/>
              </a:rPr>
              <a:t></a:t>
            </a:r>
            <a:r>
              <a:rPr lang="en-US" altLang="zh-CN" sz="2800" b="1">
                <a:solidFill>
                  <a:srgbClr val="003300"/>
                </a:solidFill>
              </a:rPr>
              <a:t>V</a:t>
            </a:r>
            <a:r>
              <a:rPr lang="en-US" altLang="zh-CN" sz="2800" b="1" baseline="30000">
                <a:solidFill>
                  <a:srgbClr val="003300"/>
                </a:solidFill>
              </a:rPr>
              <a:t>T</a:t>
            </a:r>
            <a:r>
              <a:rPr lang="en-US" altLang="zh-CN" sz="2800" b="1">
                <a:solidFill>
                  <a:srgbClr val="003300"/>
                </a:solidFill>
              </a:rPr>
              <a:t>，</a:t>
            </a:r>
            <a:r>
              <a:rPr lang="zh-CN" altLang="en-US" sz="2800" b="1">
                <a:solidFill>
                  <a:srgbClr val="003300"/>
                </a:solidFill>
              </a:rPr>
              <a:t>其展开式：</a:t>
            </a:r>
          </a:p>
          <a:p>
            <a:pPr eaLnBrk="1" hangingPunct="1">
              <a:lnSpc>
                <a:spcPct val="90000"/>
              </a:lnSpc>
            </a:pPr>
            <a:endParaRPr lang="zh-CN" altLang="en-US" b="1">
              <a:solidFill>
                <a:srgbClr val="003300"/>
              </a:solidFill>
            </a:endParaRPr>
          </a:p>
        </p:txBody>
      </p:sp>
      <p:sp>
        <p:nvSpPr>
          <p:cNvPr id="29702" name="Rectangle 6">
            <a:extLst>
              <a:ext uri="{FF2B5EF4-FFF2-40B4-BE49-F238E27FC236}">
                <a16:creationId xmlns:a16="http://schemas.microsoft.com/office/drawing/2014/main" id="{8DF2419F-A50C-49FD-BAF2-57632E5858F0}"/>
              </a:ext>
            </a:extLst>
          </p:cNvPr>
          <p:cNvSpPr>
            <a:spLocks noChangeArrowheads="1"/>
          </p:cNvSpPr>
          <p:nvPr/>
        </p:nvSpPr>
        <p:spPr bwMode="auto">
          <a:xfrm>
            <a:off x="404813" y="2733675"/>
            <a:ext cx="8559800" cy="1416050"/>
          </a:xfrm>
          <a:prstGeom prst="rect">
            <a:avLst/>
          </a:prstGeom>
          <a:noFill/>
          <a:ln w="9525">
            <a:noFill/>
            <a:miter lim="800000"/>
            <a:headEnd/>
            <a:tailEnd/>
          </a:ln>
          <a:effectLst/>
        </p:spPr>
        <p:txBody>
          <a:bodyPr>
            <a:spAutoFit/>
          </a:bodyPr>
          <a:lstStyle>
            <a:lvl1pPr>
              <a:spcBef>
                <a:spcPct val="20000"/>
              </a:spcBef>
              <a:buBlip>
                <a:blip r:embed="rId2"/>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solidFill>
                  <a:srgbClr val="003300"/>
                </a:solidFill>
                <a:effectLst>
                  <a:outerShdw blurRad="38100" dist="38100" dir="2700000" algn="tl">
                    <a:srgbClr val="C0C0C0"/>
                  </a:outerShdw>
                </a:effectLst>
              </a:rPr>
              <a:t> </a:t>
            </a:r>
            <a:r>
              <a:rPr lang="zh-CN" altLang="en-US" sz="2800" b="1">
                <a:solidFill>
                  <a:srgbClr val="003300"/>
                </a:solidFill>
              </a:rPr>
              <a:t>压缩矩阵</a:t>
            </a:r>
            <a:r>
              <a:rPr lang="en-US" altLang="zh-CN" sz="2800" b="1">
                <a:solidFill>
                  <a:srgbClr val="003300"/>
                </a:solidFill>
              </a:rPr>
              <a:t>A</a:t>
            </a:r>
            <a:r>
              <a:rPr lang="zh-CN" altLang="en-US" sz="2800" b="1">
                <a:solidFill>
                  <a:srgbClr val="003300"/>
                </a:solidFill>
              </a:rPr>
              <a:t>的方法是取一个秩为</a:t>
            </a:r>
            <a:r>
              <a:rPr lang="en-US" altLang="zh-CN" sz="2800" b="1" i="1">
                <a:solidFill>
                  <a:srgbClr val="003300"/>
                </a:solidFill>
              </a:rPr>
              <a:t>k</a:t>
            </a:r>
            <a:r>
              <a:rPr lang="en-US" altLang="zh-CN" sz="2800" b="1">
                <a:solidFill>
                  <a:srgbClr val="003300"/>
                </a:solidFill>
              </a:rPr>
              <a:t>（</a:t>
            </a:r>
            <a:r>
              <a:rPr lang="en-US" altLang="zh-CN" sz="2800" b="1" i="1">
                <a:solidFill>
                  <a:srgbClr val="003300"/>
                </a:solidFill>
              </a:rPr>
              <a:t>k</a:t>
            </a:r>
            <a:r>
              <a:rPr lang="en-US" altLang="zh-CN" sz="2800" b="1">
                <a:solidFill>
                  <a:srgbClr val="003300"/>
                </a:solidFill>
                <a:sym typeface="Symbol" pitchFamily="2" charset="2"/>
              </a:rPr>
              <a:t></a:t>
            </a:r>
            <a:r>
              <a:rPr lang="en-US" altLang="zh-CN" sz="2800" b="1" i="1">
                <a:solidFill>
                  <a:srgbClr val="003300"/>
                </a:solidFill>
              </a:rPr>
              <a:t>r</a:t>
            </a:r>
            <a:r>
              <a:rPr lang="en-US" altLang="zh-CN" sz="2800" b="1">
                <a:solidFill>
                  <a:srgbClr val="003300"/>
                </a:solidFill>
              </a:rPr>
              <a:t>）</a:t>
            </a:r>
            <a:r>
              <a:rPr lang="zh-CN" altLang="en-US" sz="2800" b="1">
                <a:solidFill>
                  <a:srgbClr val="003300"/>
                </a:solidFill>
              </a:rPr>
              <a:t>的矩阵</a:t>
            </a:r>
            <a:r>
              <a:rPr lang="en-US" altLang="zh-CN" sz="2800" b="1">
                <a:solidFill>
                  <a:srgbClr val="003300"/>
                </a:solidFill>
              </a:rPr>
              <a:t>A</a:t>
            </a:r>
            <a:r>
              <a:rPr lang="en-US" altLang="zh-CN" sz="2800" b="1" i="1" baseline="-30000">
                <a:solidFill>
                  <a:srgbClr val="003300"/>
                </a:solidFill>
              </a:rPr>
              <a:t>k</a:t>
            </a:r>
            <a:r>
              <a:rPr lang="en-US" altLang="zh-CN" sz="2800" b="1" baseline="-30000">
                <a:solidFill>
                  <a:srgbClr val="003300"/>
                </a:solidFill>
              </a:rPr>
              <a:t> </a:t>
            </a:r>
            <a:r>
              <a:rPr lang="zh-CN" altLang="en-US" sz="2800" b="1">
                <a:solidFill>
                  <a:srgbClr val="003300"/>
                </a:solidFill>
              </a:rPr>
              <a:t>来逼近矩阵</a:t>
            </a:r>
            <a:r>
              <a:rPr lang="en-US" altLang="zh-CN" sz="2800" b="1">
                <a:solidFill>
                  <a:srgbClr val="003300"/>
                </a:solidFill>
              </a:rPr>
              <a:t>A。</a:t>
            </a:r>
          </a:p>
          <a:p>
            <a:pPr eaLnBrk="1" hangingPunct="1">
              <a:lnSpc>
                <a:spcPct val="90000"/>
              </a:lnSpc>
            </a:pPr>
            <a:r>
              <a:rPr lang="en-US" altLang="zh-CN" sz="2800" b="1">
                <a:solidFill>
                  <a:srgbClr val="003300"/>
                </a:solidFill>
              </a:rPr>
              <a:t> A</a:t>
            </a:r>
            <a:r>
              <a:rPr lang="en-US" altLang="zh-CN" sz="2800" b="1" i="1" baseline="-30000">
                <a:solidFill>
                  <a:srgbClr val="003300"/>
                </a:solidFill>
              </a:rPr>
              <a:t>k</a:t>
            </a:r>
            <a:r>
              <a:rPr lang="zh-CN" altLang="en-US" sz="2800" b="1">
                <a:solidFill>
                  <a:srgbClr val="003300"/>
                </a:solidFill>
              </a:rPr>
              <a:t>按如下方法选取：</a:t>
            </a:r>
          </a:p>
        </p:txBody>
      </p:sp>
      <p:graphicFrame>
        <p:nvGraphicFramePr>
          <p:cNvPr id="29703" name="Object 7">
            <a:extLst>
              <a:ext uri="{FF2B5EF4-FFF2-40B4-BE49-F238E27FC236}">
                <a16:creationId xmlns:a16="http://schemas.microsoft.com/office/drawing/2014/main" id="{0D049CCD-92A1-248D-8DA9-CD6A82F0EC8E}"/>
              </a:ext>
            </a:extLst>
          </p:cNvPr>
          <p:cNvGraphicFramePr>
            <a:graphicFrameLocks noChangeAspect="1"/>
          </p:cNvGraphicFramePr>
          <p:nvPr/>
        </p:nvGraphicFramePr>
        <p:xfrm>
          <a:off x="1106488" y="1758950"/>
          <a:ext cx="6853237" cy="733425"/>
        </p:xfrm>
        <a:graphic>
          <a:graphicData uri="http://schemas.openxmlformats.org/presentationml/2006/ole">
            <mc:AlternateContent xmlns:mc="http://schemas.openxmlformats.org/markup-compatibility/2006">
              <mc:Choice xmlns:v="urn:schemas-microsoft-com:vml" Requires="v">
                <p:oleObj name="公式" r:id="rId4" imgW="2514600" imgH="266700" progId="Equation.3">
                  <p:embed/>
                </p:oleObj>
              </mc:Choice>
              <mc:Fallback>
                <p:oleObj name="公式" r:id="rId4" imgW="2514600" imgH="2667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6488" y="1758950"/>
                        <a:ext cx="6853237" cy="733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04" name="Object 8">
            <a:extLst>
              <a:ext uri="{FF2B5EF4-FFF2-40B4-BE49-F238E27FC236}">
                <a16:creationId xmlns:a16="http://schemas.microsoft.com/office/drawing/2014/main" id="{26016735-3605-E5A1-A481-99B7D05C4054}"/>
              </a:ext>
            </a:extLst>
          </p:cNvPr>
          <p:cNvGraphicFramePr>
            <a:graphicFrameLocks noChangeAspect="1"/>
          </p:cNvGraphicFramePr>
          <p:nvPr/>
        </p:nvGraphicFramePr>
        <p:xfrm>
          <a:off x="1150938" y="4148138"/>
          <a:ext cx="6176962" cy="676275"/>
        </p:xfrm>
        <a:graphic>
          <a:graphicData uri="http://schemas.openxmlformats.org/presentationml/2006/ole">
            <mc:AlternateContent xmlns:mc="http://schemas.openxmlformats.org/markup-compatibility/2006">
              <mc:Choice xmlns:v="urn:schemas-microsoft-com:vml" Requires="v">
                <p:oleObj name="公式" r:id="rId6" imgW="2590800" imgH="279400" progId="Equation.3">
                  <p:embed/>
                </p:oleObj>
              </mc:Choice>
              <mc:Fallback>
                <p:oleObj name="公式" r:id="rId6" imgW="2590800" imgH="2794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0938" y="4148138"/>
                        <a:ext cx="6176962" cy="676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05" name="Text Box 9">
            <a:extLst>
              <a:ext uri="{FF2B5EF4-FFF2-40B4-BE49-F238E27FC236}">
                <a16:creationId xmlns:a16="http://schemas.microsoft.com/office/drawing/2014/main" id="{B94105BF-ABBB-443D-A826-39319C94AC56}"/>
              </a:ext>
            </a:extLst>
          </p:cNvPr>
          <p:cNvSpPr txBox="1">
            <a:spLocks noChangeArrowheads="1"/>
          </p:cNvSpPr>
          <p:nvPr/>
        </p:nvSpPr>
        <p:spPr bwMode="auto">
          <a:xfrm>
            <a:off x="533400" y="4905375"/>
            <a:ext cx="8305800" cy="1187450"/>
          </a:xfrm>
          <a:prstGeom prst="rect">
            <a:avLst/>
          </a:prstGeom>
          <a:noFill/>
          <a:ln w="9525">
            <a:noFill/>
            <a:miter lim="800000"/>
            <a:headEnd/>
            <a:tailEnd/>
          </a:ln>
          <a:effectLst/>
        </p:spPr>
        <p:txBody>
          <a:bodyPr>
            <a:spAutoFit/>
          </a:bodyPr>
          <a:lstStyle>
            <a:lvl1pPr>
              <a:spcBef>
                <a:spcPct val="20000"/>
              </a:spcBef>
              <a:buBlip>
                <a:blip r:embed="rId2"/>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Font typeface="Wingdings" pitchFamily="2" charset="2"/>
              <a:buChar char="s"/>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buClr>
                <a:srgbClr val="CC6600"/>
              </a:buClr>
              <a:buFont typeface="Wingdings" pitchFamily="2" charset="2"/>
              <a:buChar char="Ø"/>
            </a:pPr>
            <a:r>
              <a:rPr lang="zh-CN" altLang="en-US" sz="2400" b="1">
                <a:solidFill>
                  <a:srgbClr val="003300"/>
                </a:solidFill>
                <a:effectLst>
                  <a:outerShdw blurRad="38100" dist="38100" dir="2700000" algn="tl">
                    <a:srgbClr val="C0C0C0"/>
                  </a:outerShdw>
                </a:effectLst>
              </a:rPr>
              <a:t> </a:t>
            </a:r>
            <a:r>
              <a:rPr lang="zh-CN" altLang="en-US" sz="2400" b="1">
                <a:solidFill>
                  <a:srgbClr val="003300"/>
                </a:solidFill>
              </a:rPr>
              <a:t>在秩为</a:t>
            </a:r>
            <a:r>
              <a:rPr lang="en-US" altLang="zh-CN" sz="2400" b="1" i="1">
                <a:solidFill>
                  <a:srgbClr val="003300"/>
                </a:solidFill>
              </a:rPr>
              <a:t>k</a:t>
            </a:r>
            <a:r>
              <a:rPr lang="en-US" altLang="zh-CN" sz="2400" b="1">
                <a:solidFill>
                  <a:srgbClr val="003300"/>
                </a:solidFill>
              </a:rPr>
              <a:t>（</a:t>
            </a:r>
            <a:r>
              <a:rPr lang="en-US" altLang="zh-CN" sz="2400" b="1" i="1">
                <a:solidFill>
                  <a:srgbClr val="003300"/>
                </a:solidFill>
              </a:rPr>
              <a:t>k</a:t>
            </a:r>
            <a:r>
              <a:rPr lang="en-US" altLang="zh-CN" sz="2400" b="1">
                <a:solidFill>
                  <a:srgbClr val="003300"/>
                </a:solidFill>
                <a:sym typeface="Symbol" pitchFamily="2" charset="2"/>
              </a:rPr>
              <a:t></a:t>
            </a:r>
            <a:r>
              <a:rPr lang="en-US" altLang="zh-CN" sz="2400" b="1">
                <a:solidFill>
                  <a:srgbClr val="003300"/>
                </a:solidFill>
              </a:rPr>
              <a:t>n）</a:t>
            </a:r>
            <a:r>
              <a:rPr lang="zh-CN" altLang="en-US" sz="2400" b="1">
                <a:solidFill>
                  <a:srgbClr val="003300"/>
                </a:solidFill>
              </a:rPr>
              <a:t>的所有矩阵中，矩阵</a:t>
            </a:r>
            <a:r>
              <a:rPr lang="en-US" altLang="zh-CN" sz="2400" b="1">
                <a:solidFill>
                  <a:srgbClr val="003300"/>
                </a:solidFill>
              </a:rPr>
              <a:t>A</a:t>
            </a:r>
            <a:r>
              <a:rPr lang="en-US" altLang="zh-CN" sz="2400" b="1" baseline="-30000">
                <a:solidFill>
                  <a:srgbClr val="003300"/>
                </a:solidFill>
              </a:rPr>
              <a:t>k</a:t>
            </a:r>
            <a:r>
              <a:rPr lang="zh-CN" altLang="en-US" sz="2400" b="1">
                <a:solidFill>
                  <a:srgbClr val="003300"/>
                </a:solidFill>
              </a:rPr>
              <a:t>所对应的图象和矩阵</a:t>
            </a:r>
            <a:r>
              <a:rPr lang="en-US" altLang="zh-CN" sz="2400" b="1">
                <a:solidFill>
                  <a:srgbClr val="003300"/>
                </a:solidFill>
              </a:rPr>
              <a:t>A</a:t>
            </a:r>
            <a:r>
              <a:rPr lang="zh-CN" altLang="en-US" sz="2400" b="1">
                <a:solidFill>
                  <a:srgbClr val="003300"/>
                </a:solidFill>
              </a:rPr>
              <a:t>所对应的图象最相近。一般的，</a:t>
            </a:r>
            <a:r>
              <a:rPr lang="en-US" altLang="zh-CN" sz="2400" b="1" i="1">
                <a:solidFill>
                  <a:srgbClr val="003300"/>
                </a:solidFill>
              </a:rPr>
              <a:t>k</a:t>
            </a:r>
            <a:r>
              <a:rPr lang="zh-CN" altLang="en-US" sz="2400" b="1">
                <a:solidFill>
                  <a:srgbClr val="003300"/>
                </a:solidFill>
              </a:rPr>
              <a:t>越大图象就越清晰。经典的方法是选取接近</a:t>
            </a:r>
            <a:r>
              <a:rPr lang="en-US" altLang="zh-CN" sz="2400" b="1" i="1">
                <a:solidFill>
                  <a:srgbClr val="003300"/>
                </a:solidFill>
              </a:rPr>
              <a:t>k</a:t>
            </a:r>
            <a:r>
              <a:rPr lang="en-US" altLang="zh-CN" sz="2400" b="1">
                <a:solidFill>
                  <a:srgbClr val="003300"/>
                </a:solidFill>
              </a:rPr>
              <a:t>，</a:t>
            </a:r>
            <a:r>
              <a:rPr lang="zh-CN" altLang="en-US" sz="2400" b="1">
                <a:solidFill>
                  <a:srgbClr val="003300"/>
                </a:solidFill>
              </a:rPr>
              <a:t>使</a:t>
            </a:r>
            <a:r>
              <a:rPr lang="en-US" altLang="zh-CN" sz="2400" b="1">
                <a:solidFill>
                  <a:srgbClr val="003300"/>
                </a:solidFill>
              </a:rPr>
              <a:t>A</a:t>
            </a:r>
            <a:r>
              <a:rPr lang="en-US" altLang="zh-CN" sz="2400" b="1" i="1" baseline="-30000">
                <a:solidFill>
                  <a:srgbClr val="003300"/>
                </a:solidFill>
              </a:rPr>
              <a:t>k</a:t>
            </a:r>
            <a:r>
              <a:rPr lang="zh-CN" altLang="en-US" sz="2400" b="1">
                <a:solidFill>
                  <a:srgbClr val="003300"/>
                </a:solidFill>
              </a:rPr>
              <a:t>的存储量比</a:t>
            </a:r>
            <a:r>
              <a:rPr lang="en-US" altLang="zh-CN" sz="2400" b="1">
                <a:solidFill>
                  <a:srgbClr val="003300"/>
                </a:solidFill>
              </a:rPr>
              <a:t>A</a:t>
            </a:r>
            <a:r>
              <a:rPr lang="zh-CN" altLang="en-US" sz="2400" b="1">
                <a:solidFill>
                  <a:srgbClr val="003300"/>
                </a:solidFill>
              </a:rPr>
              <a:t>的存储量减少20%。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 calcmode="lin" valueType="num">
                                      <p:cBhvr additive="base">
                                        <p:cTn id="7" dur="500" fill="hold"/>
                                        <p:tgtEl>
                                          <p:spTgt spid="296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96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9703"/>
                                        </p:tgtEl>
                                        <p:attrNameLst>
                                          <p:attrName>style.visibility</p:attrName>
                                        </p:attrNameLst>
                                      </p:cBhvr>
                                      <p:to>
                                        <p:strVal val="visible"/>
                                      </p:to>
                                    </p:set>
                                    <p:anim calcmode="lin" valueType="num">
                                      <p:cBhvr additive="base">
                                        <p:cTn id="13" dur="500" fill="hold"/>
                                        <p:tgtEl>
                                          <p:spTgt spid="29703"/>
                                        </p:tgtEl>
                                        <p:attrNameLst>
                                          <p:attrName>ppt_x</p:attrName>
                                        </p:attrNameLst>
                                      </p:cBhvr>
                                      <p:tavLst>
                                        <p:tav tm="0">
                                          <p:val>
                                            <p:strVal val="0-#ppt_w/2"/>
                                          </p:val>
                                        </p:tav>
                                        <p:tav tm="100000">
                                          <p:val>
                                            <p:strVal val="#ppt_x"/>
                                          </p:val>
                                        </p:tav>
                                      </p:tavLst>
                                    </p:anim>
                                    <p:anim calcmode="lin" valueType="num">
                                      <p:cBhvr additive="base">
                                        <p:cTn id="14" dur="500" fill="hold"/>
                                        <p:tgtEl>
                                          <p:spTgt spid="2970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9702">
                                            <p:txEl>
                                              <p:pRg st="0" end="0"/>
                                            </p:txEl>
                                          </p:spTgt>
                                        </p:tgtEl>
                                        <p:attrNameLst>
                                          <p:attrName>style.visibility</p:attrName>
                                        </p:attrNameLst>
                                      </p:cBhvr>
                                      <p:to>
                                        <p:strVal val="visible"/>
                                      </p:to>
                                    </p:set>
                                    <p:anim calcmode="lin" valueType="num">
                                      <p:cBhvr additive="base">
                                        <p:cTn id="19" dur="500" fill="hold"/>
                                        <p:tgtEl>
                                          <p:spTgt spid="29702">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970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9702">
                                            <p:txEl>
                                              <p:pRg st="1" end="1"/>
                                            </p:txEl>
                                          </p:spTgt>
                                        </p:tgtEl>
                                        <p:attrNameLst>
                                          <p:attrName>style.visibility</p:attrName>
                                        </p:attrNameLst>
                                      </p:cBhvr>
                                      <p:to>
                                        <p:strVal val="visible"/>
                                      </p:to>
                                    </p:set>
                                    <p:anim calcmode="lin" valueType="num">
                                      <p:cBhvr additive="base">
                                        <p:cTn id="25" dur="500" fill="hold"/>
                                        <p:tgtEl>
                                          <p:spTgt spid="29702">
                                            <p:txEl>
                                              <p:pRg st="1" end="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970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29704"/>
                                        </p:tgtEl>
                                        <p:attrNameLst>
                                          <p:attrName>style.visibility</p:attrName>
                                        </p:attrNameLst>
                                      </p:cBhvr>
                                      <p:to>
                                        <p:strVal val="visible"/>
                                      </p:to>
                                    </p:set>
                                    <p:anim calcmode="lin" valueType="num">
                                      <p:cBhvr additive="base">
                                        <p:cTn id="31" dur="500" fill="hold"/>
                                        <p:tgtEl>
                                          <p:spTgt spid="29704"/>
                                        </p:tgtEl>
                                        <p:attrNameLst>
                                          <p:attrName>ppt_x</p:attrName>
                                        </p:attrNameLst>
                                      </p:cBhvr>
                                      <p:tavLst>
                                        <p:tav tm="0">
                                          <p:val>
                                            <p:strVal val="0-#ppt_w/2"/>
                                          </p:val>
                                        </p:tav>
                                        <p:tav tm="100000">
                                          <p:val>
                                            <p:strVal val="#ppt_x"/>
                                          </p:val>
                                        </p:tav>
                                      </p:tavLst>
                                    </p:anim>
                                    <p:anim calcmode="lin" valueType="num">
                                      <p:cBhvr additive="base">
                                        <p:cTn id="32" dur="500" fill="hold"/>
                                        <p:tgtEl>
                                          <p:spTgt spid="29704"/>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29705"/>
                                        </p:tgtEl>
                                        <p:attrNameLst>
                                          <p:attrName>style.visibility</p:attrName>
                                        </p:attrNameLst>
                                      </p:cBhvr>
                                      <p:to>
                                        <p:strVal val="visible"/>
                                      </p:to>
                                    </p:set>
                                    <p:anim calcmode="lin" valueType="num">
                                      <p:cBhvr additive="base">
                                        <p:cTn id="37" dur="500" fill="hold"/>
                                        <p:tgtEl>
                                          <p:spTgt spid="29705"/>
                                        </p:tgtEl>
                                        <p:attrNameLst>
                                          <p:attrName>ppt_x</p:attrName>
                                        </p:attrNameLst>
                                      </p:cBhvr>
                                      <p:tavLst>
                                        <p:tav tm="0">
                                          <p:val>
                                            <p:strVal val="0-#ppt_w/2"/>
                                          </p:val>
                                        </p:tav>
                                        <p:tav tm="100000">
                                          <p:val>
                                            <p:strVal val="#ppt_x"/>
                                          </p:val>
                                        </p:tav>
                                      </p:tavLst>
                                    </p:anim>
                                    <p:anim calcmode="lin" valueType="num">
                                      <p:cBhvr additive="base">
                                        <p:cTn id="38" dur="500" fill="hold"/>
                                        <p:tgtEl>
                                          <p:spTgt spid="2970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autoUpdateAnimBg="0"/>
      <p:bldP spid="29702" grpId="0" build="p" autoUpdateAnimBg="0"/>
      <p:bldP spid="29705"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1747" name="Rectangle 3">
            <a:extLst>
              <a:ext uri="{FF2B5EF4-FFF2-40B4-BE49-F238E27FC236}">
                <a16:creationId xmlns:a16="http://schemas.microsoft.com/office/drawing/2014/main" id="{27DC36CB-8940-0C56-891C-D006F73823C7}"/>
              </a:ext>
            </a:extLst>
          </p:cNvPr>
          <p:cNvSpPr>
            <a:spLocks noGrp="1" noChangeArrowheads="1"/>
          </p:cNvSpPr>
          <p:nvPr>
            <p:ph type="body" idx="1"/>
          </p:nvPr>
        </p:nvSpPr>
        <p:spPr>
          <a:xfrm>
            <a:off x="533400" y="685800"/>
            <a:ext cx="7769225" cy="4113213"/>
          </a:xfrm>
        </p:spPr>
        <p:txBody>
          <a:bodyPr/>
          <a:lstStyle/>
          <a:p>
            <a:pPr eaLnBrk="1" hangingPunct="1"/>
            <a:r>
              <a:rPr lang="zh-CN" altLang="en-US" sz="2800" b="1">
                <a:solidFill>
                  <a:srgbClr val="003300"/>
                </a:solidFill>
              </a:rPr>
              <a:t>存储矩阵</a:t>
            </a:r>
            <a:r>
              <a:rPr lang="en-US" altLang="zh-CN" sz="2800" b="1">
                <a:solidFill>
                  <a:srgbClr val="003300"/>
                </a:solidFill>
              </a:rPr>
              <a:t>A</a:t>
            </a:r>
            <a:r>
              <a:rPr lang="en-US" altLang="zh-CN" sz="2800" b="1" i="1" baseline="-30000">
                <a:solidFill>
                  <a:srgbClr val="003300"/>
                </a:solidFill>
              </a:rPr>
              <a:t>k</a:t>
            </a:r>
            <a:r>
              <a:rPr lang="zh-CN" altLang="en-US" sz="2800" b="1">
                <a:solidFill>
                  <a:srgbClr val="003300"/>
                </a:solidFill>
              </a:rPr>
              <a:t>只需要存储</a:t>
            </a:r>
            <a:r>
              <a:rPr lang="en-US" altLang="zh-CN" sz="2800" b="1" i="1">
                <a:solidFill>
                  <a:srgbClr val="003300"/>
                </a:solidFill>
              </a:rPr>
              <a:t>k</a:t>
            </a:r>
            <a:r>
              <a:rPr lang="zh-CN" altLang="en-US" sz="2800" b="1">
                <a:solidFill>
                  <a:srgbClr val="003300"/>
                </a:solidFill>
              </a:rPr>
              <a:t>个奇异值，</a:t>
            </a:r>
            <a:r>
              <a:rPr lang="en-US" altLang="zh-CN" sz="2800" b="1" i="1">
                <a:solidFill>
                  <a:srgbClr val="003300"/>
                </a:solidFill>
              </a:rPr>
              <a:t>k</a:t>
            </a:r>
            <a:r>
              <a:rPr lang="zh-CN" altLang="en-US" sz="2800" b="1">
                <a:solidFill>
                  <a:srgbClr val="003300"/>
                </a:solidFill>
              </a:rPr>
              <a:t>个</a:t>
            </a:r>
            <a:r>
              <a:rPr lang="en-US" altLang="zh-CN" sz="2800" b="1">
                <a:solidFill>
                  <a:srgbClr val="003300"/>
                </a:solidFill>
              </a:rPr>
              <a:t>m</a:t>
            </a:r>
            <a:r>
              <a:rPr lang="zh-CN" altLang="en-US" sz="2800" b="1">
                <a:solidFill>
                  <a:srgbClr val="003300"/>
                </a:solidFill>
              </a:rPr>
              <a:t>维向量</a:t>
            </a:r>
            <a:r>
              <a:rPr lang="en-US" altLang="zh-CN" sz="2800" b="1">
                <a:solidFill>
                  <a:srgbClr val="003300"/>
                </a:solidFill>
              </a:rPr>
              <a:t>u</a:t>
            </a:r>
            <a:r>
              <a:rPr lang="en-US" altLang="zh-CN" sz="2800" b="1" i="1" baseline="-30000">
                <a:solidFill>
                  <a:srgbClr val="003300"/>
                </a:solidFill>
              </a:rPr>
              <a:t>i</a:t>
            </a:r>
            <a:r>
              <a:rPr lang="zh-CN" altLang="en-US" sz="2800" b="1">
                <a:solidFill>
                  <a:srgbClr val="003300"/>
                </a:solidFill>
              </a:rPr>
              <a:t>和</a:t>
            </a:r>
            <a:r>
              <a:rPr lang="en-US" altLang="zh-CN" sz="2800" b="1">
                <a:solidFill>
                  <a:srgbClr val="003300"/>
                </a:solidFill>
              </a:rPr>
              <a:t>n</a:t>
            </a:r>
            <a:r>
              <a:rPr lang="zh-CN" altLang="en-US" sz="2800" b="1">
                <a:solidFill>
                  <a:srgbClr val="003300"/>
                </a:solidFill>
              </a:rPr>
              <a:t>维向量</a:t>
            </a:r>
            <a:r>
              <a:rPr lang="en-US" altLang="zh-CN" sz="2800" b="1">
                <a:solidFill>
                  <a:srgbClr val="003300"/>
                </a:solidFill>
              </a:rPr>
              <a:t>v</a:t>
            </a:r>
            <a:r>
              <a:rPr lang="en-US" altLang="zh-CN" sz="2800" b="1" i="1" baseline="-30000">
                <a:solidFill>
                  <a:srgbClr val="003300"/>
                </a:solidFill>
              </a:rPr>
              <a:t>j</a:t>
            </a:r>
            <a:r>
              <a:rPr lang="zh-CN" altLang="en-US" sz="2800" b="1">
                <a:solidFill>
                  <a:srgbClr val="003300"/>
                </a:solidFill>
              </a:rPr>
              <a:t>的所有分量，共计</a:t>
            </a:r>
            <a:r>
              <a:rPr lang="en-US" altLang="zh-CN" sz="2800" b="1" i="1">
                <a:solidFill>
                  <a:srgbClr val="003300"/>
                </a:solidFill>
              </a:rPr>
              <a:t>k</a:t>
            </a:r>
            <a:r>
              <a:rPr lang="en-US" altLang="zh-CN" sz="2800" b="1">
                <a:solidFill>
                  <a:srgbClr val="003300"/>
                </a:solidFill>
              </a:rPr>
              <a:t>（m+n+1）</a:t>
            </a:r>
            <a:r>
              <a:rPr lang="zh-CN" altLang="en-US" sz="2800" b="1">
                <a:solidFill>
                  <a:srgbClr val="003300"/>
                </a:solidFill>
              </a:rPr>
              <a:t>个元素。</a:t>
            </a:r>
          </a:p>
          <a:p>
            <a:pPr eaLnBrk="1" hangingPunct="1"/>
            <a:r>
              <a:rPr lang="zh-CN" altLang="en-US" sz="2800" b="1">
                <a:solidFill>
                  <a:srgbClr val="003300"/>
                </a:solidFill>
              </a:rPr>
              <a:t>如果</a:t>
            </a:r>
            <a:r>
              <a:rPr lang="en-US" altLang="zh-CN" sz="2800" b="1">
                <a:solidFill>
                  <a:srgbClr val="003300"/>
                </a:solidFill>
              </a:rPr>
              <a:t>m=n=1000，</a:t>
            </a:r>
            <a:r>
              <a:rPr lang="zh-CN" altLang="en-US" sz="2800" b="1">
                <a:solidFill>
                  <a:srgbClr val="003300"/>
                </a:solidFill>
              </a:rPr>
              <a:t>存储原矩阵</a:t>
            </a:r>
            <a:r>
              <a:rPr lang="en-US" altLang="zh-CN" sz="2800" b="1">
                <a:solidFill>
                  <a:srgbClr val="003300"/>
                </a:solidFill>
              </a:rPr>
              <a:t>A</a:t>
            </a:r>
            <a:r>
              <a:rPr lang="zh-CN" altLang="en-US" sz="2800" b="1">
                <a:solidFill>
                  <a:srgbClr val="003300"/>
                </a:solidFill>
              </a:rPr>
              <a:t>需要存储1000×1000个元素。取</a:t>
            </a:r>
            <a:r>
              <a:rPr lang="en-US" altLang="zh-CN" sz="2800" b="1" i="1">
                <a:solidFill>
                  <a:srgbClr val="003300"/>
                </a:solidFill>
              </a:rPr>
              <a:t>k</a:t>
            </a:r>
            <a:r>
              <a:rPr lang="en-US" altLang="zh-CN" sz="2800" b="1">
                <a:solidFill>
                  <a:srgbClr val="003300"/>
                </a:solidFill>
              </a:rPr>
              <a:t>=100</a:t>
            </a:r>
            <a:r>
              <a:rPr lang="zh-CN" altLang="en-US" sz="2800" b="1">
                <a:solidFill>
                  <a:srgbClr val="003300"/>
                </a:solidFill>
              </a:rPr>
              <a:t>时，图象已经非常清晰了，这时的存储量是100（2000+1）=200100个数。</a:t>
            </a:r>
          </a:p>
          <a:p>
            <a:pPr eaLnBrk="1" hangingPunct="1"/>
            <a:r>
              <a:rPr lang="zh-CN" altLang="en-US" sz="2800" b="1">
                <a:solidFill>
                  <a:srgbClr val="003300"/>
                </a:solidFill>
              </a:rPr>
              <a:t>和矩阵</a:t>
            </a:r>
            <a:r>
              <a:rPr lang="en-US" altLang="zh-CN" sz="2800" b="1">
                <a:solidFill>
                  <a:srgbClr val="003300"/>
                </a:solidFill>
              </a:rPr>
              <a:t>A</a:t>
            </a:r>
            <a:r>
              <a:rPr lang="zh-CN" altLang="en-US" sz="2800" b="1">
                <a:solidFill>
                  <a:srgbClr val="003300"/>
                </a:solidFill>
              </a:rPr>
              <a:t>比较，存储量减少了80%。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 calcmode="lin" valueType="num">
                                      <p:cBhvr additive="base">
                                        <p:cTn id="7" dur="500" fill="hold"/>
                                        <p:tgtEl>
                                          <p:spTgt spid="317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17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1747">
                                            <p:txEl>
                                              <p:pRg st="1" end="1"/>
                                            </p:txEl>
                                          </p:spTgt>
                                        </p:tgtEl>
                                        <p:attrNameLst>
                                          <p:attrName>style.visibility</p:attrName>
                                        </p:attrNameLst>
                                      </p:cBhvr>
                                      <p:to>
                                        <p:strVal val="visible"/>
                                      </p:to>
                                    </p:set>
                                    <p:anim calcmode="lin" valueType="num">
                                      <p:cBhvr additive="base">
                                        <p:cTn id="13" dur="500" fill="hold"/>
                                        <p:tgtEl>
                                          <p:spTgt spid="317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17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1747">
                                            <p:txEl>
                                              <p:pRg st="2" end="2"/>
                                            </p:txEl>
                                          </p:spTgt>
                                        </p:tgtEl>
                                        <p:attrNameLst>
                                          <p:attrName>style.visibility</p:attrName>
                                        </p:attrNameLst>
                                      </p:cBhvr>
                                      <p:to>
                                        <p:strVal val="visible"/>
                                      </p:to>
                                    </p:set>
                                    <p:anim calcmode="lin" valueType="num">
                                      <p:cBhvr additive="base">
                                        <p:cTn id="19" dur="500" fill="hold"/>
                                        <p:tgtEl>
                                          <p:spTgt spid="3174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174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F0486173-77C0-A407-963A-24A8D80C6583}"/>
              </a:ext>
            </a:extLst>
          </p:cNvPr>
          <p:cNvSpPr>
            <a:spLocks noGrp="1" noChangeArrowheads="1"/>
          </p:cNvSpPr>
          <p:nvPr>
            <p:ph type="title"/>
          </p:nvPr>
        </p:nvSpPr>
        <p:spPr>
          <a:xfrm>
            <a:off x="755650" y="5715000"/>
            <a:ext cx="7772400" cy="882650"/>
          </a:xfrm>
        </p:spPr>
        <p:txBody>
          <a:bodyPr/>
          <a:lstStyle/>
          <a:p>
            <a:r>
              <a:rPr lang="zh-CN" altLang="en-US" sz="3200">
                <a:solidFill>
                  <a:schemeClr val="tx1"/>
                </a:solidFill>
              </a:rPr>
              <a:t>图像数据的奇异值分解压缩：秩从</a:t>
            </a:r>
            <a:r>
              <a:rPr lang="en-US" altLang="zh-CN" sz="3200">
                <a:solidFill>
                  <a:schemeClr val="tx1"/>
                </a:solidFill>
              </a:rPr>
              <a:t>4</a:t>
            </a:r>
            <a:r>
              <a:rPr lang="zh-CN" altLang="en-US" sz="3200">
                <a:solidFill>
                  <a:schemeClr val="tx1"/>
                </a:solidFill>
              </a:rPr>
              <a:t>到</a:t>
            </a:r>
            <a:r>
              <a:rPr lang="en-US" altLang="zh-CN" sz="3200">
                <a:solidFill>
                  <a:schemeClr val="tx1"/>
                </a:solidFill>
              </a:rPr>
              <a:t>128</a:t>
            </a:r>
            <a:endParaRPr lang="zh-CN" altLang="en-US">
              <a:solidFill>
                <a:schemeClr val="tx1"/>
              </a:solidFill>
            </a:endParaRPr>
          </a:p>
        </p:txBody>
      </p:sp>
      <p:pic>
        <p:nvPicPr>
          <p:cNvPr id="19459" name="Picture 2" descr="C:\Users\my\Pictures\img135.jpg">
            <a:extLst>
              <a:ext uri="{FF2B5EF4-FFF2-40B4-BE49-F238E27FC236}">
                <a16:creationId xmlns:a16="http://schemas.microsoft.com/office/drawing/2014/main" id="{8DEA5EC1-96F9-2918-AC3C-7917A71E36E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55650" y="142875"/>
            <a:ext cx="7643813" cy="5688013"/>
          </a:xfrm>
          <a:noFill/>
        </p:spPr>
      </p:pic>
    </p:spTree>
  </p:cSld>
  <p:clrMapOvr>
    <a:masterClrMapping/>
  </p:clrMapOvr>
</p:sld>
</file>

<file path=ppt/theme/theme1.xml><?xml version="1.0" encoding="utf-8"?>
<a:theme xmlns:a="http://schemas.openxmlformats.org/drawingml/2006/main" name="Expedition">
  <a:themeElements>
    <a:clrScheme name="">
      <a:dk1>
        <a:srgbClr val="000000"/>
      </a:dk1>
      <a:lt1>
        <a:srgbClr val="FFFFFF"/>
      </a:lt1>
      <a:dk2>
        <a:srgbClr val="A12E05"/>
      </a:dk2>
      <a:lt2>
        <a:srgbClr val="808080"/>
      </a:lt2>
      <a:accent1>
        <a:srgbClr val="DFD6C3"/>
      </a:accent1>
      <a:accent2>
        <a:srgbClr val="D69B80"/>
      </a:accent2>
      <a:accent3>
        <a:srgbClr val="FFFFFF"/>
      </a:accent3>
      <a:accent4>
        <a:srgbClr val="000000"/>
      </a:accent4>
      <a:accent5>
        <a:srgbClr val="ECE8DE"/>
      </a:accent5>
      <a:accent6>
        <a:srgbClr val="C28C73"/>
      </a:accent6>
      <a:hlink>
        <a:srgbClr val="993300"/>
      </a:hlink>
      <a:folHlink>
        <a:srgbClr val="666600"/>
      </a:folHlink>
    </a:clrScheme>
    <a:fontScheme name="Expedition">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Expedition 1">
        <a:dk1>
          <a:srgbClr val="000000"/>
        </a:dk1>
        <a:lt1>
          <a:srgbClr val="A7947B"/>
        </a:lt1>
        <a:dk2>
          <a:srgbClr val="482400"/>
        </a:dk2>
        <a:lt2>
          <a:srgbClr val="808080"/>
        </a:lt2>
        <a:accent1>
          <a:srgbClr val="DFD6C3"/>
        </a:accent1>
        <a:accent2>
          <a:srgbClr val="D69B80"/>
        </a:accent2>
        <a:accent3>
          <a:srgbClr val="D0C8BF"/>
        </a:accent3>
        <a:accent4>
          <a:srgbClr val="000000"/>
        </a:accent4>
        <a:accent5>
          <a:srgbClr val="ECE8DE"/>
        </a:accent5>
        <a:accent6>
          <a:srgbClr val="C28C73"/>
        </a:accent6>
        <a:hlink>
          <a:srgbClr val="993300"/>
        </a:hlink>
        <a:folHlink>
          <a:srgbClr val="666600"/>
        </a:folHlink>
      </a:clrScheme>
      <a:clrMap bg1="lt1" tx1="dk1" bg2="lt2" tx2="dk2" accent1="accent1" accent2="accent2" accent3="accent3" accent4="accent4" accent5="accent5" accent6="accent6" hlink="hlink" folHlink="folHlink"/>
    </a:extraClrScheme>
    <a:extraClrScheme>
      <a:clrScheme name="Expedition 2">
        <a:dk1>
          <a:srgbClr val="000000"/>
        </a:dk1>
        <a:lt1>
          <a:srgbClr val="FFFFFF"/>
        </a:lt1>
        <a:dk2>
          <a:srgbClr val="482400"/>
        </a:dk2>
        <a:lt2>
          <a:srgbClr val="808080"/>
        </a:lt2>
        <a:accent1>
          <a:srgbClr val="DFD6C3"/>
        </a:accent1>
        <a:accent2>
          <a:srgbClr val="D69B80"/>
        </a:accent2>
        <a:accent3>
          <a:srgbClr val="FFFFFF"/>
        </a:accent3>
        <a:accent4>
          <a:srgbClr val="000000"/>
        </a:accent4>
        <a:accent5>
          <a:srgbClr val="ECE8DE"/>
        </a:accent5>
        <a:accent6>
          <a:srgbClr val="C28C73"/>
        </a:accent6>
        <a:hlink>
          <a:srgbClr val="993300"/>
        </a:hlink>
        <a:folHlink>
          <a:srgbClr val="666600"/>
        </a:folHlink>
      </a:clrScheme>
      <a:clrMap bg1="lt1" tx1="dk1" bg2="lt2" tx2="dk2" accent1="accent1" accent2="accent2" accent3="accent3" accent4="accent4" accent5="accent5" accent6="accent6" hlink="hlink" folHlink="folHlink"/>
    </a:extraClrScheme>
    <a:extraClrScheme>
      <a:clrScheme name="Expedition 3">
        <a:dk1>
          <a:srgbClr val="000000"/>
        </a:dk1>
        <a:lt1>
          <a:srgbClr val="FFFFFF"/>
        </a:lt1>
        <a:dk2>
          <a:srgbClr val="000000"/>
        </a:dk2>
        <a:lt2>
          <a:srgbClr val="333333"/>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Expedition 4">
        <a:dk1>
          <a:srgbClr val="000000"/>
        </a:dk1>
        <a:lt1>
          <a:srgbClr val="9D7643"/>
        </a:lt1>
        <a:dk2>
          <a:srgbClr val="FFFFFF"/>
        </a:dk2>
        <a:lt2>
          <a:srgbClr val="554025"/>
        </a:lt2>
        <a:accent1>
          <a:srgbClr val="CAA966"/>
        </a:accent1>
        <a:accent2>
          <a:srgbClr val="8488AC"/>
        </a:accent2>
        <a:accent3>
          <a:srgbClr val="CCBDB0"/>
        </a:accent3>
        <a:accent4>
          <a:srgbClr val="000000"/>
        </a:accent4>
        <a:accent5>
          <a:srgbClr val="E1D1B8"/>
        </a:accent5>
        <a:accent6>
          <a:srgbClr val="777B9B"/>
        </a:accent6>
        <a:hlink>
          <a:srgbClr val="993300"/>
        </a:hlink>
        <a:folHlink>
          <a:srgbClr val="666600"/>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Designs\Expedition.pot</Template>
  <TotalTime>1392</TotalTime>
  <Words>1500</Words>
  <Application>Microsoft Macintosh PowerPoint</Application>
  <PresentationFormat>On-screen Show (4:3)</PresentationFormat>
  <Paragraphs>108</Paragraphs>
  <Slides>17</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5" baseType="lpstr">
      <vt:lpstr>Times New Roman</vt:lpstr>
      <vt:lpstr>宋体</vt:lpstr>
      <vt:lpstr>Arial</vt:lpstr>
      <vt:lpstr>Wingdings</vt:lpstr>
      <vt:lpstr>等线</vt:lpstr>
      <vt:lpstr>Symbol</vt:lpstr>
      <vt:lpstr>Expedition</vt:lpstr>
      <vt:lpstr>Microsoft 公式 3.0</vt:lpstr>
      <vt:lpstr>§33  矩阵的奇异值分解</vt:lpstr>
      <vt:lpstr>§33   矩阵的奇异值分解</vt:lpstr>
      <vt:lpstr>一、矩阵A的奇异值及其性质</vt:lpstr>
      <vt:lpstr>PowerPoint Presentation</vt:lpstr>
      <vt:lpstr>PowerPoint Presentation</vt:lpstr>
      <vt:lpstr>PowerPoint Presentation</vt:lpstr>
      <vt:lpstr>二、矩阵的奇异值分解</vt:lpstr>
      <vt:lpstr>PowerPoint Presentation</vt:lpstr>
      <vt:lpstr>PowerPoint Presentation</vt:lpstr>
      <vt:lpstr>PowerPoint Presentation</vt:lpstr>
      <vt:lpstr>PowerPoint Presentation</vt:lpstr>
      <vt:lpstr>PowerPoint Presentation</vt:lpstr>
      <vt:lpstr>PowerPoint Presentation</vt:lpstr>
      <vt:lpstr>例题：图像的数字化技术与矩阵的奇异值分解 </vt:lpstr>
      <vt:lpstr>PowerPoint Presentation</vt:lpstr>
      <vt:lpstr>PowerPoint Presentation</vt:lpstr>
      <vt:lpstr>图像数据的奇异值分解压缩：秩从4到128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§3。3 矩阵的奇异值分解</dc:title>
  <dc:creator>yang</dc:creator>
  <cp:lastModifiedBy>Microsoft Office User</cp:lastModifiedBy>
  <cp:revision>176</cp:revision>
  <cp:lastPrinted>1601-01-01T00:00:00Z</cp:lastPrinted>
  <dcterms:created xsi:type="dcterms:W3CDTF">2004-11-01T08:20:30Z</dcterms:created>
  <dcterms:modified xsi:type="dcterms:W3CDTF">2023-09-17T13:38:34Z</dcterms:modified>
</cp:coreProperties>
</file>